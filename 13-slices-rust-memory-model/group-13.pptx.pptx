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Calibri (MS) Bold" charset="1" panose="020F0702030404030204"/>
      <p:regular r:id="rId44"/>
    </p:embeddedFont>
    <p:embeddedFont>
      <p:font typeface="Calibri (MS)" charset="1" panose="020F0502020204030204"/>
      <p:regular r:id="rId45"/>
    </p:embeddedFont>
    <p:embeddedFont>
      <p:font typeface="Prompt Bold" charset="1" panose="00000800000000000000"/>
      <p:regular r:id="rId46"/>
    </p:embeddedFont>
    <p:embeddedFont>
      <p:font typeface="Cambria Bold" charset="1" panose="02040803050406030204"/>
      <p:regular r:id="rId48"/>
    </p:embeddedFont>
    <p:embeddedFont>
      <p:font typeface="Calibri (MS) Italics" charset="1" panose="020F05020202040A0204"/>
      <p:regular r:id="rId49"/>
    </p:embeddedFont>
    <p:embeddedFont>
      <p:font typeface="Prompt" charset="1" panose="00000500000000000000"/>
      <p:regular r:id="rId51"/>
    </p:embeddedFont>
    <p:embeddedFont>
      <p:font typeface="Cambria" charset="1" panose="02040503050406030204"/>
      <p:regular r:id="rId52"/>
    </p:embeddedFont>
    <p:embeddedFont>
      <p:font typeface="Courier New" charset="1" panose="02070309020205020404"/>
      <p:regular r:id="rId54"/>
    </p:embeddedFont>
    <p:embeddedFont>
      <p:font typeface="Fira Code" charset="1" panose="020B0809050000020004"/>
      <p:regular r:id="rId56"/>
    </p:embeddedFont>
    <p:embeddedFont>
      <p:font typeface="Fira Code Bold" charset="1" panose="020B0809050000020004"/>
      <p:regular r:id="rId57"/>
    </p:embeddedFont>
    <p:embeddedFont>
      <p:font typeface="Sarabun" charset="1" panose="0000050000000000000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2.xml" Type="http://schemas.openxmlformats.org/officeDocument/2006/relationships/notes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3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4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5.xml" Type="http://schemas.openxmlformats.org/officeDocument/2006/relationships/notesSlide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notesSlides/notesSlide6.xml" Type="http://schemas.openxmlformats.org/officeDocument/2006/relationships/notesSlide"/><Relationship Id="rId59" Target="notesSlides/notesSlide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8.xml" Type="http://schemas.openxmlformats.org/officeDocument/2006/relationships/notesSlide"/><Relationship Id="rId61" Target="notesSlides/notesSlide9.xml" Type="http://schemas.openxmlformats.org/officeDocument/2006/relationships/notesSlide"/><Relationship Id="rId62" Target="notesSlides/notesSlide10.xml" Type="http://schemas.openxmlformats.org/officeDocument/2006/relationships/notesSlide"/><Relationship Id="rId63" Target="notesSlides/notesSlide11.xml" Type="http://schemas.openxmlformats.org/officeDocument/2006/relationships/notesSlide"/><Relationship Id="rId64" Target="notesSlides/notesSlide12.xml" Type="http://schemas.openxmlformats.org/officeDocument/2006/relationships/notesSlide"/><Relationship Id="rId65" Target="notesSlides/notesSlide13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14.xml" Type="http://schemas.openxmlformats.org/officeDocument/2006/relationships/notesSlide"/><Relationship Id="rId68" Target="notesSlides/notesSlide15.xml" Type="http://schemas.openxmlformats.org/officeDocument/2006/relationships/notesSlide"/><Relationship Id="rId69" Target="notesSlides/notesSlide16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7.xml" Type="http://schemas.openxmlformats.org/officeDocument/2006/relationships/notesSlide"/><Relationship Id="rId71" Target="notesSlides/notesSlide18.xml" Type="http://schemas.openxmlformats.org/officeDocument/2006/relationships/notesSlide"/><Relationship Id="rId72" Target="notesSlides/notesSlide19.xml" Type="http://schemas.openxmlformats.org/officeDocument/2006/relationships/notesSlide"/><Relationship Id="rId73" Target="notesSlides/notesSlide20.xml" Type="http://schemas.openxmlformats.org/officeDocument/2006/relationships/notesSlide"/><Relationship Id="rId74" Target="notesSlides/notesSlide21.xml" Type="http://schemas.openxmlformats.org/officeDocument/2006/relationships/notesSlide"/><Relationship Id="rId75" Target="notesSlides/notesSlide22.xml" Type="http://schemas.openxmlformats.org/officeDocument/2006/relationships/notesSlide"/><Relationship Id="rId76" Target="notesSlides/notesSlide23.xml" Type="http://schemas.openxmlformats.org/officeDocument/2006/relationships/notesSlide"/><Relationship Id="rId77" Target="notesSlides/notesSlide24.xml" Type="http://schemas.openxmlformats.org/officeDocument/2006/relationships/notesSlide"/><Relationship Id="rId78" Target="notesSlides/notesSlide25.xml" Type="http://schemas.openxmlformats.org/officeDocument/2006/relationships/notesSlide"/><Relationship Id="rId79" Target="notesSlides/notesSlide26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7.xml" Type="http://schemas.openxmlformats.org/officeDocument/2006/relationships/notesSlide"/><Relationship Id="rId81" Target="notesSlides/notesSlide28.xml" Type="http://schemas.openxmlformats.org/officeDocument/2006/relationships/notesSlide"/><Relationship Id="rId82" Target="notesSlides/notesSlide29.xml" Type="http://schemas.openxmlformats.org/officeDocument/2006/relationships/notesSlide"/><Relationship Id="rId83" Target="notesSlides/notesSlide30.xml" Type="http://schemas.openxmlformats.org/officeDocument/2006/relationships/notesSlide"/><Relationship Id="rId84" Target="notesSlides/notesSlide31.xml" Type="http://schemas.openxmlformats.org/officeDocument/2006/relationships/notesSlide"/><Relationship Id="rId85" Target="notesSlides/notesSlide32.xml" Type="http://schemas.openxmlformats.org/officeDocument/2006/relationships/notesSlide"/><Relationship Id="rId86" Target="notesSlides/notesSlide33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22708" y="-2743200"/>
            <a:ext cx="8915400" cy="8915400"/>
            <a:chOff x="0" y="0"/>
            <a:chExt cx="11887200" cy="1188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93A9B8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29000" y="6473952"/>
            <a:ext cx="6858000" cy="6858000"/>
            <a:chOff x="0" y="0"/>
            <a:chExt cx="914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93A9B8">
                <a:alpha val="3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960120"/>
            <a:ext cx="16088868" cy="548640"/>
            <a:chOff x="0" y="0"/>
            <a:chExt cx="21451824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1824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8" r="0" b="-5213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45182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517321 PRINCIPLES OF PROGRAMMING LANGUAGES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577340"/>
            <a:ext cx="16088868" cy="480060"/>
            <a:chOff x="0" y="0"/>
            <a:chExt cx="21451824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45182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14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TUTORIAL PRESENTATION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7755" y="2896392"/>
            <a:ext cx="16088868" cy="1508760"/>
            <a:chOff x="0" y="0"/>
            <a:chExt cx="21451824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1824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81" r="0" b="-1577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451824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-192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กลุ่ม 13  —  SLICES &amp; MEMORY 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7755" y="6231255"/>
            <a:ext cx="16107918" cy="2967990"/>
            <a:chOff x="0" y="0"/>
            <a:chExt cx="21477224" cy="3957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77224" cy="3957320"/>
            </a:xfrm>
            <a:custGeom>
              <a:avLst/>
              <a:gdLst/>
              <a:ahLst/>
              <a:cxnLst/>
              <a:rect r="r" b="b" t="t" l="l"/>
              <a:pathLst>
                <a:path h="3957320" w="21477224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330031" y="0"/>
                  </a:lnTo>
                  <a:cubicBezTo>
                    <a:pt x="21411312" y="0"/>
                    <a:pt x="21477224" y="65913"/>
                    <a:pt x="21477224" y="147193"/>
                  </a:cubicBezTo>
                  <a:lnTo>
                    <a:pt x="21477224" y="3810127"/>
                  </a:lnTo>
                  <a:cubicBezTo>
                    <a:pt x="21477224" y="3891407"/>
                    <a:pt x="21411312" y="3957320"/>
                    <a:pt x="21330031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AEC4D4">
                <a:alpha val="392"/>
              </a:srgbClr>
            </a:solidFill>
            <a:ln w="19050" cap="sq">
              <a:solidFill>
                <a:srgbClr val="B87A7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6473952"/>
            <a:ext cx="15265908" cy="576072"/>
            <a:chOff x="0" y="0"/>
            <a:chExt cx="20354544" cy="7680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นายปภังกร มงคลนรกิจ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Concept + Short Code Illustration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7118604"/>
            <a:ext cx="15265908" cy="576072"/>
            <a:chOff x="0" y="0"/>
            <a:chExt cx="20354544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นางสาวศิริกานต์ หรุ่นมาบแค 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Detailed Code + Live Demo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08760" y="7763256"/>
            <a:ext cx="15265908" cy="576072"/>
            <a:chOff x="0" y="0"/>
            <a:chExt cx="20354544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นายสิรวิชญ์ เชี่ยวชาญ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Rust vs Other Language + PPL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08760" y="8407908"/>
            <a:ext cx="15265908" cy="576072"/>
            <a:chOff x="0" y="0"/>
            <a:chExt cx="20354544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354544" cy="768096"/>
            </a:xfrm>
            <a:custGeom>
              <a:avLst/>
              <a:gdLst/>
              <a:ahLst/>
              <a:cxnLst/>
              <a:rect r="r" b="b" t="t" l="l"/>
              <a:pathLst>
                <a:path h="768096" w="20354544">
                  <a:moveTo>
                    <a:pt x="0" y="0"/>
                  </a:moveTo>
                  <a:lnTo>
                    <a:pt x="20354544" y="0"/>
                  </a:lnTo>
                  <a:lnTo>
                    <a:pt x="203545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6353" r="0" b="-466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354544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นายวีรภัทร พุฒหอม</a:t>
              </a:r>
              <a:r>
                <a:rPr lang="en-US" sz="2100">
                  <a:solidFill>
                    <a:srgbClr val="E5D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Exercises + Common Mistakes + Challenge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9532620"/>
            <a:ext cx="16088868" cy="480060"/>
            <a:chOff x="0" y="0"/>
            <a:chExt cx="21451824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51824" cy="640080"/>
            </a:xfrm>
            <a:custGeom>
              <a:avLst/>
              <a:gdLst/>
              <a:ahLst/>
              <a:cxnLst/>
              <a:rect r="r" b="b" t="t" l="l"/>
              <a:pathLst>
                <a:path h="6400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027" r="0" b="-6030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145182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คณะวิทยาศาสตร์ มหาวิทยาลัยศิลปากร  |  ภาคการศึกษาที่ 1/2569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822129" y="3650772"/>
            <a:ext cx="3866523" cy="2580483"/>
          </a:xfrm>
          <a:custGeom>
            <a:avLst/>
            <a:gdLst/>
            <a:ahLst/>
            <a:cxnLst/>
            <a:rect r="r" b="b" t="t" l="l"/>
            <a:pathLst>
              <a:path h="2580483" w="3866523">
                <a:moveTo>
                  <a:pt x="0" y="0"/>
                </a:moveTo>
                <a:lnTo>
                  <a:pt x="3866523" y="0"/>
                </a:lnTo>
                <a:lnTo>
                  <a:pt x="3866523" y="2580483"/>
                </a:lnTo>
                <a:lnTo>
                  <a:pt x="0" y="258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Agenda — โครงสร้างการนำเสนอ (รวม ~20 นาที)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331720"/>
            <a:ext cx="16911828" cy="548640"/>
            <a:chOff x="0" y="0"/>
            <a:chExt cx="22549104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9104" cy="731520"/>
            </a:xfrm>
            <a:custGeom>
              <a:avLst/>
              <a:gdLst/>
              <a:ahLst/>
              <a:cxnLst/>
              <a:rect r="r" b="b" t="t" l="l"/>
              <a:pathLst>
                <a:path h="73152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626" r="0" b="-5506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5491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F5EF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แต่ละคนนำเสนอประมาณ 5 นาที ต่อเนื่องกันตามลำดับ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5800" y="3223260"/>
            <a:ext cx="4022217" cy="5349240"/>
            <a:chOff x="0" y="0"/>
            <a:chExt cx="5362956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16848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4800600"/>
            <a:ext cx="3610737" cy="411480"/>
            <a:chOff x="0" y="0"/>
            <a:chExt cx="4814316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1540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Concept + Short Code Illustration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8670" y="6623685"/>
            <a:ext cx="381647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แนวคิดหลักของหัวข้อ พร้อมโค้ดตัวอย่างสั้น ๆ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91540" y="8092440"/>
            <a:ext cx="3610737" cy="411480"/>
            <a:chOff x="0" y="0"/>
            <a:chExt cx="4814316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82337" y="3223260"/>
            <a:ext cx="4022217" cy="5349240"/>
            <a:chOff x="0" y="0"/>
            <a:chExt cx="5362956" cy="7132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513386" y="3634740"/>
            <a:ext cx="960120" cy="960120"/>
            <a:chOff x="0" y="0"/>
            <a:chExt cx="12801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188077" y="4800600"/>
            <a:ext cx="3610737" cy="411480"/>
            <a:chOff x="0" y="0"/>
            <a:chExt cx="4814316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88077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Detailed Code + Live Demo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88077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อธิบายโค้ดเชิงลึกและสาธิตการทำงานจริง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88077" y="8092440"/>
            <a:ext cx="3610737" cy="411480"/>
            <a:chOff x="0" y="0"/>
            <a:chExt cx="4814316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78874" y="3223260"/>
            <a:ext cx="4022217" cy="5349240"/>
            <a:chOff x="0" y="0"/>
            <a:chExt cx="5362956" cy="7132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09922" y="363474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84614" y="4800600"/>
            <a:ext cx="3610737" cy="411480"/>
            <a:chOff x="0" y="0"/>
            <a:chExt cx="4814316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84614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Rust vs Other Language + PPL Analysis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84614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เปรียบเทียบภาษา และวิเคราะห์เชิง Programming Language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84614" y="8092440"/>
            <a:ext cx="3610737" cy="411480"/>
            <a:chOff x="0" y="0"/>
            <a:chExt cx="4814316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575411" y="3223260"/>
            <a:ext cx="4022217" cy="5349240"/>
            <a:chOff x="0" y="0"/>
            <a:chExt cx="5362956" cy="71323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2956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629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16652" y="0"/>
                  </a:lnTo>
                  <a:cubicBezTo>
                    <a:pt x="5297424" y="0"/>
                    <a:pt x="5362956" y="65532"/>
                    <a:pt x="5362956" y="146304"/>
                  </a:cubicBezTo>
                  <a:lnTo>
                    <a:pt x="5362956" y="6986016"/>
                  </a:lnTo>
                  <a:cubicBezTo>
                    <a:pt x="5362956" y="7066788"/>
                    <a:pt x="5297424" y="7132320"/>
                    <a:pt x="5216652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93A9B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06460" y="3634740"/>
            <a:ext cx="960120" cy="960120"/>
            <a:chOff x="0" y="0"/>
            <a:chExt cx="1280160" cy="12801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>
                  <a:solidFill>
                    <a:srgbClr val="F5EFE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781151" y="4800600"/>
            <a:ext cx="3610737" cy="411480"/>
            <a:chOff x="0" y="0"/>
            <a:chExt cx="4814316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3781151" y="5220462"/>
            <a:ext cx="3610737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790D16"/>
                </a:solidFill>
                <a:latin typeface="Cambria Bold"/>
                <a:ea typeface="Cambria Bold"/>
                <a:cs typeface="Cambria Bold"/>
                <a:sym typeface="Cambria Bold"/>
              </a:rPr>
              <a:t>Exercises + Common Mistakes + Challenge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1151" y="6623685"/>
            <a:ext cx="3610737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ข้อผิดพลาดที่พบบ่อย และโจทย์ท้าทายผู้ฟัง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13781151" y="8092440"/>
            <a:ext cx="3610737" cy="411480"/>
            <a:chOff x="0" y="0"/>
            <a:chExt cx="4814316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814316" cy="548640"/>
            </a:xfrm>
            <a:custGeom>
              <a:avLst/>
              <a:gdLst/>
              <a:ahLst/>
              <a:cxnLst/>
              <a:rect r="r" b="b" t="t" l="l"/>
              <a:pathLst>
                <a:path h="548640" w="4814316">
                  <a:moveTo>
                    <a:pt x="0" y="0"/>
                  </a:moveTo>
                  <a:lnTo>
                    <a:pt x="4814316" y="0"/>
                  </a:lnTo>
                  <a:lnTo>
                    <a:pt x="481431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1" r="0" b="-1209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481431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~5 นาที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28700" y="3994590"/>
          <a:ext cx="2376806" cy="51816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 = 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 = 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 = x + 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63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myVec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5201644" y="4982718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5" id="15"/>
          <p:cNvSpPr/>
          <p:nvPr/>
        </p:nvSpPr>
        <p:spPr>
          <a:xfrm flipV="true">
            <a:off x="3405506" y="5541264"/>
            <a:ext cx="1796137" cy="18842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201644" y="8097374"/>
          <a:ext cx="4344591" cy="1117092"/>
        </p:xfrm>
        <a:graphic>
          <a:graphicData uri="http://schemas.openxmlformats.org/drawingml/2006/table">
            <a:tbl>
              <a:tblPr/>
              <a:tblGrid>
                <a:gridCol w="1104521"/>
                <a:gridCol w="1105631"/>
                <a:gridCol w="1093899"/>
                <a:gridCol w="104054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7" id="17"/>
          <p:cNvSpPr/>
          <p:nvPr/>
        </p:nvSpPr>
        <p:spPr>
          <a:xfrm flipV="true">
            <a:off x="3405506" y="8655920"/>
            <a:ext cx="1796137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10807962" y="7305478"/>
            <a:ext cx="6626729" cy="2405450"/>
            <a:chOff x="0" y="0"/>
            <a:chExt cx="1745311" cy="633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5311" cy="633534"/>
            </a:xfrm>
            <a:custGeom>
              <a:avLst/>
              <a:gdLst/>
              <a:ahLst/>
              <a:cxnLst/>
              <a:rect r="r" b="b" t="t" l="l"/>
              <a:pathLst>
                <a:path h="633534" w="1745311">
                  <a:moveTo>
                    <a:pt x="59583" y="0"/>
                  </a:moveTo>
                  <a:lnTo>
                    <a:pt x="1685729" y="0"/>
                  </a:lnTo>
                  <a:cubicBezTo>
                    <a:pt x="1718635" y="0"/>
                    <a:pt x="1745311" y="26676"/>
                    <a:pt x="1745311" y="59583"/>
                  </a:cubicBezTo>
                  <a:lnTo>
                    <a:pt x="1745311" y="573951"/>
                  </a:lnTo>
                  <a:cubicBezTo>
                    <a:pt x="1745311" y="589754"/>
                    <a:pt x="1739034" y="604909"/>
                    <a:pt x="1727860" y="616083"/>
                  </a:cubicBezTo>
                  <a:cubicBezTo>
                    <a:pt x="1716686" y="627257"/>
                    <a:pt x="1701531" y="633534"/>
                    <a:pt x="1685729" y="633534"/>
                  </a:cubicBezTo>
                  <a:lnTo>
                    <a:pt x="59583" y="633534"/>
                  </a:lnTo>
                  <a:cubicBezTo>
                    <a:pt x="43780" y="633534"/>
                    <a:pt x="28625" y="627257"/>
                    <a:pt x="17451" y="616083"/>
                  </a:cubicBezTo>
                  <a:cubicBezTo>
                    <a:pt x="6277" y="604909"/>
                    <a:pt x="0" y="589754"/>
                    <a:pt x="0" y="573951"/>
                  </a:cubicBezTo>
                  <a:lnTo>
                    <a:pt x="0" y="59583"/>
                  </a:lnTo>
                  <a:cubicBezTo>
                    <a:pt x="0" y="43780"/>
                    <a:pt x="6277" y="28625"/>
                    <a:pt x="17451" y="17451"/>
                  </a:cubicBezTo>
                  <a:cubicBezTo>
                    <a:pt x="28625" y="6277"/>
                    <a:pt x="43780" y="0"/>
                    <a:pt x="59583" y="0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745311" cy="700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ทำไม s และ myVec ถึงอยู่ใน Stack ด้วยล่ะ?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Ans: ต้องเก็บค่าข้อมูลอย่างอื่นแทน เช่น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ขนาดข้อมูล , ความจุและตัวชี้ข้อมูลบน Heap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 length , capacity , pointer )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894466" y="3054993"/>
            <a:ext cx="6453720" cy="3893135"/>
          </a:xfrm>
          <a:custGeom>
            <a:avLst/>
            <a:gdLst/>
            <a:ahLst/>
            <a:cxnLst/>
            <a:rect r="r" b="b" t="t" l="l"/>
            <a:pathLst>
              <a:path h="3893135" w="6453720">
                <a:moveTo>
                  <a:pt x="0" y="0"/>
                </a:moveTo>
                <a:lnTo>
                  <a:pt x="6453720" y="0"/>
                </a:lnTo>
                <a:lnTo>
                  <a:pt x="6453720" y="3893135"/>
                </a:lnTo>
                <a:lnTo>
                  <a:pt x="0" y="3893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272" t="-20980" r="-12905" b="-2057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101828" y="676275"/>
            <a:ext cx="80867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790D16"/>
                </a:solidFill>
                <a:latin typeface="Prompt Bold"/>
                <a:ea typeface="Prompt Bold"/>
                <a:cs typeface="Prompt Bold"/>
                <a:sym typeface="Prompt Bold"/>
              </a:rPr>
              <a:t> MEMORY MODEL (CONCEPT)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Memory Model : ชุดการจัดเก็บข้อมูล/ตัวแปร การใช้งาน การคืนความจำ โดยใช้หลัก Ownership , Borrowing  และ Lifetime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ใน Memory Model มีการเก็บข้อมูลอยู่ 2 แบบหลักๆ คือ Stack เก็บข้อมูลรู้ขนาดแน่นอน / Heap เก็บข้อมูลที่ขนาดเปลี่ยนได้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1747" y="3217132"/>
            <a:ext cx="2383760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99765" y="4291838"/>
            <a:ext cx="237680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01300" y="7409201"/>
            <a:ext cx="294527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myVec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61332" y="8030699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61332" y="493488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7956787" y="4649240"/>
          <a:ext cx="2376806" cy="31242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orrowed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copied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1658600" y="4584954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58600" y="6595986"/>
          <a:ext cx="5173049" cy="1117092"/>
        </p:xfrm>
        <a:graphic>
          <a:graphicData uri="http://schemas.openxmlformats.org/drawingml/2006/table">
            <a:tbl>
              <a:tblPr/>
              <a:tblGrid>
                <a:gridCol w="1034610"/>
                <a:gridCol w="1034610"/>
                <a:gridCol w="1034610"/>
                <a:gridCol w="1034610"/>
                <a:gridCol w="1034610"/>
              </a:tblGrid>
              <a:tr h="1117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 flipV="true">
            <a:off x="10333594" y="5143500"/>
            <a:ext cx="1325006" cy="837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10333594" y="6211340"/>
            <a:ext cx="1866743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200336" y="5702046"/>
            <a:ext cx="0" cy="509294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10333594" y="7154532"/>
            <a:ext cx="1325006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09675" y="3460827"/>
            <a:ext cx="5421947" cy="3365346"/>
          </a:xfrm>
          <a:custGeom>
            <a:avLst/>
            <a:gdLst/>
            <a:ahLst/>
            <a:cxnLst/>
            <a:rect r="r" b="b" t="t" l="l"/>
            <a:pathLst>
              <a:path h="3365346" w="5421947">
                <a:moveTo>
                  <a:pt x="0" y="0"/>
                </a:moveTo>
                <a:lnTo>
                  <a:pt x="5421947" y="0"/>
                </a:lnTo>
                <a:lnTo>
                  <a:pt x="5421947" y="3365346"/>
                </a:lnTo>
                <a:lnTo>
                  <a:pt x="0" y="336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94" t="-19149" r="-11851" b="-1828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&amp;str : การยืมข้อความจากตัวแปรหลัก ( s )  โดยการใช้ ptr ชี้ไปยังตัวแปรนั้นๆ ( ใช้กับจำพวก slice )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.clone() : สร้างก้อน String บน heap ขึ้นมาใหม่ พร้อมคัดลอกข้อความจากตัวแปรที่ต้องการไปยังก้อน heap ใหม่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01828" y="676275"/>
            <a:ext cx="8086725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962D2B"/>
                </a:solidFill>
                <a:latin typeface="Prompt Bold"/>
                <a:ea typeface="Prompt Bold"/>
                <a:cs typeface="Prompt Bold"/>
                <a:sym typeface="Prompt Bold"/>
              </a:rPr>
              <a:t> MEMORY MODEL (CONCEPT)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55597" y="3791867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56721" y="3848382"/>
            <a:ext cx="237680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64022" y="7894053"/>
            <a:ext cx="256220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copied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9675" y="7457370"/>
            <a:ext cx="5556563" cy="1855075"/>
            <a:chOff x="0" y="0"/>
            <a:chExt cx="7408750" cy="247343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408750" cy="511745"/>
              <a:chOff x="0" y="0"/>
              <a:chExt cx="7942897" cy="5486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942897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7942897">
                    <a:moveTo>
                      <a:pt x="0" y="0"/>
                    </a:moveTo>
                    <a:lnTo>
                      <a:pt x="7942897" y="0"/>
                    </a:lnTo>
                    <a:lnTo>
                      <a:pt x="7942897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67629" r="-48046" b="-367629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7942897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59"/>
                  </a:lnSpc>
                </a:pPr>
                <a:r>
                  <a:rPr lang="en-US" b="true" sz="1799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597036"/>
              <a:ext cx="7408750" cy="1876398"/>
              <a:chOff x="0" y="0"/>
              <a:chExt cx="7942897" cy="20116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942897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7942897">
                    <a:moveTo>
                      <a:pt x="0" y="109728"/>
                    </a:moveTo>
                    <a:cubicBezTo>
                      <a:pt x="0" y="49149"/>
                      <a:pt x="33198" y="0"/>
                      <a:pt x="74117" y="0"/>
                    </a:cubicBezTo>
                    <a:lnTo>
                      <a:pt x="7868780" y="0"/>
                    </a:lnTo>
                    <a:cubicBezTo>
                      <a:pt x="7909699" y="0"/>
                      <a:pt x="7942897" y="49149"/>
                      <a:pt x="7942897" y="109728"/>
                    </a:cubicBezTo>
                    <a:lnTo>
                      <a:pt x="7942897" y="1901952"/>
                    </a:lnTo>
                    <a:cubicBezTo>
                      <a:pt x="7942897" y="1962531"/>
                      <a:pt x="7909699" y="2011680"/>
                      <a:pt x="7868780" y="2011680"/>
                    </a:cubicBezTo>
                    <a:lnTo>
                      <a:pt x="74117" y="2011680"/>
                    </a:lnTo>
                    <a:cubicBezTo>
                      <a:pt x="33198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6949" y="686113"/>
              <a:ext cx="6832642" cy="123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s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s</a:t>
              </a:r>
            </a:p>
            <a:p>
              <a:pPr algn="l">
                <a:lnSpc>
                  <a:spcPts val="2510"/>
                </a:lnSpc>
              </a:pPr>
              <a:r>
                <a:rPr lang="en-US" sz="1818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//ที่อยู่จาก Heap ของ copied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553854" y="4518279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74115" y="5635371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53854" y="7173582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31525" y="7758184"/>
            <a:ext cx="7627775" cy="1720105"/>
            <a:chOff x="0" y="0"/>
            <a:chExt cx="10170367" cy="229347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70367" cy="474512"/>
              <a:chOff x="0" y="0"/>
              <a:chExt cx="11759184" cy="54864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53597"/>
              <a:ext cx="10170367" cy="1739876"/>
              <a:chOff x="0" y="0"/>
              <a:chExt cx="11759184" cy="20116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87997" y="642253"/>
              <a:ext cx="9379514" cy="1524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</a:t>
              </a: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es ได้ตัวเอง จะได้ Silpakorn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ถึงตัวที่ 3 จะได้ Sil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3 - 7 จะได้ pako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Slices ตั้งแต่ตัวที่ 7 เป็นต้นไป จะได้ rn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631525" y="3126642"/>
            <a:ext cx="6830425" cy="4398904"/>
          </a:xfrm>
          <a:custGeom>
            <a:avLst/>
            <a:gdLst/>
            <a:ahLst/>
            <a:cxnLst/>
            <a:rect r="r" b="b" t="t" l="l"/>
            <a:pathLst>
              <a:path h="4398904" w="6830425">
                <a:moveTo>
                  <a:pt x="0" y="0"/>
                </a:moveTo>
                <a:lnTo>
                  <a:pt x="6830424" y="0"/>
                </a:lnTo>
                <a:lnTo>
                  <a:pt x="6830424" y="4398904"/>
                </a:lnTo>
                <a:lnTo>
                  <a:pt x="0" y="4398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870" t="-27665" r="-11107" b="-17794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7758184"/>
            <a:ext cx="7627775" cy="1720105"/>
            <a:chOff x="0" y="0"/>
            <a:chExt cx="10170367" cy="229347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170367" cy="474512"/>
              <a:chOff x="0" y="0"/>
              <a:chExt cx="11759184" cy="54864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759184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11759184">
                    <a:moveTo>
                      <a:pt x="0" y="0"/>
                    </a:moveTo>
                    <a:lnTo>
                      <a:pt x="11759184" y="0"/>
                    </a:lnTo>
                    <a:lnTo>
                      <a:pt x="11759184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7629" r="0" b="-367629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759184" cy="58674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553597"/>
              <a:ext cx="10170367" cy="1739876"/>
              <a:chOff x="0" y="0"/>
              <a:chExt cx="11759184" cy="201168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759185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1759185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11649456" y="0"/>
                    </a:lnTo>
                    <a:cubicBezTo>
                      <a:pt x="11710036" y="0"/>
                      <a:pt x="11759185" y="49149"/>
                      <a:pt x="11759185" y="109728"/>
                    </a:cubicBezTo>
                    <a:lnTo>
                      <a:pt x="11759185" y="1901952"/>
                    </a:lnTo>
                    <a:cubicBezTo>
                      <a:pt x="11759185" y="1962531"/>
                      <a:pt x="11710036" y="2011680"/>
                      <a:pt x="11649456" y="2011680"/>
                    </a:cubicBezTo>
                    <a:lnTo>
                      <a:pt x="109728" y="2011680"/>
                    </a:lnTo>
                    <a:cubicBezTo>
                      <a:pt x="49149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7997" y="642253"/>
              <a:ext cx="9379514" cy="1140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[20 , 30 , 40] //ยืมอ่านค่าใน stack ของ array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[20 , 30 , 40] //ยืมอ่านค่าใน heap ของ vector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[10 , 20 , 30 , 40 , 50] //ก็อปปี้มาเลยจากตัวตั้งต้น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28700" y="3812793"/>
            <a:ext cx="6104263" cy="3026602"/>
          </a:xfrm>
          <a:custGeom>
            <a:avLst/>
            <a:gdLst/>
            <a:ahLst/>
            <a:cxnLst/>
            <a:rect r="r" b="b" t="t" l="l"/>
            <a:pathLst>
              <a:path h="3026602" w="6104263">
                <a:moveTo>
                  <a:pt x="0" y="0"/>
                </a:moveTo>
                <a:lnTo>
                  <a:pt x="6104263" y="0"/>
                </a:lnTo>
                <a:lnTo>
                  <a:pt x="6104263" y="3026602"/>
                </a:lnTo>
                <a:lnTo>
                  <a:pt x="0" y="3026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48" t="-51122" r="-99493" b="-3239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30808" y="676275"/>
            <a:ext cx="506187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SLICES</a:t>
            </a: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 (CONCEPT)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Slice ไม่ใช่การแย่ง owner หรือการแก้ค่าแต่อย่างใด แต่มันแค่การขออ่านค่าตรงตำแหน่งที่ i จนถึงตำแหน่งที่ j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เช่น &amp;s[1..3] แปลว่าจะขออ่านค่า ตั้งแต่ตัวที่ 1 จนถึงตัวที่ 2 ซึ่งมีความยาว = 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190500" y="0"/>
                  </a:moveTo>
                  <a:lnTo>
                    <a:pt x="5295900" y="0"/>
                  </a:lnTo>
                  <a:cubicBezTo>
                    <a:pt x="5401110" y="0"/>
                    <a:pt x="5486400" y="85290"/>
                    <a:pt x="5486400" y="190500"/>
                  </a:cubicBezTo>
                  <a:lnTo>
                    <a:pt x="5486400" y="577596"/>
                  </a:lnTo>
                  <a:cubicBezTo>
                    <a:pt x="5486400" y="682806"/>
                    <a:pt x="5401110" y="768096"/>
                    <a:pt x="5295900" y="768096"/>
                  </a:cubicBezTo>
                  <a:lnTo>
                    <a:pt x="190500" y="768096"/>
                  </a:lnTo>
                  <a:cubicBezTo>
                    <a:pt x="139976" y="768096"/>
                    <a:pt x="91522" y="748026"/>
                    <a:pt x="55796" y="712300"/>
                  </a:cubicBezTo>
                  <a:cubicBezTo>
                    <a:pt x="20070" y="676574"/>
                    <a:pt x="0" y="628120"/>
                    <a:pt x="0" y="577596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1 · MEMBER 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92684" y="7814167"/>
            <a:ext cx="6866616" cy="1722460"/>
            <a:chOff x="0" y="0"/>
            <a:chExt cx="9155488" cy="229661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155488" cy="480793"/>
              <a:chOff x="0" y="0"/>
              <a:chExt cx="10585760" cy="55590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585759" cy="555902"/>
              </a:xfrm>
              <a:custGeom>
                <a:avLst/>
                <a:gdLst/>
                <a:ahLst/>
                <a:cxnLst/>
                <a:rect r="r" b="b" t="t" l="l"/>
                <a:pathLst>
                  <a:path h="555902" w="10585759">
                    <a:moveTo>
                      <a:pt x="0" y="0"/>
                    </a:moveTo>
                    <a:lnTo>
                      <a:pt x="10585759" y="0"/>
                    </a:lnTo>
                    <a:lnTo>
                      <a:pt x="10585759" y="555902"/>
                    </a:lnTo>
                    <a:lnTo>
                      <a:pt x="0" y="55590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2826" r="-11084" b="-361520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585760" cy="5940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790D16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ผลลัพธ์ที่คาดหวัง (Expected Output)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56737"/>
              <a:ext cx="9155488" cy="1739876"/>
              <a:chOff x="0" y="0"/>
              <a:chExt cx="10585760" cy="20116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585760" cy="2011680"/>
              </a:xfrm>
              <a:custGeom>
                <a:avLst/>
                <a:gdLst/>
                <a:ahLst/>
                <a:cxnLst/>
                <a:rect r="r" b="b" t="t" l="l"/>
                <a:pathLst>
                  <a:path h="2011680" w="10585760">
                    <a:moveTo>
                      <a:pt x="0" y="109728"/>
                    </a:moveTo>
                    <a:cubicBezTo>
                      <a:pt x="0" y="49149"/>
                      <a:pt x="44245" y="0"/>
                      <a:pt x="98778" y="0"/>
                    </a:cubicBezTo>
                    <a:lnTo>
                      <a:pt x="10486982" y="0"/>
                    </a:lnTo>
                    <a:cubicBezTo>
                      <a:pt x="10541515" y="0"/>
                      <a:pt x="10585760" y="49149"/>
                      <a:pt x="10585760" y="109728"/>
                    </a:cubicBezTo>
                    <a:lnTo>
                      <a:pt x="10585760" y="1901952"/>
                    </a:lnTo>
                    <a:cubicBezTo>
                      <a:pt x="10585760" y="1962531"/>
                      <a:pt x="10541515" y="2011680"/>
                      <a:pt x="10486982" y="2011680"/>
                    </a:cubicBezTo>
                    <a:lnTo>
                      <a:pt x="98778" y="2011680"/>
                    </a:lnTo>
                    <a:cubicBezTo>
                      <a:pt x="44245" y="2011680"/>
                      <a:pt x="0" y="1962531"/>
                      <a:pt x="0" y="1901952"/>
                    </a:cubicBezTo>
                    <a:close/>
                  </a:path>
                </a:pathLst>
              </a:custGeom>
              <a:solidFill>
                <a:srgbClr val="121314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169237" y="645394"/>
              <a:ext cx="8443552" cy="755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Vec: [10, 1, -20, 40]</a:t>
              </a:r>
            </a:p>
            <a:p>
              <a:pPr algn="l">
                <a:lnSpc>
                  <a:spcPts val="2327"/>
                </a:lnSpc>
              </a:pPr>
              <a:r>
                <a:rPr lang="en-US" sz="1686">
                  <a:solidFill>
                    <a:srgbClr val="F5EFE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String: hEELo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375372" y="2711751"/>
            <a:ext cx="6883928" cy="4686516"/>
          </a:xfrm>
          <a:custGeom>
            <a:avLst/>
            <a:gdLst/>
            <a:ahLst/>
            <a:cxnLst/>
            <a:rect r="r" b="b" t="t" l="l"/>
            <a:pathLst>
              <a:path h="4686516" w="6883928">
                <a:moveTo>
                  <a:pt x="0" y="0"/>
                </a:moveTo>
                <a:lnTo>
                  <a:pt x="6883928" y="0"/>
                </a:lnTo>
                <a:lnTo>
                  <a:pt x="6883928" y="4686516"/>
                </a:lnTo>
                <a:lnTo>
                  <a:pt x="0" y="4686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11" t="-16355" r="-13367" b="-2290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330808" y="676275"/>
            <a:ext cx="506187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SLICES</a:t>
            </a:r>
            <a:r>
              <a:rPr lang="en-US" b="true" sz="4500">
                <a:solidFill>
                  <a:srgbClr val="8B2E2E"/>
                </a:solidFill>
                <a:latin typeface="Prompt Bold"/>
                <a:ea typeface="Prompt Bold"/>
                <a:cs typeface="Prompt Bold"/>
                <a:sym typeface="Prompt Bold"/>
              </a:rPr>
              <a:t> (CONCEPT)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686861"/>
            <a:ext cx="16232981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Mutable Slice : สามารถแก้ไขค่าที่ slice ออกมาจากข้อมูลหลักได้ หากแก้ไข ตัวข้อมูลหลักจะถูกแก้ไขตามไปด้วย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ไม่สามารถ เพิ่ม - ลด ความยาวของตัว slice ได้</a:t>
            </a:r>
          </a:p>
        </p:txBody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28700" y="4007259"/>
          <a:ext cx="2376806" cy="20955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 rot="0">
            <a:off x="1028700" y="3273726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4437590" y="3962661"/>
          <a:ext cx="4706410" cy="1076325"/>
        </p:xfrm>
        <a:graphic>
          <a:graphicData uri="http://schemas.openxmlformats.org/drawingml/2006/table">
            <a:tbl>
              <a:tblPr/>
              <a:tblGrid>
                <a:gridCol w="1155770"/>
                <a:gridCol w="1176069"/>
                <a:gridCol w="1140267"/>
                <a:gridCol w="1234303"/>
              </a:tblGrid>
              <a:tr h="1035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3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4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>
            <a:off x="3405506" y="4500823"/>
            <a:ext cx="103208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3405506" y="5618445"/>
            <a:ext cx="276669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6172200" y="5016219"/>
            <a:ext cx="0" cy="602226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3479306" y="3940584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58357" y="561844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4437590" y="6860105"/>
          <a:ext cx="4706410" cy="1076325"/>
        </p:xfrm>
        <a:graphic>
          <a:graphicData uri="http://schemas.openxmlformats.org/drawingml/2006/table">
            <a:tbl>
              <a:tblPr/>
              <a:tblGrid>
                <a:gridCol w="1155770"/>
                <a:gridCol w="1176069"/>
                <a:gridCol w="1140267"/>
                <a:gridCol w="1234303"/>
              </a:tblGrid>
              <a:tr h="1035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-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4</a:t>
                      </a:r>
                      <a:r>
                        <a:rPr lang="en-US" sz="2799">
                          <a:solidFill>
                            <a:srgbClr val="790D16"/>
                          </a:solidFill>
                          <a:latin typeface="Prompt"/>
                          <a:ea typeface="Prompt"/>
                          <a:cs typeface="Prompt"/>
                          <a:sym typeface="Prompt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7" id="27"/>
          <p:cNvSpPr txBox="true"/>
          <p:nvPr/>
        </p:nvSpPr>
        <p:spPr>
          <a:xfrm rot="0">
            <a:off x="3927510" y="3273726"/>
            <a:ext cx="57265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numbers ก่อนถูกเปลี่ยนค่า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27510" y="6242650"/>
            <a:ext cx="572657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Heap ของ numbers หลังเปลี่ยนค่า</a:t>
            </a:r>
          </a:p>
        </p:txBody>
      </p: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1028700" y="6859094"/>
          <a:ext cx="2376806" cy="2095500"/>
        </p:xfrm>
        <a:graphic>
          <a:graphicData uri="http://schemas.openxmlformats.org/drawingml/2006/table">
            <a:tbl>
              <a:tblPr/>
              <a:tblGrid>
                <a:gridCol w="811923"/>
              </a:tblGrid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90D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7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790D16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1028700" y="6242650"/>
            <a:ext cx="237680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3405506" y="8503273"/>
            <a:ext cx="2802417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6207923" y="7936430"/>
            <a:ext cx="0" cy="566844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3405506" y="7398267"/>
            <a:ext cx="1032084" cy="0"/>
          </a:xfrm>
          <a:prstGeom prst="line">
            <a:avLst/>
          </a:prstGeom>
          <a:ln cap="flat" w="38100">
            <a:solidFill>
              <a:srgbClr val="790D16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4" id="34"/>
          <p:cNvSpPr txBox="true"/>
          <p:nvPr/>
        </p:nvSpPr>
        <p:spPr>
          <a:xfrm rot="0">
            <a:off x="3485267" y="6866855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358357" y="8544914"/>
            <a:ext cx="88448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790D16"/>
                </a:solidFill>
                <a:latin typeface="Cambria"/>
                <a:ea typeface="Cambria"/>
                <a:cs typeface="Cambria"/>
                <a:sym typeface="Cambria"/>
              </a:rPr>
              <a:t>ptr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5800" y="2537460"/>
            <a:ext cx="9738360" cy="8225605"/>
          </a:xfrm>
          <a:custGeom>
            <a:avLst/>
            <a:gdLst/>
            <a:ahLst/>
            <a:cxnLst/>
            <a:rect r="r" b="b" t="t" l="l"/>
            <a:pathLst>
              <a:path h="8225605" w="9738360">
                <a:moveTo>
                  <a:pt x="0" y="0"/>
                </a:moveTo>
                <a:lnTo>
                  <a:pt x="9738360" y="0"/>
                </a:lnTo>
                <a:lnTo>
                  <a:pt x="9738360" y="8225605"/>
                </a:lnTo>
                <a:lnTo>
                  <a:pt x="0" y="8225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77" t="-15060" r="-8042" b="-885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IS “FAT POINTER”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849468"/>
            <a:chOff x="0" y="0"/>
            <a:chExt cx="1780935" cy="1803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803975"/>
            </a:xfrm>
            <a:custGeom>
              <a:avLst/>
              <a:gdLst/>
              <a:ahLst/>
              <a:cxnLst/>
              <a:rect r="r" b="b" t="t" l="l"/>
              <a:pathLst>
                <a:path h="180397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781077"/>
                  </a:lnTo>
                  <a:cubicBezTo>
                    <a:pt x="1780935" y="1787150"/>
                    <a:pt x="1778523" y="1792974"/>
                    <a:pt x="1774228" y="1797268"/>
                  </a:cubicBezTo>
                  <a:cubicBezTo>
                    <a:pt x="1769934" y="1801563"/>
                    <a:pt x="1764110" y="1803975"/>
                    <a:pt x="1758037" y="1803975"/>
                  </a:cubicBezTo>
                  <a:lnTo>
                    <a:pt x="22898" y="1803975"/>
                  </a:lnTo>
                  <a:cubicBezTo>
                    <a:pt x="10252" y="1803975"/>
                    <a:pt x="0" y="1793723"/>
                    <a:pt x="0" y="1781077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84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89429"/>
            <a:ext cx="6076188" cy="615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&amp;[T] (slice)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ไม่ได้เก็บแค่ที่อยู่ในหน่วยความจำ แต่เก็บ 2 อย่างคู่กัน: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ptr คือที่อยู่ของสมาชิกตัวแรก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len คือจำนวนสมาชิก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เรียกว่า </a:t>
            </a:r>
            <a:r>
              <a:rPr lang="en-US" sz="2400" b="true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fat pointer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เพราะใหญ่กว่า pointer ธรรมดาที่เก็บแค่ที่อยู่อย่างเดียว (thin pointer)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data.a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s_ptr()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และ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data.len()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ดึง ptr กับ len ออกมาจาก slice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size_of::&lt;&amp;[T]&gt;()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จะได้ 16 bytes บนเครื่อง 64-bit (pointer 8 + len 8) ซึ่งเป็น fat pointer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size_of::&lt;T&gt;()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คือขนาดสมาชิก 1 ตัว (ในที่นี้ i32 = 4 bytes)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5800" y="2537460"/>
            <a:ext cx="9738360" cy="8225605"/>
          </a:xfrm>
          <a:custGeom>
            <a:avLst/>
            <a:gdLst/>
            <a:ahLst/>
            <a:cxnLst/>
            <a:rect r="r" b="b" t="t" l="l"/>
            <a:pathLst>
              <a:path h="8225605" w="9738360">
                <a:moveTo>
                  <a:pt x="0" y="0"/>
                </a:moveTo>
                <a:lnTo>
                  <a:pt x="9738360" y="0"/>
                </a:lnTo>
                <a:lnTo>
                  <a:pt x="9738360" y="8225605"/>
                </a:lnTo>
                <a:lnTo>
                  <a:pt x="0" y="8225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77" t="-15060" r="-8042" b="-885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IS “FAT POINTER”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4996173"/>
            <a:chOff x="0" y="0"/>
            <a:chExt cx="1780935" cy="1315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315865"/>
            </a:xfrm>
            <a:custGeom>
              <a:avLst/>
              <a:gdLst/>
              <a:ahLst/>
              <a:cxnLst/>
              <a:rect r="r" b="b" t="t" l="l"/>
              <a:pathLst>
                <a:path h="131586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292966"/>
                  </a:lnTo>
                  <a:cubicBezTo>
                    <a:pt x="1780935" y="1305613"/>
                    <a:pt x="1770683" y="1315865"/>
                    <a:pt x="1758037" y="1315865"/>
                  </a:cubicBezTo>
                  <a:lnTo>
                    <a:pt x="22898" y="1315865"/>
                  </a:lnTo>
                  <a:cubicBezTo>
                    <a:pt x="10252" y="1315865"/>
                    <a:pt x="0" y="1305613"/>
                    <a:pt x="0" y="1292966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353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78540" y="2867657"/>
            <a:ext cx="6076188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ส่วน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unsafe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from_raw_parts(ptr, len - 2)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สร้าง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sl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ใหม่จาก ptr เดิม แต่ตัดความยาวลง 2 ผลคือได้ </a:t>
            </a:r>
            <a:r>
              <a:rPr lang="en-US" sz="2400">
                <a:solidFill>
                  <a:srgbClr val="E5D3AF"/>
                </a:solidFill>
                <a:latin typeface="Fira Code"/>
                <a:ea typeface="Fira Code"/>
                <a:cs typeface="Fira Code"/>
                <a:sym typeface="Fira Code"/>
              </a:rPr>
              <a:t>[1, 2, 3, 4]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โดยไม่ได้ copy ข้อมูลเลย แค่เปลี่ยนตัวเลข len นี่คือหัวใจของ slice: </a:t>
            </a:r>
            <a:r>
              <a:rPr lang="en-US" sz="2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เป็นแค่ "หน้าต่างมองข้อมูล" ไม่ได้เป็นเจ้าของข้อมูล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ข้อควรระวัง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fatptr.len - 2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ถ้า slice ยาวน้อยกว่า 2 จะเกิด underflow (panic ใน debug mode) ถ้าจะใช้จริงควรเช็กความยาวก่อน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541270"/>
            <a:chOff x="0" y="0"/>
            <a:chExt cx="4816593" cy="669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69306"/>
            </a:xfrm>
            <a:custGeom>
              <a:avLst/>
              <a:gdLst/>
              <a:ahLst/>
              <a:cxnLst/>
              <a:rect r="r" b="b" t="t" l="l"/>
              <a:pathLst>
                <a:path h="66930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9306"/>
                  </a:lnTo>
                  <a:lnTo>
                    <a:pt x="0" y="669306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707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STRING AND &amp;STR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35640" y="2541270"/>
            <a:ext cx="6761988" cy="5485664"/>
            <a:chOff x="0" y="0"/>
            <a:chExt cx="1780935" cy="1444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0935" cy="1444784"/>
            </a:xfrm>
            <a:custGeom>
              <a:avLst/>
              <a:gdLst/>
              <a:ahLst/>
              <a:cxnLst/>
              <a:rect r="r" b="b" t="t" l="l"/>
              <a:pathLst>
                <a:path h="1444784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421885"/>
                  </a:lnTo>
                  <a:cubicBezTo>
                    <a:pt x="1780935" y="1427958"/>
                    <a:pt x="1778523" y="1433783"/>
                    <a:pt x="1774228" y="1438077"/>
                  </a:cubicBezTo>
                  <a:cubicBezTo>
                    <a:pt x="1769934" y="1442371"/>
                    <a:pt x="1764110" y="1444784"/>
                    <a:pt x="1758037" y="1444784"/>
                  </a:cubicBezTo>
                  <a:lnTo>
                    <a:pt x="22898" y="1444784"/>
                  </a:lnTo>
                  <a:cubicBezTo>
                    <a:pt x="10252" y="1444784"/>
                    <a:pt x="0" y="1434532"/>
                    <a:pt x="0" y="1421885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80935" cy="1482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183112" y="2898946"/>
            <a:ext cx="6076188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(&amp;String -&gt; usize)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คืนแค่ตำแหน่ง index ของช่องว่างแรก ปัญห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าคือ index นี้ไม่ผูกกับสตริงเลย ถ้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าเรียก string.clear() ทีหลัง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ind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x ก็ยังอยู่แต่ไม่มีความหมายแล้ว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(&amp;str -&gt; &amp;str)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คืน slice ที่ชี้เข้าไปในสตริงเดิม ทำให้ borrow checker รู้ว่าผลลัพธ์ยังยืมสตริงอยู่ ถ้าสตริงต้นทางถูกแก้ไขหรือล้างขณะที่ slice ยังถูกใช้ จะ compile ไม่ผ่าน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ภาษาอังกฤษ 1 ตัว = 1 byte จึงเท่ากันหมด และตัด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[0..1]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ได้ตัวแรกพอดี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64874" y="2537460"/>
            <a:ext cx="9654286" cy="12979651"/>
          </a:xfrm>
          <a:custGeom>
            <a:avLst/>
            <a:gdLst/>
            <a:ahLst/>
            <a:cxnLst/>
            <a:rect r="r" b="b" t="t" l="l"/>
            <a:pathLst>
              <a:path h="12979651" w="9654286">
                <a:moveTo>
                  <a:pt x="0" y="0"/>
                </a:moveTo>
                <a:lnTo>
                  <a:pt x="9654286" y="0"/>
                </a:lnTo>
                <a:lnTo>
                  <a:pt x="9654286" y="12979651"/>
                </a:lnTo>
                <a:lnTo>
                  <a:pt x="0" y="12979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65" t="-11357" r="-9013" b="-6729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-3268723"/>
            <a:ext cx="9654286" cy="12979651"/>
          </a:xfrm>
          <a:custGeom>
            <a:avLst/>
            <a:gdLst/>
            <a:ahLst/>
            <a:cxnLst/>
            <a:rect r="r" b="b" t="t" l="l"/>
            <a:pathLst>
              <a:path h="12979651" w="9654286">
                <a:moveTo>
                  <a:pt x="0" y="0"/>
                </a:moveTo>
                <a:lnTo>
                  <a:pt x="9654286" y="0"/>
                </a:lnTo>
                <a:lnTo>
                  <a:pt x="9654286" y="12979651"/>
                </a:lnTo>
                <a:lnTo>
                  <a:pt x="0" y="12979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65" t="-11357" r="-9013" b="-672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510993"/>
            <a:chOff x="0" y="0"/>
            <a:chExt cx="1780935" cy="17148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714830"/>
            </a:xfrm>
            <a:custGeom>
              <a:avLst/>
              <a:gdLst/>
              <a:ahLst/>
              <a:cxnLst/>
              <a:rect r="r" b="b" t="t" l="l"/>
              <a:pathLst>
                <a:path h="1714830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691931"/>
                  </a:lnTo>
                  <a:cubicBezTo>
                    <a:pt x="1780935" y="1704578"/>
                    <a:pt x="1770683" y="1714830"/>
                    <a:pt x="1758037" y="1714830"/>
                  </a:cubicBezTo>
                  <a:lnTo>
                    <a:pt x="22898" y="1714830"/>
                  </a:lnTo>
                  <a:cubicBezTo>
                    <a:pt x="10252" y="1714830"/>
                    <a:pt x="0" y="1704578"/>
                    <a:pt x="0" y="1691931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752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STRING AND &amp;STR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183112" y="2877047"/>
            <a:ext cx="607618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ภาษาไทยตัวแรกกินที่ 3 bytes การใช้ &amp;th[0..1] จะ error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เพราะ</a:t>
            </a:r>
            <a:r>
              <a:rPr lang="en-US" sz="2400" b="true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ตัดกลางตัว byte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ที่ไม่สมบูรณ์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is_char_boundary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ใช้ถามว่า "ตำแหน่ง byte นี้เป็นจุดเริ่มของตัวอักษรไหม"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s1 เป็น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String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 เป็นเจ้าของ ข้อมูล แก้ไข/ขยายได้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s2 เป็น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&amp;str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 fat pointer (ptr + len) แค่ "ยืมดู" ข้อมูล เป็นเจ้าของไม่ได้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push_str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แค่ยืม s2 มา copy ข้อความเข้า heap ของ s1 จึงไม่ได้เอา s2 ไป และยังใช้ s2 ต่อได้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2541270"/>
            <a:ext cx="9659286" cy="11191155"/>
          </a:xfrm>
          <a:custGeom>
            <a:avLst/>
            <a:gdLst/>
            <a:ahLst/>
            <a:cxnLst/>
            <a:rect r="r" b="b" t="t" l="l"/>
            <a:pathLst>
              <a:path h="11191155" w="9659286">
                <a:moveTo>
                  <a:pt x="0" y="0"/>
                </a:moveTo>
                <a:lnTo>
                  <a:pt x="9659286" y="0"/>
                </a:lnTo>
                <a:lnTo>
                  <a:pt x="9659286" y="11191155"/>
                </a:lnTo>
                <a:lnTo>
                  <a:pt x="0" y="111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1" t="-15256" r="-11927" b="-92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4693097"/>
            <a:chOff x="0" y="0"/>
            <a:chExt cx="1780935" cy="12360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236042"/>
            </a:xfrm>
            <a:custGeom>
              <a:avLst/>
              <a:gdLst/>
              <a:ahLst/>
              <a:cxnLst/>
              <a:rect r="r" b="b" t="t" l="l"/>
              <a:pathLst>
                <a:path h="1236042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213144"/>
                  </a:lnTo>
                  <a:cubicBezTo>
                    <a:pt x="1780935" y="1219217"/>
                    <a:pt x="1778523" y="1225041"/>
                    <a:pt x="1774228" y="1229335"/>
                  </a:cubicBezTo>
                  <a:cubicBezTo>
                    <a:pt x="1769934" y="1233630"/>
                    <a:pt x="1764110" y="1236042"/>
                    <a:pt x="1758037" y="1236042"/>
                  </a:cubicBezTo>
                  <a:lnTo>
                    <a:pt x="22898" y="1236042"/>
                  </a:lnTo>
                  <a:cubicBezTo>
                    <a:pt x="10252" y="1236042"/>
                    <a:pt x="0" y="1225790"/>
                    <a:pt x="0" y="1213144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274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97093"/>
            <a:ext cx="6076188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iter_mut()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ให้ &amp;mut i32 ของแต่ละตัว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*x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คือการ "ตามไปที่ค่าจริง" เพื่ออ่าน/แก้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ฟังก์ชันรับ &amp;mut [i32] จึงแก้ข้อมูลของคนเรียกได้โดยตรง ไม่ต้อง return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ต้องประกาศ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let mut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ไม่งั้นแก้ไม่ได้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&amp;mut numbers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(ชนิด &amp;mut [i32; 6]) ถูกแปลงเป็น &amp;mut [i32] ให้อัตโนมัติ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MUTABLE SLICES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874" y="-707759"/>
            <a:ext cx="9659286" cy="11191155"/>
          </a:xfrm>
          <a:custGeom>
            <a:avLst/>
            <a:gdLst/>
            <a:ahLst/>
            <a:cxnLst/>
            <a:rect r="r" b="b" t="t" l="l"/>
            <a:pathLst>
              <a:path h="11191155" w="9659286">
                <a:moveTo>
                  <a:pt x="0" y="0"/>
                </a:moveTo>
                <a:lnTo>
                  <a:pt x="9659286" y="0"/>
                </a:lnTo>
                <a:lnTo>
                  <a:pt x="9659286" y="11191155"/>
                </a:lnTo>
                <a:lnTo>
                  <a:pt x="0" y="111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1" t="-15256" r="-11927" b="-92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537460"/>
            <a:chOff x="0" y="0"/>
            <a:chExt cx="4816593" cy="668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668302"/>
            </a:xfrm>
            <a:custGeom>
              <a:avLst/>
              <a:gdLst/>
              <a:ahLst/>
              <a:cxnLst/>
              <a:rect r="r" b="b" t="t" l="l"/>
              <a:pathLst>
                <a:path h="668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68302"/>
                  </a:lnTo>
                  <a:lnTo>
                    <a:pt x="0" y="668302"/>
                  </a:ln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706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640" y="2541270"/>
            <a:ext cx="6761988" cy="6519882"/>
            <a:chOff x="0" y="0"/>
            <a:chExt cx="1780935" cy="17171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0935" cy="1717170"/>
            </a:xfrm>
            <a:custGeom>
              <a:avLst/>
              <a:gdLst/>
              <a:ahLst/>
              <a:cxnLst/>
              <a:rect r="r" b="b" t="t" l="l"/>
              <a:pathLst>
                <a:path h="1717170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694272"/>
                  </a:lnTo>
                  <a:cubicBezTo>
                    <a:pt x="1780935" y="1706918"/>
                    <a:pt x="1770683" y="1717170"/>
                    <a:pt x="1758037" y="1717170"/>
                  </a:cubicBezTo>
                  <a:lnTo>
                    <a:pt x="22898" y="1717170"/>
                  </a:lnTo>
                  <a:cubicBezTo>
                    <a:pt x="16825" y="1717170"/>
                    <a:pt x="11001" y="1714758"/>
                    <a:pt x="6707" y="1710464"/>
                  </a:cubicBezTo>
                  <a:cubicBezTo>
                    <a:pt x="2412" y="1706169"/>
                    <a:pt x="0" y="1700345"/>
                    <a:pt x="0" y="1694272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80935" cy="1755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183112" y="2897093"/>
            <a:ext cx="6076188" cy="579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s1 กับ s2 ถูกใช้ต่อหลังจากนั้นทั้งคู่ Rust จึงไม่ยอมให้คอมไพล์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หมายเหตุ: จริงๆ Rust ไม่ได้ดูว่า range ทับกันจริงหรือเปล่า แค่เห็นว่า numbers[..] ถูก &amp;mut ยืมซ้ำก็ error แล้ว แม้ range จะไม่ทับกัน (เช่น [..2] กับ [3..]) ก็ยัง error เพราะมัน</a:t>
            </a:r>
            <a:r>
              <a:rPr lang="en-US" sz="24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ตรวจ range ตอนคอมไพล์ไม่ได้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ใช้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split_at_mut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แบ่ง slice เป็น 2 ส่วนที่ ไม่ทับกันแน่นอน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ตราบใดที่ left/right ยังถูกใช้อยู่ข้างล่าง numbers ถือว่า ถูกยืมแบบ mutable อยู่ จะอ่าน numbers ตรงๆ ไม่ได้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MUTABLE SLICES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METHODS (ZERO-COPY VIEWS)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35640" y="2541270"/>
            <a:ext cx="6761988" cy="7169658"/>
            <a:chOff x="0" y="0"/>
            <a:chExt cx="1780935" cy="1888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0935" cy="1888305"/>
            </a:xfrm>
            <a:custGeom>
              <a:avLst/>
              <a:gdLst/>
              <a:ahLst/>
              <a:cxnLst/>
              <a:rect r="r" b="b" t="t" l="l"/>
              <a:pathLst>
                <a:path h="188830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1865407"/>
                  </a:lnTo>
                  <a:cubicBezTo>
                    <a:pt x="1780935" y="1878053"/>
                    <a:pt x="1770683" y="1888305"/>
                    <a:pt x="1758037" y="1888305"/>
                  </a:cubicBezTo>
                  <a:lnTo>
                    <a:pt x="22898" y="1888305"/>
                  </a:lnTo>
                  <a:cubicBezTo>
                    <a:pt x="16825" y="1888305"/>
                    <a:pt x="11001" y="1885893"/>
                    <a:pt x="6707" y="1881598"/>
                  </a:cubicBezTo>
                  <a:cubicBezTo>
                    <a:pt x="2412" y="1877304"/>
                    <a:pt x="0" y="1871480"/>
                    <a:pt x="0" y="1865407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0935" cy="1926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537460"/>
            <a:ext cx="9738360" cy="6538613"/>
          </a:xfrm>
          <a:custGeom>
            <a:avLst/>
            <a:gdLst/>
            <a:ahLst/>
            <a:cxnLst/>
            <a:rect r="r" b="b" t="t" l="l"/>
            <a:pathLst>
              <a:path h="6538613" w="9738360">
                <a:moveTo>
                  <a:pt x="0" y="0"/>
                </a:moveTo>
                <a:lnTo>
                  <a:pt x="9738360" y="0"/>
                </a:lnTo>
                <a:lnTo>
                  <a:pt x="9738360" y="6538613"/>
                </a:lnTo>
                <a:lnTo>
                  <a:pt x="0" y="65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1" t="-19211" r="-8208" b="-165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83112" y="2866644"/>
            <a:ext cx="6076188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first / last/ rest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หาข้อมูลตัวแรก/สุดท้ายในอาเรย์/ตัวที่เหลือ (ถ้า slice ว่างจะได้ None)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get(x)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index เกินขอบเขตได้ None ไม่ panic (ต่างจาก nums[10] ที่ panic)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split_at(x)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แบ่งเป็น 2 slice ที่ index x คืนเป็น tuple (ไม่ copy)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chunks(x)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ตัดเป็นท่อนละ x ไม่ซ้อนกัน ท่อนสุดท้ายเหลือเท่าไรก็เท่านั้น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windows(x)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"หน้าต่าง" ขนาด x เลื่อนทีละ 1 ซ้อนกัน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contains(&amp;x)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เช็กว่ามีค่านี้อยู่ไหม รับ reference และวนหาแบบเรียงทีละตัว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2 · ศิริกานต์ หรุ่นมาบแค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370457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SLICE METHODS (ZERO-COPY VIEWS)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35640" y="2541270"/>
            <a:ext cx="6761988" cy="3836646"/>
            <a:chOff x="0" y="0"/>
            <a:chExt cx="1780935" cy="1010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0935" cy="1010475"/>
            </a:xfrm>
            <a:custGeom>
              <a:avLst/>
              <a:gdLst/>
              <a:ahLst/>
              <a:cxnLst/>
              <a:rect r="r" b="b" t="t" l="l"/>
              <a:pathLst>
                <a:path h="1010475" w="1780935">
                  <a:moveTo>
                    <a:pt x="22898" y="0"/>
                  </a:moveTo>
                  <a:lnTo>
                    <a:pt x="1758037" y="0"/>
                  </a:lnTo>
                  <a:cubicBezTo>
                    <a:pt x="1770683" y="0"/>
                    <a:pt x="1780935" y="10252"/>
                    <a:pt x="1780935" y="22898"/>
                  </a:cubicBezTo>
                  <a:lnTo>
                    <a:pt x="1780935" y="987576"/>
                  </a:lnTo>
                  <a:cubicBezTo>
                    <a:pt x="1780935" y="993649"/>
                    <a:pt x="1778523" y="999474"/>
                    <a:pt x="1774228" y="1003768"/>
                  </a:cubicBezTo>
                  <a:cubicBezTo>
                    <a:pt x="1769934" y="1008062"/>
                    <a:pt x="1764110" y="1010475"/>
                    <a:pt x="1758037" y="1010475"/>
                  </a:cubicBezTo>
                  <a:lnTo>
                    <a:pt x="22898" y="1010475"/>
                  </a:lnTo>
                  <a:cubicBezTo>
                    <a:pt x="10252" y="1010475"/>
                    <a:pt x="0" y="1000223"/>
                    <a:pt x="0" y="987576"/>
                  </a:cubicBezTo>
                  <a:lnTo>
                    <a:pt x="0" y="22898"/>
                  </a:lnTo>
                  <a:cubicBezTo>
                    <a:pt x="0" y="10252"/>
                    <a:pt x="10252" y="0"/>
                    <a:pt x="22898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0935" cy="10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2537460"/>
            <a:ext cx="9738360" cy="6538613"/>
          </a:xfrm>
          <a:custGeom>
            <a:avLst/>
            <a:gdLst/>
            <a:ahLst/>
            <a:cxnLst/>
            <a:rect r="r" b="b" t="t" l="l"/>
            <a:pathLst>
              <a:path h="6538613" w="9738360">
                <a:moveTo>
                  <a:pt x="0" y="0"/>
                </a:moveTo>
                <a:lnTo>
                  <a:pt x="9738360" y="0"/>
                </a:lnTo>
                <a:lnTo>
                  <a:pt x="9738360" y="6538613"/>
                </a:lnTo>
                <a:lnTo>
                  <a:pt x="0" y="65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511" t="-19211" r="-8208" b="-1657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178540" y="2828913"/>
            <a:ext cx="607618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to_vec()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คัดลอก ไปสร้าง Vec ใหม่บน heap ที่เป็นเจ้าของข้อมูลเอง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เมธอดส่วนใหญ่ (first, get, split_at, chunks, windows) คืน slice/reference = 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ยืมข้อมูลเดิม ไม่ copy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มีแค่ </a:t>
            </a:r>
            <a:r>
              <a:rPr lang="en-US" sz="2400">
                <a:solidFill>
                  <a:srgbClr val="AEC4D4"/>
                </a:solidFill>
                <a:latin typeface="Fira Code"/>
                <a:ea typeface="Fira Code"/>
                <a:cs typeface="Fira Code"/>
                <a:sym typeface="Fira Code"/>
              </a:rPr>
              <a:t>to_vec()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ที่ </a:t>
            </a:r>
            <a:r>
              <a:rPr lang="en-US" b="true" sz="2400">
                <a:solidFill>
                  <a:srgbClr val="F5EFE1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copy</a:t>
            </a:r>
            <a:r>
              <a:rPr lang="en-US" sz="2400">
                <a:solidFill>
                  <a:srgbClr val="F5EFE1"/>
                </a:solidFill>
                <a:latin typeface="Fira Code"/>
                <a:ea typeface="Fira Code"/>
                <a:cs typeface="Fira Code"/>
                <a:sym typeface="Fira Code"/>
              </a:rPr>
              <a:t> จริง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Syntax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626866"/>
            <a:ext cx="16521300" cy="583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st ใช้ slice เพื่ออ้างอิงข้อมูลบางส่วนของ collection โดยไม่ต้องสร้าง collection ใหม่ขึ้นมา รูปแบบที่พบบ่อยคือ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&amp;collection[start..end]</a:t>
            </a: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et numbers = [10, 20, 30, 40, 50];</a:t>
            </a: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5125"/>
              </a:lnSpc>
            </a:pPr>
          </a:p>
          <a:p>
            <a:pPr algn="l">
              <a:lnSpc>
                <a:spcPts val="5125"/>
              </a:lnSpc>
            </a:pP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ดังนั้น Syntax ของ Slice จะเน้นการใช้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ร่วมกับช่วง </a:t>
            </a:r>
            <a:r>
              <a:rPr lang="en-US" sz="41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[start..end]</a:t>
            </a:r>
            <a:r>
              <a:rPr lang="en-US" sz="41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เพื่อสร้าง reference ไปยังข้อมูลเดิม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Semantics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21300" cy="599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lice มีความหมายว่าเป็น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ส่ว</a:t>
            </a: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นหนึ่งของข้อมูลเดิม ไม่ใช่ข้อมูลชุดใหม่</a:t>
            </a:r>
          </a:p>
          <a:p>
            <a:pPr algn="l">
              <a:lnSpc>
                <a:spcPts val="4750"/>
              </a:lnSpc>
            </a:pP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[10, 20, 30, 40, 50];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4750"/>
              </a:lnSpc>
            </a:pP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 </a:t>
            </a: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หมายถึงข้อมูล 20, 30, 40 แต่ข้อมูลยังอยู่ใน </a:t>
            </a:r>
            <a:r>
              <a:rPr lang="en-US" sz="38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เหมือนเดิม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แนวคิดสำคัญคือ Slice เป็น borrowed reference จึงไม่ได้เป็นเจ้าของข้อมูล</a:t>
            </a:r>
          </a:p>
          <a:p>
            <a:pPr algn="l">
              <a:lnSpc>
                <a:spcPts val="4750"/>
              </a:lnSpc>
            </a:pPr>
            <a:r>
              <a:rPr lang="en-US" sz="38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Semantics ของ Slice คือ การอ้างอิงข้อมูลเดิมบางช่วงผ่าน borrowing โดยไม่โอน ownership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4860036" cy="870331"/>
            <a:chOff x="0" y="0"/>
            <a:chExt cx="64800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0048" cy="1160441"/>
            </a:xfrm>
            <a:custGeom>
              <a:avLst/>
              <a:gdLst/>
              <a:ahLst/>
              <a:cxnLst/>
              <a:rect r="r" b="b" t="t" l="l"/>
              <a:pathLst>
                <a:path h="1160441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0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4800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Type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21300" cy="639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มี</a:t>
            </a: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Type System ที่ทำงานร่วมกับ Slice และ Ownership อย่างชัดเจน</a:t>
            </a:r>
          </a:p>
          <a:p>
            <a:pPr algn="l">
              <a:lnSpc>
                <a:spcPts val="4250"/>
              </a:lnSpc>
            </a:pP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ตัวอย่างชนิดที่เกี่ยวข้อง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arr: [i32; 5] = [1, 2, 3, 4, 5];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slice: &amp;[i32] = &amp;arr[1..4];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text: &amp;str = "Hello Rust";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vec: Vec&lt;i32&gt; = vec![1, 2, 3, 4, 5];</a:t>
            </a: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vec_slice: &amp;[i32] = &amp;vec[1..4];</a:t>
            </a:r>
          </a:p>
          <a:p>
            <a:pPr algn="l">
              <a:lnSpc>
                <a:spcPts val="4250"/>
              </a:lnSpc>
            </a:pPr>
          </a:p>
          <a:p>
            <a:pPr algn="l">
              <a:lnSpc>
                <a:spcPts val="425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Rust จึงใช้ Type System เพื่อแยกให้ชัดว่าอะไรเป็นเจ้าของข้อมูล และอะไรเป็นเพียง reference ที่ยืมข้อมูลมาใช้</a:t>
            </a:r>
          </a:p>
          <a:p>
            <a:pPr algn="l">
              <a:lnSpc>
                <a:spcPts val="425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7053223"/>
            <a:chOff x="0" y="0"/>
            <a:chExt cx="10440026" cy="4306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306147"/>
            </a:xfrm>
            <a:custGeom>
              <a:avLst/>
              <a:gdLst/>
              <a:ahLst/>
              <a:cxnLst/>
              <a:rect r="r" b="b" t="t" l="l"/>
              <a:pathLst>
                <a:path h="4306147" w="10440026">
                  <a:moveTo>
                    <a:pt x="0" y="186212"/>
                  </a:moveTo>
                  <a:cubicBezTo>
                    <a:pt x="0" y="83407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83407"/>
                    <a:pt x="10440026" y="186212"/>
                  </a:cubicBezTo>
                  <a:lnTo>
                    <a:pt x="10440026" y="4119936"/>
                  </a:lnTo>
                  <a:cubicBezTo>
                    <a:pt x="10440026" y="4222740"/>
                    <a:pt x="10345157" y="4306147"/>
                    <a:pt x="10228225" y="4306147"/>
                  </a:cubicBezTo>
                  <a:lnTo>
                    <a:pt x="211801" y="4306147"/>
                  </a:lnTo>
                  <a:cubicBezTo>
                    <a:pt x="94869" y="4306147"/>
                    <a:pt x="0" y="4222740"/>
                    <a:pt x="0" y="411993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56955"/>
            <a:ext cx="5801361" cy="870331"/>
            <a:chOff x="0" y="0"/>
            <a:chExt cx="77351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5147" cy="1160441"/>
            </a:xfrm>
            <a:custGeom>
              <a:avLst/>
              <a:gdLst/>
              <a:ahLst/>
              <a:cxnLst/>
              <a:rect r="r" b="b" t="t" l="l"/>
              <a:pathLst>
                <a:path h="1160441" w="7735147">
                  <a:moveTo>
                    <a:pt x="0" y="0"/>
                  </a:moveTo>
                  <a:lnTo>
                    <a:pt x="7735147" y="0"/>
                  </a:lnTo>
                  <a:lnTo>
                    <a:pt x="7735147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16225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7351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M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emory / Resource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35172"/>
            <a:ext cx="16553858" cy="605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มีก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ารจัดการ Memory โดยใช้แนวคิด Ownership, Borrowing และ Lifetime แทนการใช้ Garbage Collector 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numbers = vec![10, 20, 30, 40, 50];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&amp;numbers[1..4];</a:t>
            </a:r>
          </a:p>
          <a:p>
            <a:pPr algn="l">
              <a:lnSpc>
                <a:spcPts val="4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ในตัวอย่างนี้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เป็นเจ้าของ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Vec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และข้อมูลของ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Vec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โดยทั่วไปจะเก็บอยู่บน Heap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ส่วนตัวแปร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เป็น slice reference ที่ใช้ชี้ไปยังข้อมูลบางส่วนของ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</a:p>
          <a:p>
            <a:pPr algn="l">
              <a:lnSpc>
                <a:spcPts val="400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จุดสำคัญคือ Slice ไม่ได้เป็นเจ้าของข้อมูล และเมื่อ </a:t>
            </a: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numbers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หมด Scope ข้อมูลที่ part อ้างอิงอยู่ก็ไม่สามารถถูกใช้งานต่อได้ เพราะ Rust ใช้ Borrow Checker ป้องกันไม่ให้เกิดการอ้างอิงข้อมูลที่หมดอายุแล้ว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2152798"/>
            <a:chOff x="0" y="0"/>
            <a:chExt cx="10440026" cy="1314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1314330"/>
            </a:xfrm>
            <a:custGeom>
              <a:avLst/>
              <a:gdLst/>
              <a:ahLst/>
              <a:cxnLst/>
              <a:rect r="r" b="b" t="t" l="l"/>
              <a:pathLst>
                <a:path h="1314330" w="10440026">
                  <a:moveTo>
                    <a:pt x="0" y="56836"/>
                  </a:moveTo>
                  <a:cubicBezTo>
                    <a:pt x="0" y="25458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25458"/>
                    <a:pt x="10440026" y="56836"/>
                  </a:cubicBezTo>
                  <a:lnTo>
                    <a:pt x="10440026" y="1257494"/>
                  </a:lnTo>
                  <a:cubicBezTo>
                    <a:pt x="10440026" y="1288873"/>
                    <a:pt x="10345157" y="1314330"/>
                    <a:pt x="10228225" y="1314330"/>
                  </a:cubicBezTo>
                  <a:lnTo>
                    <a:pt x="211801" y="1314330"/>
                  </a:lnTo>
                  <a:cubicBezTo>
                    <a:pt x="94869" y="1314330"/>
                    <a:pt x="0" y="1288872"/>
                    <a:pt x="0" y="125749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9843520" cy="1470406"/>
            <a:chOff x="0" y="0"/>
            <a:chExt cx="13124693" cy="19605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4692" cy="1960541"/>
            </a:xfrm>
            <a:custGeom>
              <a:avLst/>
              <a:gdLst/>
              <a:ahLst/>
              <a:cxnLst/>
              <a:rect r="r" b="b" t="t" l="l"/>
              <a:pathLst>
                <a:path h="19605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960541"/>
                  </a:lnTo>
                  <a:lnTo>
                    <a:pt x="0" y="19605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46" r="50627" b="169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24693" cy="19605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Ab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straction</a:t>
              </a:r>
            </a:p>
            <a:p>
              <a:pPr algn="l">
                <a:lnSpc>
                  <a:spcPts val="4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99770" y="4877056"/>
            <a:ext cx="5501260" cy="4381244"/>
            <a:chOff x="0" y="0"/>
            <a:chExt cx="3358639" cy="2674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58639" cy="2674846"/>
            </a:xfrm>
            <a:custGeom>
              <a:avLst/>
              <a:gdLst/>
              <a:ahLst/>
              <a:cxnLst/>
              <a:rect r="r" b="b" t="t" l="l"/>
              <a:pathLst>
                <a:path h="2674846" w="3358639">
                  <a:moveTo>
                    <a:pt x="0" y="115669"/>
                  </a:moveTo>
                  <a:cubicBezTo>
                    <a:pt x="0" y="51810"/>
                    <a:pt x="30520" y="0"/>
                    <a:pt x="68138" y="0"/>
                  </a:cubicBezTo>
                  <a:lnTo>
                    <a:pt x="3290501" y="0"/>
                  </a:lnTo>
                  <a:cubicBezTo>
                    <a:pt x="3328119" y="0"/>
                    <a:pt x="3358639" y="51810"/>
                    <a:pt x="3358639" y="115669"/>
                  </a:cubicBezTo>
                  <a:lnTo>
                    <a:pt x="3358639" y="2559177"/>
                  </a:lnTo>
                  <a:cubicBezTo>
                    <a:pt x="3358639" y="2623036"/>
                    <a:pt x="3328119" y="2674846"/>
                    <a:pt x="3290501" y="2674846"/>
                  </a:cubicBezTo>
                  <a:lnTo>
                    <a:pt x="68138" y="2674846"/>
                  </a:lnTo>
                  <a:cubicBezTo>
                    <a:pt x="30520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60120" y="3554222"/>
            <a:ext cx="1652130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Slic</a:t>
            </a:r>
            <a:r>
              <a:rPr lang="en-US" sz="37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e ช่วยให้โปรแกรมเมอร์สนใจเฉพาะ “ข้อมูลช่วงที่ต้องการ” โดยไม่ต้องจัดการรายละเอียดการสร้าง collection ใหม่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120" y="5086478"/>
            <a:ext cx="4985523" cy="39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fn print_data(data: &amp;[i32]) {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      println!("{:?}", data);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}</a:t>
            </a:r>
          </a:p>
          <a:p>
            <a:pPr algn="l">
              <a:lnSpc>
                <a:spcPts val="3960"/>
              </a:lnSpc>
            </a:pP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ฟังก์ชันนี้สามารถรับได้ทั้ง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arr = [1, 2, 3, 4];</a:t>
            </a:r>
          </a:p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vec = vec![5, 6, 7, 8];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94445" y="4877056"/>
            <a:ext cx="11091521" cy="4381244"/>
            <a:chOff x="0" y="0"/>
            <a:chExt cx="6771617" cy="2674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71616" cy="2674846"/>
            </a:xfrm>
            <a:custGeom>
              <a:avLst/>
              <a:gdLst/>
              <a:ahLst/>
              <a:cxnLst/>
              <a:rect r="r" b="b" t="t" l="l"/>
              <a:pathLst>
                <a:path h="2674846" w="6771616">
                  <a:moveTo>
                    <a:pt x="0" y="115669"/>
                  </a:moveTo>
                  <a:cubicBezTo>
                    <a:pt x="0" y="51810"/>
                    <a:pt x="61534" y="0"/>
                    <a:pt x="137379" y="0"/>
                  </a:cubicBezTo>
                  <a:lnTo>
                    <a:pt x="6634238" y="0"/>
                  </a:lnTo>
                  <a:cubicBezTo>
                    <a:pt x="6710083" y="0"/>
                    <a:pt x="6771616" y="51810"/>
                    <a:pt x="6771616" y="115669"/>
                  </a:cubicBezTo>
                  <a:lnTo>
                    <a:pt x="6771616" y="2559177"/>
                  </a:lnTo>
                  <a:cubicBezTo>
                    <a:pt x="6771616" y="2623036"/>
                    <a:pt x="6710083" y="2674846"/>
                    <a:pt x="6634238" y="2674846"/>
                  </a:cubicBezTo>
                  <a:lnTo>
                    <a:pt x="137379" y="2674846"/>
                  </a:lnTo>
                  <a:cubicBezTo>
                    <a:pt x="61534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030844" y="5710365"/>
            <a:ext cx="10450576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เพร</a:t>
            </a: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าะทั้ง Array และ Vector สามารถถูกยืมมาเป็น </a:t>
            </a:r>
            <a:r>
              <a:rPr lang="en-US" sz="34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&amp;[i32]</a:t>
            </a: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ได้</a:t>
            </a:r>
          </a:p>
          <a:p>
            <a:pPr algn="l">
              <a:lnSpc>
                <a:spcPts val="4080"/>
              </a:lnSpc>
            </a:pP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จึงเป็นการสร้าง Abstraction ให้ฟังก์ชันทำงานกับ “ลำดับของข้อมูล” โดยไม่ต้องสนใจว่าเจ้าของข้อมูลจริง ๆ </a:t>
            </a:r>
          </a:p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เป็น Array หรือ Vector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5795" y="2345108"/>
            <a:ext cx="5731761" cy="7163034"/>
            <a:chOff x="0" y="0"/>
            <a:chExt cx="3499366" cy="43731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115" y="2345108"/>
            <a:ext cx="9843520" cy="870331"/>
            <a:chOff x="0" y="0"/>
            <a:chExt cx="13124693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0115" y="3205913"/>
            <a:ext cx="5432654" cy="606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วแปรและ reference จะใช้งานได้ภายใน Scope ที่กำหนด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l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et data = vec![1, 2, 3];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{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       let part = &amp;data[0..2];</a:t>
            </a: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}</a:t>
            </a:r>
          </a:p>
          <a:p>
            <a:pPr algn="l">
              <a:lnSpc>
                <a:spcPts val="4375"/>
              </a:lnSpc>
            </a:pPr>
          </a:p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จะมี Scope อยู่ภายใน block เท่านั้น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251412" y="2370344"/>
            <a:ext cx="5731761" cy="7163034"/>
            <a:chOff x="0" y="0"/>
            <a:chExt cx="3499366" cy="43731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25732" y="2370344"/>
            <a:ext cx="9843520" cy="870331"/>
            <a:chOff x="0" y="0"/>
            <a:chExt cx="13124693" cy="11604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Binding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525732" y="3221625"/>
            <a:ext cx="5432654" cy="580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ใช้ let สำหรับ Binding ตัวแปรกับค่า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[1, 2, 3, 4];</a:t>
            </a: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&amp;data[1..3];</a:t>
            </a: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</a:p>
          <a:p>
            <a:pPr algn="l">
              <a:lnSpc>
                <a:spcPts val="4624"/>
              </a:lnSpc>
            </a:pP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ในที่นี้ </a:t>
            </a: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699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ถูก Binding ให้เป็น reference ไปยังส่วนหนึ่งของ </a:t>
            </a:r>
            <a:r>
              <a:rPr lang="en-US" sz="3699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202248" y="2370344"/>
            <a:ext cx="5731761" cy="7163034"/>
            <a:chOff x="0" y="0"/>
            <a:chExt cx="3499366" cy="43731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9365" cy="4373189"/>
            </a:xfrm>
            <a:custGeom>
              <a:avLst/>
              <a:gdLst/>
              <a:ahLst/>
              <a:cxnLst/>
              <a:rect r="r" b="b" t="t" l="l"/>
              <a:pathLst>
                <a:path h="4373189" w="3499365">
                  <a:moveTo>
                    <a:pt x="0" y="189111"/>
                  </a:moveTo>
                  <a:cubicBezTo>
                    <a:pt x="0" y="84706"/>
                    <a:pt x="31799" y="0"/>
                    <a:pt x="70993" y="0"/>
                  </a:cubicBezTo>
                  <a:lnTo>
                    <a:pt x="3428373" y="0"/>
                  </a:lnTo>
                  <a:cubicBezTo>
                    <a:pt x="3467567" y="0"/>
                    <a:pt x="3499365" y="84706"/>
                    <a:pt x="3499365" y="189111"/>
                  </a:cubicBezTo>
                  <a:lnTo>
                    <a:pt x="3499365" y="4184079"/>
                  </a:lnTo>
                  <a:cubicBezTo>
                    <a:pt x="3499365" y="4288484"/>
                    <a:pt x="3467567" y="4373189"/>
                    <a:pt x="3428373" y="4373189"/>
                  </a:cubicBezTo>
                  <a:lnTo>
                    <a:pt x="70993" y="4373189"/>
                  </a:lnTo>
                  <a:cubicBezTo>
                    <a:pt x="31799" y="4373189"/>
                    <a:pt x="0" y="4288483"/>
                    <a:pt x="0" y="4184079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476568" y="2370344"/>
            <a:ext cx="9843520" cy="870331"/>
            <a:chOff x="0" y="0"/>
            <a:chExt cx="13124693" cy="11604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24692" cy="1160441"/>
            </a:xfrm>
            <a:custGeom>
              <a:avLst/>
              <a:gdLst/>
              <a:ahLst/>
              <a:cxnLst/>
              <a:rect r="r" b="b" t="t" l="l"/>
              <a:pathLst>
                <a:path h="1160441" w="13124692">
                  <a:moveTo>
                    <a:pt x="0" y="0"/>
                  </a:moveTo>
                  <a:lnTo>
                    <a:pt x="13124692" y="0"/>
                  </a:lnTo>
                  <a:lnTo>
                    <a:pt x="1312469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50627" b="-403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3124693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Lifetim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476568" y="3212100"/>
            <a:ext cx="5432654" cy="627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Sli</a:t>
            </a: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ce ต้องไม่สามารถมีอายุยาวกว่า Owner ของข้อมูล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vec![1, 2, 3];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&amp;data[0..2];</a:t>
            </a:r>
          </a:p>
          <a:p>
            <a:pPr algn="l">
              <a:lnSpc>
                <a:spcPts val="4550"/>
              </a:lnSpc>
            </a:pP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Lifetime ของ 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 </a:t>
            </a: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จึงขึ้นอยู่กับ </a:t>
            </a:r>
            <a:r>
              <a:rPr lang="en-US" sz="35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</a:t>
            </a:r>
          </a:p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แนวคิดนี้ช่วยให้ Rust ตรวจสอบปัญหาเกี่ยวกับ Memory ตั้งแต่ Compile Time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PPL PERSPECTIVE — มุมมองเชิง PROGRAMMING LANGUAGE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17100166" cy="2236965"/>
            <a:chOff x="0" y="0"/>
            <a:chExt cx="10440026" cy="13657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1365716"/>
            </a:xfrm>
            <a:custGeom>
              <a:avLst/>
              <a:gdLst/>
              <a:ahLst/>
              <a:cxnLst/>
              <a:rect r="r" b="b" t="t" l="l"/>
              <a:pathLst>
                <a:path h="1365716" w="10440026">
                  <a:moveTo>
                    <a:pt x="0" y="59058"/>
                  </a:moveTo>
                  <a:cubicBezTo>
                    <a:pt x="0" y="26453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26453"/>
                    <a:pt x="10440026" y="59058"/>
                  </a:cubicBezTo>
                  <a:lnTo>
                    <a:pt x="10440026" y="1306658"/>
                  </a:lnTo>
                  <a:cubicBezTo>
                    <a:pt x="10440026" y="1339263"/>
                    <a:pt x="10345157" y="1365716"/>
                    <a:pt x="10228225" y="1365716"/>
                  </a:cubicBezTo>
                  <a:lnTo>
                    <a:pt x="211801" y="1365716"/>
                  </a:lnTo>
                  <a:cubicBezTo>
                    <a:pt x="94869" y="1365716"/>
                    <a:pt x="0" y="1339263"/>
                    <a:pt x="0" y="1306658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556955"/>
            <a:ext cx="5801361" cy="870331"/>
            <a:chOff x="0" y="0"/>
            <a:chExt cx="7735148" cy="11604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5147" cy="1160441"/>
            </a:xfrm>
            <a:custGeom>
              <a:avLst/>
              <a:gdLst/>
              <a:ahLst/>
              <a:cxnLst/>
              <a:rect r="r" b="b" t="t" l="l"/>
              <a:pathLst>
                <a:path h="1160441" w="7735147">
                  <a:moveTo>
                    <a:pt x="0" y="0"/>
                  </a:moveTo>
                  <a:lnTo>
                    <a:pt x="7735147" y="0"/>
                  </a:lnTo>
                  <a:lnTo>
                    <a:pt x="7735147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16225" b="-403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7735148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Wh</a:t>
              </a:r>
              <a:r>
                <a:rPr lang="en-US" b="true" sz="39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y Rust?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3554222"/>
            <a:ext cx="1652130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ออกแบบมาให้ส</a:t>
            </a:r>
            <a:r>
              <a:rPr lang="en-US" sz="32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ามารถควบคุม Memory ได้ดี แต่ในขณะเดียวกันก็พยายามป้องกันปัญหาที่เกิดจากการจัดการ Memory สำหรับ Slice จุดเด่นคือสามารถ เข้าถึงข้อมูลบางส่วนโดยไม่ต้อง Copy ข้อมูลใหม่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99770" y="4877056"/>
            <a:ext cx="6569830" cy="4381244"/>
            <a:chOff x="0" y="0"/>
            <a:chExt cx="4011025" cy="2674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11025" cy="2674846"/>
            </a:xfrm>
            <a:custGeom>
              <a:avLst/>
              <a:gdLst/>
              <a:ahLst/>
              <a:cxnLst/>
              <a:rect r="r" b="b" t="t" l="l"/>
              <a:pathLst>
                <a:path h="2674846" w="4011025">
                  <a:moveTo>
                    <a:pt x="0" y="115669"/>
                  </a:moveTo>
                  <a:cubicBezTo>
                    <a:pt x="0" y="51810"/>
                    <a:pt x="36448" y="0"/>
                    <a:pt x="81373" y="0"/>
                  </a:cubicBezTo>
                  <a:lnTo>
                    <a:pt x="3929652" y="0"/>
                  </a:lnTo>
                  <a:cubicBezTo>
                    <a:pt x="3974577" y="0"/>
                    <a:pt x="4011025" y="51810"/>
                    <a:pt x="4011025" y="115669"/>
                  </a:cubicBezTo>
                  <a:lnTo>
                    <a:pt x="4011025" y="2559177"/>
                  </a:lnTo>
                  <a:cubicBezTo>
                    <a:pt x="4011025" y="2623036"/>
                    <a:pt x="3974577" y="2674846"/>
                    <a:pt x="3929652" y="2674846"/>
                  </a:cubicBezTo>
                  <a:lnTo>
                    <a:pt x="81373" y="2674846"/>
                  </a:lnTo>
                  <a:cubicBezTo>
                    <a:pt x="36448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56720" y="5334128"/>
            <a:ext cx="5855931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ตัวอย่าง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data = vec![10, 20, 30, 40, 50];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let part = &amp;data[1..4];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part</a:t>
            </a:r>
            <a:r>
              <a:rPr lang="en-US" sz="32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 เพียงแค่อ้างอิงข้อมูลเดิม ทำให้ลดการสร้างข้อมูลซ้ำและช่วยเรื่อง Performance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454320" y="4877056"/>
            <a:ext cx="10331646" cy="4381244"/>
            <a:chOff x="0" y="0"/>
            <a:chExt cx="6307697" cy="26748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07696" cy="2674846"/>
            </a:xfrm>
            <a:custGeom>
              <a:avLst/>
              <a:gdLst/>
              <a:ahLst/>
              <a:cxnLst/>
              <a:rect r="r" b="b" t="t" l="l"/>
              <a:pathLst>
                <a:path h="2674846" w="6307696">
                  <a:moveTo>
                    <a:pt x="0" y="115669"/>
                  </a:moveTo>
                  <a:cubicBezTo>
                    <a:pt x="0" y="51810"/>
                    <a:pt x="57318" y="0"/>
                    <a:pt x="127967" y="0"/>
                  </a:cubicBezTo>
                  <a:lnTo>
                    <a:pt x="6179730" y="0"/>
                  </a:lnTo>
                  <a:cubicBezTo>
                    <a:pt x="6250378" y="0"/>
                    <a:pt x="6307696" y="51810"/>
                    <a:pt x="6307696" y="115669"/>
                  </a:cubicBezTo>
                  <a:lnTo>
                    <a:pt x="6307696" y="2559177"/>
                  </a:lnTo>
                  <a:cubicBezTo>
                    <a:pt x="6307696" y="2623036"/>
                    <a:pt x="6250378" y="2674846"/>
                    <a:pt x="6179730" y="2674846"/>
                  </a:cubicBezTo>
                  <a:lnTo>
                    <a:pt x="127967" y="2674846"/>
                  </a:lnTo>
                  <a:cubicBezTo>
                    <a:pt x="57318" y="2674846"/>
                    <a:pt x="0" y="2623036"/>
                    <a:pt x="0" y="2559177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7596456" y="4903915"/>
            <a:ext cx="9884964" cy="425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5"/>
              </a:lnSpc>
            </a:pP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ดังนั้น Rust ให้คว</a:t>
            </a: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ามสำคัญกับ Memory Safety โดยใช้ Ownership, Borrowing และ Lifetime ในการจัดการหน่วยความจำ </a:t>
            </a:r>
          </a:p>
          <a:p>
            <a:pPr algn="l">
              <a:lnSpc>
                <a:spcPts val="4205"/>
              </a:lnSpc>
            </a:pPr>
            <a:r>
              <a:rPr lang="en-US" sz="2900">
                <a:solidFill>
                  <a:srgbClr val="8B2E2E"/>
                </a:solidFill>
                <a:latin typeface="Sarabun"/>
                <a:ea typeface="Sarabun"/>
                <a:cs typeface="Sarabun"/>
                <a:sym typeface="Sarabun"/>
              </a:rPr>
              <a:t>แนวคิดเหล่านี้ช่วยป้องกันปัญหาที่พบบ่อยในภาษาแบบ Manual Memory Management เช่น dangling reference คือ reference ที่ชี้ไปยังข้อมูลที่หมดอายุแล้ว, use-after-free คือการใช้ข้อมูลหลังจาก Memory ถูกคืนไปแล้ว, double free คือการคืน Memory เดิมมากกว่าหนึ่งครั้ง และ invalid memory access คือการเข้าถึง Memory ในตำแหน่งที่ไม่ถูกต้อง เช่น การเข้าถึง Array เกินขอบเขต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-169478"/>
            <a:ext cx="5674105" cy="3303594"/>
            <a:chOff x="0" y="0"/>
            <a:chExt cx="7565474" cy="44047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65474" cy="4404792"/>
            </a:xfrm>
            <a:custGeom>
              <a:avLst/>
              <a:gdLst/>
              <a:ahLst/>
              <a:cxnLst/>
              <a:rect r="r" b="b" t="t" l="l"/>
              <a:pathLst>
                <a:path h="4404792" w="7565474">
                  <a:moveTo>
                    <a:pt x="0" y="0"/>
                  </a:moveTo>
                  <a:lnTo>
                    <a:pt x="7565474" y="0"/>
                  </a:lnTo>
                  <a:lnTo>
                    <a:pt x="7565474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16" r="-198052" b="-1427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7565474" cy="4404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40"/>
                </a:lnSpc>
              </a:pPr>
              <a:r>
                <a:rPr lang="en-US" b="true" sz="3700">
                  <a:solidFill>
                    <a:srgbClr val="93A9B8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RUST VS PYTHON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685800" y="1784596"/>
          <a:ext cx="16911828" cy="7796498"/>
        </p:xfrm>
        <a:graphic>
          <a:graphicData uri="http://schemas.openxmlformats.org/drawingml/2006/table">
            <a:tbl>
              <a:tblPr/>
              <a:tblGrid>
                <a:gridCol w="2832830"/>
                <a:gridCol w="7017736"/>
                <a:gridCol w="7061262"/>
              </a:tblGrid>
              <a:tr h="652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b="true" sz="1950">
                          <a:solidFill>
                            <a:srgbClr val="F5EFE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Python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4D4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Syntax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E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slice เช่น 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&amp;collection[start..end];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&amp;[T] 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เป็น shared slice และ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&amp;str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เป็น string slice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slicing เช่น data[1:4] และ text[1:4]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5624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Semantics / Behavior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Slice เป็น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borrowed reference ไปยังข้อมูลเดิม ไม่ได้สร้างข้อมูลใหม่ และไม่เป็นเจ้าของข้อมูล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Slice ของ list, str โดยทั่วไปได้ข้อมูลใหม่ ส่วนตัวแปรเดิมยังเป็นเจ้าของข้อมูลของตัวเอง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Type System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S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tatic + Strong typing มีชนิดชัดเจน เช่น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&amp;[i32]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, 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&amp;str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,</a:t>
                      </a:r>
                      <a:r>
                        <a:rPr lang="en-US" sz="2549">
                          <a:solidFill>
                            <a:srgbClr val="222222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Vec&lt;i32&gt;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Dynamic typing ชนิดของตัวแปรถูกตรวจสอบตอน Runtime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2879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Memory Management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ใช้ Ownership, Borrowing และ Lifetime โดยไม่มี Garbage Collector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จัดการ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Memory อัตโนมัติตาม implementation เช่น reference counting/garbage collection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  <a:tr h="17172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19"/>
                        </a:lnSpc>
                        <a:defRPr/>
                      </a:pPr>
                      <a:r>
                        <a:rPr lang="en-US" b="true" sz="2849">
                          <a:solidFill>
                            <a:srgbClr val="790D16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Safety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เน้น</a:t>
                      </a: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 Memory Safety ตั้งแต่ Compile Time เช่น ป้องกัน dangling reference </a:t>
                      </a:r>
                      <a:endParaRPr lang="en-US" sz="1100"/>
                    </a:p>
                    <a:p>
                      <a:pPr algn="l">
                        <a:lnSpc>
                          <a:spcPts val="3442"/>
                        </a:lnSpc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และ use-after-free</a:t>
                      </a:r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42"/>
                        </a:lnSpc>
                        <a:defRPr/>
                      </a:pPr>
                      <a:r>
                        <a:rPr lang="en-US" sz="2549">
                          <a:solidFill>
                            <a:srgbClr val="790D16"/>
                          </a:solidFill>
                          <a:latin typeface="Sarabun"/>
                          <a:ea typeface="Sarabun"/>
                          <a:cs typeface="Sarabun"/>
                          <a:sym typeface="Sarabun"/>
                        </a:rPr>
                        <a:t>มีการจัดการ Memory อัตโนมัติและตรวจสอบหลายอย่างตอน Runtime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1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685800" y="8956548"/>
            <a:ext cx="16911828" cy="960120"/>
            <a:chOff x="0" y="0"/>
            <a:chExt cx="22549104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54910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028700"/>
            <a:ext cx="7163257" cy="989838"/>
            <a:chOff x="0" y="0"/>
            <a:chExt cx="9551010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1010" cy="1319784"/>
            </a:xfrm>
            <a:custGeom>
              <a:avLst/>
              <a:gdLst/>
              <a:ahLst/>
              <a:cxnLst/>
              <a:rect r="r" b="b" t="t" l="l"/>
              <a:pathLst>
                <a:path h="1319784" w="9551010">
                  <a:moveTo>
                    <a:pt x="0" y="0"/>
                  </a:moveTo>
                  <a:lnTo>
                    <a:pt x="9551010" y="0"/>
                  </a:lnTo>
                  <a:lnTo>
                    <a:pt x="9551010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-136091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51010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841134"/>
            <a:ext cx="17100166" cy="7749550"/>
            <a:chOff x="0" y="0"/>
            <a:chExt cx="10440026" cy="4731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0026" cy="4731270"/>
            </a:xfrm>
            <a:custGeom>
              <a:avLst/>
              <a:gdLst/>
              <a:ahLst/>
              <a:cxnLst/>
              <a:rect r="r" b="b" t="t" l="l"/>
              <a:pathLst>
                <a:path h="4731270" w="10440026">
                  <a:moveTo>
                    <a:pt x="0" y="204595"/>
                  </a:moveTo>
                  <a:cubicBezTo>
                    <a:pt x="0" y="91642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91642"/>
                    <a:pt x="10440026" y="204595"/>
                  </a:cubicBezTo>
                  <a:lnTo>
                    <a:pt x="10440026" y="4526674"/>
                  </a:lnTo>
                  <a:cubicBezTo>
                    <a:pt x="10440026" y="4639628"/>
                    <a:pt x="10345157" y="4731270"/>
                    <a:pt x="10228225" y="4731270"/>
                  </a:cubicBezTo>
                  <a:lnTo>
                    <a:pt x="211801" y="4731270"/>
                  </a:lnTo>
                  <a:cubicBezTo>
                    <a:pt x="94869" y="4731270"/>
                    <a:pt x="0" y="4639628"/>
                    <a:pt x="0" y="452667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233" y="2001158"/>
            <a:ext cx="16521300" cy="730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ความแตกต่างที่สำคัญระหว่าง Ru</a:t>
            </a: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st กับภาษาอื่นอยู่ที่ แนวคิดในการจัดการ Memory และการออกแบบ Slice โดย Rust พยายามให้โปรแกรมสามารถเข้าถึงข้อมูลเดิมได้โดยไม่ต้อง Copy ข้อมูล แต่ยังคงตรวจสอบความปลอดภัยของการอ้างอิงตั้งแต่ Compile Time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 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 vs. Python</a:t>
            </a:r>
          </a:p>
          <a:p>
            <a:pPr algn="l">
              <a:lnSpc>
                <a:spcPts val="5265"/>
              </a:lnSpc>
            </a:pP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Python ใช้ Syntax ของ Slice ที่ง่าย เช่น </a:t>
            </a:r>
            <a:r>
              <a:rPr lang="en-US" sz="3900">
                <a:solidFill>
                  <a:srgbClr val="222222"/>
                </a:solidFill>
                <a:latin typeface="Sarabun"/>
                <a:ea typeface="Sarabun"/>
                <a:cs typeface="Sarabun"/>
                <a:sym typeface="Sarabun"/>
              </a:rPr>
              <a:t>data[1:4] </a:t>
            </a:r>
            <a:r>
              <a:rPr lang="en-US" sz="39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และจัดการ Memory ให้อัตโนมัติ ทำให้เขียนโปรแกรมได้สะดวก แต่ไม่ได้บังคับให้โปรแกรมเมอร์ระบุ Ownership หรือความสัมพันธ์ของ Reference แบบ Rust การออกแบบของ Rust จึงเน้นให้ผู้เขียนโปรแกรมควบคุมการยืมข้อมูลได้ชัดเจนขึ้น เพื่อให้เกิด Memory Safety โดยไม่ต้องพึ่ง Garbage Collector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3 · MEMBER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028700"/>
            <a:ext cx="7163257" cy="989838"/>
            <a:chOff x="0" y="0"/>
            <a:chExt cx="9551010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51010" cy="1319784"/>
            </a:xfrm>
            <a:custGeom>
              <a:avLst/>
              <a:gdLst/>
              <a:ahLst/>
              <a:cxnLst/>
              <a:rect r="r" b="b" t="t" l="l"/>
              <a:pathLst>
                <a:path h="1319784" w="9551010">
                  <a:moveTo>
                    <a:pt x="0" y="0"/>
                  </a:moveTo>
                  <a:lnTo>
                    <a:pt x="9551010" y="0"/>
                  </a:lnTo>
                  <a:lnTo>
                    <a:pt x="9551010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-136091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551010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AEC4D4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ANALYSIS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1841134"/>
            <a:ext cx="17100166" cy="7749550"/>
            <a:chOff x="0" y="0"/>
            <a:chExt cx="10440026" cy="47312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40026" cy="4731270"/>
            </a:xfrm>
            <a:custGeom>
              <a:avLst/>
              <a:gdLst/>
              <a:ahLst/>
              <a:cxnLst/>
              <a:rect r="r" b="b" t="t" l="l"/>
              <a:pathLst>
                <a:path h="4731270" w="10440026">
                  <a:moveTo>
                    <a:pt x="0" y="204595"/>
                  </a:moveTo>
                  <a:cubicBezTo>
                    <a:pt x="0" y="91642"/>
                    <a:pt x="94869" y="0"/>
                    <a:pt x="211801" y="0"/>
                  </a:cubicBezTo>
                  <a:lnTo>
                    <a:pt x="10228225" y="0"/>
                  </a:lnTo>
                  <a:cubicBezTo>
                    <a:pt x="10345157" y="0"/>
                    <a:pt x="10440026" y="91642"/>
                    <a:pt x="10440026" y="204595"/>
                  </a:cubicBezTo>
                  <a:lnTo>
                    <a:pt x="10440026" y="4526674"/>
                  </a:lnTo>
                  <a:cubicBezTo>
                    <a:pt x="10440026" y="4639628"/>
                    <a:pt x="10345157" y="4731270"/>
                    <a:pt x="10228225" y="4731270"/>
                  </a:cubicBezTo>
                  <a:lnTo>
                    <a:pt x="211801" y="4731270"/>
                  </a:lnTo>
                  <a:cubicBezTo>
                    <a:pt x="94869" y="4731270"/>
                    <a:pt x="0" y="4639628"/>
                    <a:pt x="0" y="4526674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1841134"/>
            <a:ext cx="6513811" cy="870331"/>
            <a:chOff x="0" y="0"/>
            <a:chExt cx="8685082" cy="11604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85082" cy="1160441"/>
            </a:xfrm>
            <a:custGeom>
              <a:avLst/>
              <a:gdLst/>
              <a:ahLst/>
              <a:cxnLst/>
              <a:rect r="r" b="b" t="t" l="l"/>
              <a:pathLst>
                <a:path h="1160441" w="8685082">
                  <a:moveTo>
                    <a:pt x="0" y="0"/>
                  </a:moveTo>
                  <a:lnTo>
                    <a:pt x="8685082" y="0"/>
                  </a:lnTo>
                  <a:lnTo>
                    <a:pt x="8685082" y="1160441"/>
                  </a:lnTo>
                  <a:lnTo>
                    <a:pt x="0" y="1160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87" r="25388" b="-403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685082" cy="1160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เหตุผลด้านการออกแบบภาษา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2467883"/>
            <a:ext cx="16521300" cy="695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ใน Rust Slice คือการอ้างอิงไปยังข้อมูลบางส่วนของข้อมูลเดิม โดยไม่จำเป็นต้องสร้างหรือ Copy ข้อมูลชุดใหม่ขึ้นมา ทำให้ประหยัด Memory และช่วยให้การทำงานมีประสิทธิภาพมากขึ้น </a:t>
            </a: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อย่างไรก็ตาม Slice ไม่ได้เป็นเจ้าของข้อมูลนั้นเอง แต่เป็นเพียงการ Borrow ข้อมูลจากตัวแปรที่เป็น Owner </a:t>
            </a: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Rust จึงใช้แนวคิด Ownership, Borrowing และ Lifetime เพื่อควบคุมว่าข้อมูลสามารถถูกอ้างอิงและใช้งานได้นานแค่ไหน โดย Compiler จะตรวจสอบกฎเหล่านี้ตั้งแต่ Compile Time เพื่อป้องกันปัญหาที่เกี่ยวกับ Memory เช่น การอ้างอิงข้อมูลที่หมดอายุหรือการใช้ข้อมูลผิดช่วงเวลา</a:t>
            </a:r>
          </a:p>
          <a:p>
            <a:pPr algn="l">
              <a:lnSpc>
                <a:spcPts val="4590"/>
              </a:lnSpc>
            </a:pPr>
          </a:p>
          <a:p>
            <a:pPr algn="l">
              <a:lnSpc>
                <a:spcPts val="4590"/>
              </a:lnSpc>
            </a:pPr>
            <a:r>
              <a:rPr lang="en-US" sz="3400">
                <a:solidFill>
                  <a:srgbClr val="790D16"/>
                </a:solidFill>
                <a:latin typeface="Sarabun"/>
                <a:ea typeface="Sarabun"/>
                <a:cs typeface="Sarabun"/>
                <a:sym typeface="Sarabun"/>
              </a:rPr>
              <a:t>ดังนั้น จุดเด่นของ Rust ไม่ได้อยู่ที่การมี Slice เพียงอย่างเดียว แต่คือการออกแบบให้ การอ้างอิงข้อมูลที่มีประสิทธิภาพสามารถใช้งานร่วมกับระบบ Ownership ได้อย่างปลอดภัย ซึ่งเป็นแนวคิดที่แตกต่างจาก Python และ Java ที่เน้นการจัดการ Memory อัตโนมัติ และแตกต่างจาก C/C++ ที่ให้อิสระในการจัดการ Memory มากกว่า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567127"/>
            <a:ext cx="6543675" cy="2032389"/>
          </a:xfrm>
          <a:custGeom>
            <a:avLst/>
            <a:gdLst/>
            <a:ahLst/>
            <a:cxnLst/>
            <a:rect r="r" b="b" t="t" l="l"/>
            <a:pathLst>
              <a:path h="2032389" w="6543675">
                <a:moveTo>
                  <a:pt x="0" y="0"/>
                </a:moveTo>
                <a:lnTo>
                  <a:pt x="6543675" y="0"/>
                </a:lnTo>
                <a:lnTo>
                  <a:pt x="6543675" y="2032389"/>
                </a:lnTo>
                <a:lnTo>
                  <a:pt x="0" y="2032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512063"/>
            <a:ext cx="5123181" cy="2439915"/>
          </a:xfrm>
          <a:custGeom>
            <a:avLst/>
            <a:gdLst/>
            <a:ahLst/>
            <a:cxnLst/>
            <a:rect r="r" b="b" t="t" l="l"/>
            <a:pathLst>
              <a:path h="2439915" w="5123181">
                <a:moveTo>
                  <a:pt x="0" y="0"/>
                </a:moveTo>
                <a:lnTo>
                  <a:pt x="5123181" y="0"/>
                </a:lnTo>
                <a:lnTo>
                  <a:pt x="5123181" y="2439914"/>
                </a:lnTo>
                <a:lnTo>
                  <a:pt x="0" y="2439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ผิ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ดเพราะ let s2 = s1 เป็นการ ย้าย ownership (Move) จาก s1 ไปให้ s2 ทำให้ s1 หมดสิทธิ์ใช้งาน จึงไม่สามารถ println!("{}", s1) ได้อีก</a:t>
            </a:r>
          </a:p>
          <a:p>
            <a:pPr algn="l">
              <a:lnSpc>
                <a:spcPts val="3120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85800" y="3333750"/>
            <a:ext cx="5622604" cy="2744138"/>
          </a:xfrm>
          <a:custGeom>
            <a:avLst/>
            <a:gdLst/>
            <a:ahLst/>
            <a:cxnLst/>
            <a:rect r="r" b="b" t="t" l="l"/>
            <a:pathLst>
              <a:path h="2744138" w="5622604">
                <a:moveTo>
                  <a:pt x="0" y="0"/>
                </a:moveTo>
                <a:lnTo>
                  <a:pt x="5622604" y="0"/>
                </a:lnTo>
                <a:lnTo>
                  <a:pt x="5622604" y="2744138"/>
                </a:lnTo>
                <a:lnTo>
                  <a:pt x="0" y="274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913164" y="3246358"/>
            <a:ext cx="5490872" cy="2831530"/>
          </a:xfrm>
          <a:custGeom>
            <a:avLst/>
            <a:gdLst/>
            <a:ahLst/>
            <a:cxnLst/>
            <a:rect r="r" b="b" t="t" l="l"/>
            <a:pathLst>
              <a:path h="2831530" w="5490872">
                <a:moveTo>
                  <a:pt x="0" y="0"/>
                </a:moveTo>
                <a:lnTo>
                  <a:pt x="5490872" y="0"/>
                </a:lnTo>
                <a:lnTo>
                  <a:pt x="5490872" y="2831530"/>
                </a:lnTo>
                <a:lnTo>
                  <a:pt x="0" y="28315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7122795"/>
            <a:ext cx="90575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กำ</a:t>
            </a: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หนดช่วง Slice เกินขนาดของข้อมูล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333750"/>
            <a:ext cx="5486400" cy="2923881"/>
          </a:xfrm>
          <a:custGeom>
            <a:avLst/>
            <a:gdLst/>
            <a:ahLst/>
            <a:cxnLst/>
            <a:rect r="r" b="b" t="t" l="l"/>
            <a:pathLst>
              <a:path h="2923881" w="5486400">
                <a:moveTo>
                  <a:pt x="0" y="0"/>
                </a:moveTo>
                <a:lnTo>
                  <a:pt x="5486400" y="0"/>
                </a:lnTo>
                <a:lnTo>
                  <a:pt x="5486400" y="2923881"/>
                </a:lnTo>
                <a:lnTo>
                  <a:pt x="0" y="2923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06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317296"/>
            <a:ext cx="5832729" cy="2940335"/>
          </a:xfrm>
          <a:custGeom>
            <a:avLst/>
            <a:gdLst/>
            <a:ahLst/>
            <a:cxnLst/>
            <a:rect r="r" b="b" t="t" l="l"/>
            <a:pathLst>
              <a:path h="2940335" w="5832729">
                <a:moveTo>
                  <a:pt x="0" y="0"/>
                </a:moveTo>
                <a:lnTo>
                  <a:pt x="5832729" y="0"/>
                </a:lnTo>
                <a:lnTo>
                  <a:pt x="5832729" y="2940335"/>
                </a:lnTo>
                <a:lnTo>
                  <a:pt x="0" y="294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ใน Rust ถ้าเราใช้ &amp; เพื่อยืมข้อมูล จะเป็นการยืมแบบอ่า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นอย่างเดียว ดังนั้นเราจะไม่สามารถเปลี่ยนค่าข้างใน Slice ได้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EC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537460"/>
            <a:ext cx="7955280" cy="548640"/>
            <a:chOff x="0" y="0"/>
            <a:chExt cx="106070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❌  Incorrect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52560" y="2537460"/>
            <a:ext cx="7955280" cy="548640"/>
            <a:chOff x="0" y="0"/>
            <a:chExt cx="10607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790D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Correct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6377940"/>
            <a:ext cx="16911828" cy="2194560"/>
            <a:chOff x="0" y="0"/>
            <a:chExt cx="22549104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2779776"/>
                  </a:lnTo>
                  <a:cubicBezTo>
                    <a:pt x="22549104" y="2860548"/>
                    <a:pt x="22483572" y="2926080"/>
                    <a:pt x="22402800" y="2926080"/>
                  </a:cubicBezTo>
                  <a:lnTo>
                    <a:pt x="146304" y="2926080"/>
                  </a:lnTo>
                  <a:cubicBezTo>
                    <a:pt x="65532" y="2926080"/>
                    <a:pt x="0" y="2860548"/>
                    <a:pt x="0" y="2779776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5800" y="3219450"/>
            <a:ext cx="5486400" cy="3158490"/>
          </a:xfrm>
          <a:custGeom>
            <a:avLst/>
            <a:gdLst/>
            <a:ahLst/>
            <a:cxnLst/>
            <a:rect r="r" b="b" t="t" l="l"/>
            <a:pathLst>
              <a:path h="3158490" w="5486400">
                <a:moveTo>
                  <a:pt x="0" y="0"/>
                </a:moveTo>
                <a:lnTo>
                  <a:pt x="5486400" y="0"/>
                </a:lnTo>
                <a:lnTo>
                  <a:pt x="5486400" y="3158490"/>
                </a:lnTo>
                <a:lnTo>
                  <a:pt x="0" y="3158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339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52560" y="3219450"/>
            <a:ext cx="4457097" cy="3143426"/>
          </a:xfrm>
          <a:custGeom>
            <a:avLst/>
            <a:gdLst/>
            <a:ahLst/>
            <a:cxnLst/>
            <a:rect r="r" b="b" t="t" l="l"/>
            <a:pathLst>
              <a:path h="3143426" w="4457097">
                <a:moveTo>
                  <a:pt x="0" y="0"/>
                </a:moveTo>
                <a:lnTo>
                  <a:pt x="4457097" y="0"/>
                </a:lnTo>
                <a:lnTo>
                  <a:pt x="4457097" y="3143426"/>
                </a:lnTo>
                <a:lnTo>
                  <a:pt x="0" y="3143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7122795"/>
            <a:ext cx="1622602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พยายามแก้ไขหรือเพิ่มข้อมูลลงใน Vector ในขณะที่ยังมีตัวแปรยืมอ่า</a:t>
            </a:r>
            <a:r>
              <a:rPr lang="en-US" sz="260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นข้อมูลใน Vector นั้นอยู่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COMMON MISTAKES — ข้อผิดพลาดที่พบบ่อย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6583680"/>
            <a:ext cx="4639522" cy="608279"/>
            <a:chOff x="0" y="0"/>
            <a:chExt cx="6186030" cy="811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86030" cy="811039"/>
            </a:xfrm>
            <a:custGeom>
              <a:avLst/>
              <a:gdLst/>
              <a:ahLst/>
              <a:cxnLst/>
              <a:rect r="r" b="b" t="t" l="l"/>
              <a:pathLst>
                <a:path h="811039" w="6186030">
                  <a:moveTo>
                    <a:pt x="0" y="0"/>
                  </a:moveTo>
                  <a:lnTo>
                    <a:pt x="6186030" y="0"/>
                  </a:lnTo>
                  <a:lnTo>
                    <a:pt x="6186030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308" r="-249734" b="-4592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186030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ทำไมถึงผิด? (Why?)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2606040"/>
            <a:ext cx="16911828" cy="2948940"/>
            <a:chOff x="0" y="0"/>
            <a:chExt cx="22549104" cy="3931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3931920"/>
            </a:xfrm>
            <a:custGeom>
              <a:avLst/>
              <a:gdLst/>
              <a:ahLst/>
              <a:cxnLst/>
              <a:rect r="r" b="b" t="t" l="l"/>
              <a:pathLst>
                <a:path h="3931920" w="225491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5532"/>
                    <a:pt x="22549104" y="146304"/>
                  </a:cubicBezTo>
                  <a:lnTo>
                    <a:pt x="22549104" y="3785616"/>
                  </a:lnTo>
                  <a:cubicBezTo>
                    <a:pt x="22549104" y="3866388"/>
                    <a:pt x="22483572" y="3931920"/>
                    <a:pt x="22402800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7280" y="3488055"/>
            <a:ext cx="1608886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กำหนดให้ numbers มีค่า </a:t>
            </a:r>
            <a:r>
              <a:rPr lang="en-US" sz="25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[10, 20, 30, 40, 50] จงใช้ Slice เพื่อเลือกข้อมูล 20, 30, 40 และเปลี่ยนค่าเป็น 200, 300, 400 จากนั้นแสดงผลข้อมูลที่ถูกเปลี่ยนแปลงแล้ว โดยห้ามเปลี่ยนค่าใน numbers โดยตรง ให้แก้ไขข้อมูลผ่าน Slice เท่านั้น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4128" y="6098134"/>
            <a:ext cx="162306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ให้ใช้ Slice เพื่อเลือกเฉพาะข้อมูล 20, 30, 40 จาก numbers โดยก</a:t>
            </a: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ำหนดช่วงให้ถูกต้อง จากนั้นใช้การยืมแบบ Mutable เพื่อให้สามารถแก้ไขค่าผ่าน Slice ได้ และแสดงผล</a:t>
            </a: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2880360"/>
            <a:ext cx="16088868" cy="608279"/>
            <a:chOff x="0" y="0"/>
            <a:chExt cx="21451824" cy="8110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1824" cy="811039"/>
            </a:xfrm>
            <a:custGeom>
              <a:avLst/>
              <a:gdLst/>
              <a:ahLst/>
              <a:cxnLst/>
              <a:rect r="r" b="b" t="t" l="l"/>
              <a:pathLst>
                <a:path h="811039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915" r="0" b="-4548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1824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โจทย์ (Problem)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564505"/>
            <a:ext cx="7955280" cy="524104"/>
            <a:chOff x="0" y="0"/>
            <a:chExt cx="10607040" cy="6988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698805"/>
            </a:xfrm>
            <a:custGeom>
              <a:avLst/>
              <a:gdLst/>
              <a:ahLst/>
              <a:cxnLst/>
              <a:rect r="r" b="b" t="t" l="l"/>
              <a:pathLst>
                <a:path h="6988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1" r="0" b="-2415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10607040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962D2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💡  Hint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30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194364" y="3406708"/>
            <a:ext cx="7898486" cy="5365718"/>
          </a:xfrm>
          <a:custGeom>
            <a:avLst/>
            <a:gdLst/>
            <a:ahLst/>
            <a:cxnLst/>
            <a:rect r="r" b="b" t="t" l="l"/>
            <a:pathLst>
              <a:path h="5365718" w="7898486">
                <a:moveTo>
                  <a:pt x="0" y="0"/>
                </a:moveTo>
                <a:lnTo>
                  <a:pt x="7898486" y="0"/>
                </a:lnTo>
                <a:lnTo>
                  <a:pt x="7898486" y="5365718"/>
                </a:lnTo>
                <a:lnTo>
                  <a:pt x="0" y="536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94364" y="2430018"/>
            <a:ext cx="7899272" cy="933011"/>
            <a:chOff x="0" y="0"/>
            <a:chExt cx="5916384" cy="6988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16384" cy="698805"/>
            </a:xfrm>
            <a:custGeom>
              <a:avLst/>
              <a:gdLst/>
              <a:ahLst/>
              <a:cxnLst/>
              <a:rect r="r" b="b" t="t" l="l"/>
              <a:pathLst>
                <a:path h="698805" w="5916384">
                  <a:moveTo>
                    <a:pt x="0" y="0"/>
                  </a:moveTo>
                  <a:lnTo>
                    <a:pt x="5916384" y="0"/>
                  </a:lnTo>
                  <a:lnTo>
                    <a:pt x="5916384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351" r="-262583" b="-5439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916384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Solution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2606040"/>
            <a:ext cx="16911828" cy="3122716"/>
            <a:chOff x="0" y="0"/>
            <a:chExt cx="22549104" cy="41636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49104" cy="4163621"/>
            </a:xfrm>
            <a:custGeom>
              <a:avLst/>
              <a:gdLst/>
              <a:ahLst/>
              <a:cxnLst/>
              <a:rect r="r" b="b" t="t" l="l"/>
              <a:pathLst>
                <a:path h="4163621" w="22549104">
                  <a:moveTo>
                    <a:pt x="0" y="154925"/>
                  </a:moveTo>
                  <a:cubicBezTo>
                    <a:pt x="0" y="69394"/>
                    <a:pt x="65532" y="0"/>
                    <a:pt x="146304" y="0"/>
                  </a:cubicBezTo>
                  <a:lnTo>
                    <a:pt x="22402800" y="0"/>
                  </a:lnTo>
                  <a:cubicBezTo>
                    <a:pt x="22483572" y="0"/>
                    <a:pt x="22549104" y="69394"/>
                    <a:pt x="22549104" y="154925"/>
                  </a:cubicBezTo>
                  <a:lnTo>
                    <a:pt x="22549104" y="4008695"/>
                  </a:lnTo>
                  <a:cubicBezTo>
                    <a:pt x="22549104" y="4094227"/>
                    <a:pt x="22483572" y="4163621"/>
                    <a:pt x="22402800" y="4163621"/>
                  </a:cubicBezTo>
                  <a:lnTo>
                    <a:pt x="146304" y="4163621"/>
                  </a:lnTo>
                  <a:cubicBezTo>
                    <a:pt x="65532" y="4163621"/>
                    <a:pt x="0" y="4094227"/>
                    <a:pt x="0" y="4008695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880360"/>
            <a:ext cx="16088868" cy="608279"/>
            <a:chOff x="0" y="0"/>
            <a:chExt cx="21451824" cy="8110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51824" cy="811039"/>
            </a:xfrm>
            <a:custGeom>
              <a:avLst/>
              <a:gdLst/>
              <a:ahLst/>
              <a:cxnLst/>
              <a:rect r="r" b="b" t="t" l="l"/>
              <a:pathLst>
                <a:path h="811039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811039"/>
                  </a:lnTo>
                  <a:lnTo>
                    <a:pt x="0" y="81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915" r="0" b="-4548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451824" cy="811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โจทย์ (Problem)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5757824"/>
            <a:ext cx="7955280" cy="524104"/>
            <a:chOff x="0" y="0"/>
            <a:chExt cx="10607040" cy="6988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7040" cy="698805"/>
            </a:xfrm>
            <a:custGeom>
              <a:avLst/>
              <a:gdLst/>
              <a:ahLst/>
              <a:cxnLst/>
              <a:rect r="r" b="b" t="t" l="l"/>
              <a:pathLst>
                <a:path h="698805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61" r="0" b="-2415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0607040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962D2B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💡  Hint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7280" y="3488055"/>
            <a:ext cx="16088868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จงสร้าง Vector เก็บชุดตัวเลขจำนวนเต็ม  ขนาด N ตัว คือ [1,4,6,9]</a:t>
            </a: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 จากนั้นให้ทำการตรวจเช็คข้อมูลตัวเลขเดิมใน Vector: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ถ้าเจอ เลขคู่ ให้ทำการเพิ่ม (Push) ค่า x *2 ต่อท้ายเข้าไปใน Vector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ถ้าเจอ เลขคี่ ให้ทำการเพิ่ม (Push) ค่า x / 2 ต่อท้ายเข้าไปใน Vector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เงื่อนไข:ต้องตรวจเช็คครบเฉพาะ N ตัวแรกเท่านั้น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จากโจทย์ถ้าต้องการให้ Compile ผ่าน ตัวเลือกข้อไหนถูกต้อง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2197" y="6577203"/>
            <a:ext cx="7620966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val in &amp;numbers[..len] { if val % 2 == 0 { numbers.push(val * 2); } else { numbers.push(val / 2); } }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i in 0..numbers.as_slice().len() { let val = &amp;mut numbers[i]; if *val % 2 == 0 { numbers.push(*val * 2); } else { numbers.push(*val / 2); } }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52272" y="6577203"/>
            <a:ext cx="544675" cy="54467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A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290307" y="5853189"/>
            <a:ext cx="84559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ห้ามยืมอ่านข้อมูลค้างไว้ทั้ง Loop แล้วสั่งเพิ่มขน</a:t>
            </a:r>
            <a:r>
              <a:rPr lang="en-US" sz="2199">
                <a:solidFill>
                  <a:srgbClr val="790D16"/>
                </a:solidFill>
                <a:latin typeface="Prompt"/>
                <a:ea typeface="Prompt"/>
                <a:cs typeface="Prompt"/>
                <a:sym typeface="Prompt"/>
              </a:rPr>
              <a:t>าด Vector พร้อมกัน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141714" y="6577203"/>
            <a:ext cx="544675" cy="54467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2272" y="7969603"/>
            <a:ext cx="544675" cy="54467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0" y="8241940"/>
            <a:ext cx="544675" cy="544675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2D2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84303" y="6577203"/>
            <a:ext cx="7620966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let slice_vals = numbers[..len].to_vec(); for val in slice_vals { if val % 2 == 0 { numbers.push(val * 2); } else { numbers.push(val / 2); } }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90D16"/>
                </a:solidFill>
                <a:latin typeface="Fira Code"/>
                <a:ea typeface="Fira Code"/>
                <a:cs typeface="Fira Code"/>
                <a:sym typeface="Fira Code"/>
              </a:rPr>
              <a:t>for i in 0..numbers.len() { let val = numbers[i]; if val % 2 == 0 { numbers.push(val * 2); } else { numbers.push(val / 2); } }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340096" y="0"/>
                  </a:lnTo>
                  <a:cubicBezTo>
                    <a:pt x="5420868" y="0"/>
                    <a:pt x="5486400" y="65532"/>
                    <a:pt x="5486400" y="146304"/>
                  </a:cubicBezTo>
                  <a:lnTo>
                    <a:pt x="5486400" y="621792"/>
                  </a:lnTo>
                  <a:cubicBezTo>
                    <a:pt x="5486400" y="702564"/>
                    <a:pt x="5420868" y="768096"/>
                    <a:pt x="5340096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790D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5800" y="617220"/>
            <a:ext cx="4114800" cy="576072"/>
            <a:chOff x="0" y="0"/>
            <a:chExt cx="548640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5486400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F5EF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4 · MEMBER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5800" y="1440180"/>
            <a:ext cx="16911828" cy="989838"/>
            <a:chOff x="0" y="0"/>
            <a:chExt cx="22549104" cy="13197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CHALLENGE — คำถามท้าทายผู้ฟัง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206436" y="2677668"/>
            <a:ext cx="7899272" cy="933011"/>
            <a:chOff x="0" y="0"/>
            <a:chExt cx="5916384" cy="6988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16384" cy="698805"/>
            </a:xfrm>
            <a:custGeom>
              <a:avLst/>
              <a:gdLst/>
              <a:ahLst/>
              <a:cxnLst/>
              <a:rect r="r" b="b" t="t" l="l"/>
              <a:pathLst>
                <a:path h="698805" w="5916384">
                  <a:moveTo>
                    <a:pt x="0" y="0"/>
                  </a:moveTo>
                  <a:lnTo>
                    <a:pt x="5916384" y="0"/>
                  </a:lnTo>
                  <a:lnTo>
                    <a:pt x="5916384" y="698805"/>
                  </a:lnTo>
                  <a:lnTo>
                    <a:pt x="0" y="698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351" r="-262583" b="-54394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916384" cy="68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Solution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85800" y="3610679"/>
            <a:ext cx="10616784" cy="5409397"/>
          </a:xfrm>
          <a:custGeom>
            <a:avLst/>
            <a:gdLst/>
            <a:ahLst/>
            <a:cxnLst/>
            <a:rect r="r" b="b" t="t" l="l"/>
            <a:pathLst>
              <a:path h="5409397" w="10616784">
                <a:moveTo>
                  <a:pt x="0" y="0"/>
                </a:moveTo>
                <a:lnTo>
                  <a:pt x="10616784" y="0"/>
                </a:lnTo>
                <a:lnTo>
                  <a:pt x="10616784" y="5409397"/>
                </a:lnTo>
                <a:lnTo>
                  <a:pt x="0" y="540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085673" y="7994241"/>
            <a:ext cx="767031" cy="787679"/>
            <a:chOff x="0" y="0"/>
            <a:chExt cx="1427723" cy="14661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7723" cy="1466156"/>
            </a:xfrm>
            <a:custGeom>
              <a:avLst/>
              <a:gdLst/>
              <a:ahLst/>
              <a:cxnLst/>
              <a:rect r="r" b="b" t="t" l="l"/>
              <a:pathLst>
                <a:path h="1466156" w="1427723">
                  <a:moveTo>
                    <a:pt x="713862" y="0"/>
                  </a:moveTo>
                  <a:cubicBezTo>
                    <a:pt x="319607" y="0"/>
                    <a:pt x="0" y="328210"/>
                    <a:pt x="0" y="733078"/>
                  </a:cubicBezTo>
                  <a:cubicBezTo>
                    <a:pt x="0" y="1137946"/>
                    <a:pt x="319607" y="1466156"/>
                    <a:pt x="713862" y="1466156"/>
                  </a:cubicBezTo>
                  <a:cubicBezTo>
                    <a:pt x="1108116" y="1466156"/>
                    <a:pt x="1427723" y="1137946"/>
                    <a:pt x="1427723" y="733078"/>
                  </a:cubicBezTo>
                  <a:cubicBezTo>
                    <a:pt x="1427723" y="328210"/>
                    <a:pt x="1108116" y="0"/>
                    <a:pt x="713862" y="0"/>
                  </a:cubicBezTo>
                  <a:close/>
                </a:path>
              </a:pathLst>
            </a:custGeom>
            <a:solidFill>
              <a:srgbClr val="AEC4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33849" y="146977"/>
              <a:ext cx="1160025" cy="1181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  <a:r>
                <a:rPr lang="en-US" b="true" sz="2499">
                  <a:solidFill>
                    <a:srgbClr val="790D16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B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411810" y="3563054"/>
            <a:ext cx="5847490" cy="30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โค้ดนี้คัดลอกข้อมูล N ตัวแรกออกจาก numbers ไปสร้างเป็น Vector ให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ม่ชื่อ slice_vals </a:t>
            </a:r>
            <a:r>
              <a:rPr lang="en-US" sz="2500">
                <a:solidFill>
                  <a:srgbClr val="000000"/>
                </a:solidFill>
                <a:latin typeface="Prompt"/>
                <a:ea typeface="Prompt"/>
                <a:cs typeface="Prompt"/>
                <a:sym typeface="Prompt"/>
              </a:rPr>
              <a:t>เพื่อไม่ให้ติดกฎ Borrow Checker ของ Rust ทำให้สามารถวนลูปเช็คเลขคู่/คี่ แล้วสั่ง push ผลลัพธ์ต่อท้ายเข้า numbers ตัวเดิมได้อย่างปลอดภัยและตรงตามเงื่อนไข N ตัวแรกครบถ้วนครับ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065657"/>
            <a:ext cx="16911828" cy="989838"/>
            <a:chOff x="0" y="0"/>
            <a:chExt cx="22549104" cy="13197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319784"/>
            </a:xfrm>
            <a:custGeom>
              <a:avLst/>
              <a:gdLst/>
              <a:ahLst/>
              <a:cxnLst/>
              <a:rect r="r" b="b" t="t" l="l"/>
              <a:pathLst>
                <a:path h="1319784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319784"/>
                  </a:lnTo>
                  <a:lnTo>
                    <a:pt x="0" y="1319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411" r="0" b="-28140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549104" cy="1329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F5EFE1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KEY TAKEAWAYS — สรุปสิ่งที่ควรจำ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2234883"/>
            <a:ext cx="722538" cy="1758107"/>
            <a:chOff x="0" y="0"/>
            <a:chExt cx="963384" cy="234414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714871"/>
              <a:ext cx="963384" cy="914400"/>
              <a:chOff x="0" y="0"/>
              <a:chExt cx="963384" cy="914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63384" cy="914400"/>
              </a:xfrm>
              <a:custGeom>
                <a:avLst/>
                <a:gdLst/>
                <a:ahLst/>
                <a:cxnLst/>
                <a:rect r="r" b="b" t="t" l="l"/>
                <a:pathLst>
                  <a:path h="914400" w="963384">
                    <a:moveTo>
                      <a:pt x="0" y="457200"/>
                    </a:moveTo>
                    <a:cubicBezTo>
                      <a:pt x="0" y="204724"/>
                      <a:pt x="215691" y="0"/>
                      <a:pt x="481692" y="0"/>
                    </a:cubicBezTo>
                    <a:cubicBezTo>
                      <a:pt x="747693" y="0"/>
                      <a:pt x="963384" y="204724"/>
                      <a:pt x="963384" y="457200"/>
                    </a:cubicBezTo>
                    <a:cubicBezTo>
                      <a:pt x="963384" y="709676"/>
                      <a:pt x="747693" y="914400"/>
                      <a:pt x="481692" y="914400"/>
                    </a:cubicBezTo>
                    <a:cubicBezTo>
                      <a:pt x="215691" y="914400"/>
                      <a:pt x="0" y="709676"/>
                      <a:pt x="0" y="457200"/>
                    </a:cubicBezTo>
                    <a:close/>
                  </a:path>
                </a:pathLst>
              </a:custGeom>
              <a:solidFill>
                <a:srgbClr val="F5EFE1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963384" cy="2344142"/>
              <a:chOff x="0" y="0"/>
              <a:chExt cx="963384" cy="234414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3384" cy="2344142"/>
              </a:xfrm>
              <a:custGeom>
                <a:avLst/>
                <a:gdLst/>
                <a:ahLst/>
                <a:cxnLst/>
                <a:rect r="r" b="b" t="t" l="l"/>
                <a:pathLst>
                  <a:path h="2344142" w="963384">
                    <a:moveTo>
                      <a:pt x="0" y="0"/>
                    </a:moveTo>
                    <a:lnTo>
                      <a:pt x="963384" y="0"/>
                    </a:lnTo>
                    <a:lnTo>
                      <a:pt x="963384" y="2344142"/>
                    </a:lnTo>
                    <a:lnTo>
                      <a:pt x="0" y="234414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4322" t="0" r="-69237" b="60992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963384" cy="23536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b="true" sz="2400">
                    <a:solidFill>
                      <a:srgbClr val="790D16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1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714500" y="2847975"/>
            <a:ext cx="15883128" cy="1263326"/>
            <a:chOff x="0" y="0"/>
            <a:chExt cx="21177504" cy="16844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Memory Model : มี 2 ส่วน คือ Stack ไว้เก็บค่าตัวแปรขนาดคงที่ระหว่างการ compile </a:t>
              </a:r>
            </a:p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                                        Heap เก็บค่าตัวแปรที่ขนาดยืดหยุ่นระหว่างการ compile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4172377"/>
            <a:ext cx="722538" cy="685800"/>
            <a:chOff x="0" y="0"/>
            <a:chExt cx="963384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" y="3636224"/>
            <a:ext cx="722538" cy="1758107"/>
            <a:chOff x="0" y="0"/>
            <a:chExt cx="963384" cy="23441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14500" y="4183380"/>
            <a:ext cx="15883128" cy="1263326"/>
            <a:chOff x="0" y="0"/>
            <a:chExt cx="21177504" cy="16844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การ Slice &amp; แค่เป็นการยืมอ่านค่าใน memory ของตัวที่สนใจ ต่างจาก .clone() ที่จะสร้าง heap ใหม่เป็นของตัวเอง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5800" y="5681137"/>
            <a:ext cx="722538" cy="685800"/>
            <a:chOff x="0" y="0"/>
            <a:chExt cx="963384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5800" y="5144984"/>
            <a:ext cx="722538" cy="1758107"/>
            <a:chOff x="0" y="0"/>
            <a:chExt cx="963384" cy="23441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14500" y="5692140"/>
            <a:ext cx="15883128" cy="1263326"/>
            <a:chOff x="0" y="0"/>
            <a:chExt cx="21177504" cy="16844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หากใช้ mutable slice แล้วแก้แค่ในตัว slice จะส่งผลต่อค่าหลักด้วย เนื่องจากเป็นการแก้ไขก้อนข้อมูลที่เป็นตัวเดียวกัน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00" y="7189897"/>
            <a:ext cx="722538" cy="685800"/>
            <a:chOff x="0" y="0"/>
            <a:chExt cx="963384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3384" cy="914400"/>
            </a:xfrm>
            <a:custGeom>
              <a:avLst/>
              <a:gdLst/>
              <a:ahLst/>
              <a:cxnLst/>
              <a:rect r="r" b="b" t="t" l="l"/>
              <a:pathLst>
                <a:path h="914400" w="963384">
                  <a:moveTo>
                    <a:pt x="0" y="457200"/>
                  </a:moveTo>
                  <a:cubicBezTo>
                    <a:pt x="0" y="204724"/>
                    <a:pt x="215691" y="0"/>
                    <a:pt x="481692" y="0"/>
                  </a:cubicBezTo>
                  <a:cubicBezTo>
                    <a:pt x="747693" y="0"/>
                    <a:pt x="963384" y="204724"/>
                    <a:pt x="963384" y="457200"/>
                  </a:cubicBezTo>
                  <a:cubicBezTo>
                    <a:pt x="963384" y="709676"/>
                    <a:pt x="747693" y="914400"/>
                    <a:pt x="481692" y="914400"/>
                  </a:cubicBezTo>
                  <a:cubicBezTo>
                    <a:pt x="215691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5EFE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85800" y="6653744"/>
            <a:ext cx="722538" cy="1758107"/>
            <a:chOff x="0" y="0"/>
            <a:chExt cx="963384" cy="23441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3384" cy="2344142"/>
            </a:xfrm>
            <a:custGeom>
              <a:avLst/>
              <a:gdLst/>
              <a:ahLst/>
              <a:cxnLst/>
              <a:rect r="r" b="b" t="t" l="l"/>
              <a:pathLst>
                <a:path h="2344142" w="963384">
                  <a:moveTo>
                    <a:pt x="0" y="0"/>
                  </a:moveTo>
                  <a:lnTo>
                    <a:pt x="963384" y="0"/>
                  </a:lnTo>
                  <a:lnTo>
                    <a:pt x="963384" y="2344142"/>
                  </a:lnTo>
                  <a:lnTo>
                    <a:pt x="0" y="2344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322" t="0" r="-69237" b="609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63384" cy="2353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" y="7200900"/>
            <a:ext cx="15883128" cy="1263326"/>
            <a:chOff x="0" y="0"/>
            <a:chExt cx="21177504" cy="16844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177504" cy="1684435"/>
            </a:xfrm>
            <a:custGeom>
              <a:avLst/>
              <a:gdLst/>
              <a:ahLst/>
              <a:cxnLst/>
              <a:rect r="r" b="b" t="t" l="l"/>
              <a:pathLst>
                <a:path h="1684435" w="21177504">
                  <a:moveTo>
                    <a:pt x="0" y="0"/>
                  </a:moveTo>
                  <a:lnTo>
                    <a:pt x="21177504" y="0"/>
                  </a:lnTo>
                  <a:lnTo>
                    <a:pt x="21177504" y="1684435"/>
                  </a:lnTo>
                  <a:lnTo>
                    <a:pt x="0" y="16844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516" r="1295" b="-1770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21177504" cy="177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Rust  ทำ Slice โดยใช้ Ownership/Borrowing ควบคุมการใช้ Memory และตรวจสอบความปลอดภัยตั้งแต่ compile time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EC4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AEC4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33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1440180"/>
            <a:ext cx="16911828" cy="960120"/>
            <a:chOff x="0" y="0"/>
            <a:chExt cx="22549104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4910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215" r="0" b="-29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549104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>
                  <a:solidFill>
                    <a:srgbClr val="790D1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References — เอกสารอ้างอิง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5800" y="2466975"/>
            <a:ext cx="16911828" cy="725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Programming Language — Understanding Ownership, References</a:t>
            </a: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 and Borrowing, Slices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https://doc.rust-lang.org/book/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Reference — Slice Types &amp; Reference Types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https://doc.rust-lang.org/reference/types/slice.html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Crate std - Primitive Type slice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https://doc.rust-lang.org/std/primitive.slice.html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Documentation — Common Sequence Operations / Slicing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https://docs.python.org/3/library/stdtypes.html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cppreference — C / C++ Arrays, Pointers and std::span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https://en.cppreference.com/w/c/language/array https://en.cppreference.com/w/cpp/container/span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Oracle Java Documentation — Arrays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https://docs.oracle.com/javase/tutorial/java/nutsandbolts/arrays.html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Kodekloud - The Slice Type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https://notes.kodekloud.com/docs/Rust-Programming/Ownership/The-Slice-Type/page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Kodekloud - Rules for Slices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https://notes.kodekloud.com/docs/Rust-Programming/Ownership/Rules-for-Slices/page</a:t>
            </a:r>
          </a:p>
          <a:p>
            <a:pPr algn="l" marL="528954" indent="-264477" lvl="1">
              <a:lnSpc>
                <a:spcPts val="5389"/>
              </a:lnSpc>
              <a:buFont typeface="Arial"/>
              <a:buChar char="•"/>
            </a:pPr>
            <a:r>
              <a:rPr lang="en-US" sz="2449">
                <a:solidFill>
                  <a:srgbClr val="790D16"/>
                </a:solidFill>
                <a:latin typeface="Calibri (MS)"/>
                <a:ea typeface="Calibri (MS)"/>
                <a:cs typeface="Calibri (MS)"/>
                <a:sym typeface="Calibri (MS)"/>
              </a:rPr>
              <a:t>The Rust Programming Language - Storing UTF-8 Encoded Text with Strings </a:t>
            </a:r>
            <a:r>
              <a:rPr lang="en-US" sz="244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https://doc.rust-lang.org/book/ch08-02-strings.html</a:t>
            </a:r>
          </a:p>
          <a:p>
            <a:pPr algn="l">
              <a:lnSpc>
                <a:spcPts val="293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685800" y="9300577"/>
            <a:ext cx="16911828" cy="820703"/>
            <a:chOff x="0" y="0"/>
            <a:chExt cx="22549104" cy="1094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549104" cy="1094271"/>
            </a:xfrm>
            <a:custGeom>
              <a:avLst/>
              <a:gdLst/>
              <a:ahLst/>
              <a:cxnLst/>
              <a:rect r="r" b="b" t="t" l="l"/>
              <a:pathLst>
                <a:path h="1094271" w="22549104">
                  <a:moveTo>
                    <a:pt x="0" y="0"/>
                  </a:moveTo>
                  <a:lnTo>
                    <a:pt x="22549104" y="0"/>
                  </a:lnTo>
                  <a:lnTo>
                    <a:pt x="22549104" y="1094271"/>
                  </a:lnTo>
                  <a:lnTo>
                    <a:pt x="0" y="1094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93" r="0" b="-3349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2549104" cy="1151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i="true">
                  <a:solidFill>
                    <a:srgbClr val="790D1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GitHub Repository:</a:t>
              </a:r>
              <a:r>
                <a:rPr lang="en-US" sz="2349" i="true">
                  <a:solidFill>
                    <a:srgbClr val="22222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github.com/670710296/rust-tutorial-2569/</a:t>
              </a:r>
            </a:p>
            <a:p>
              <a:pPr algn="l">
                <a:lnSpc>
                  <a:spcPts val="28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0972800" cy="411480"/>
            <a:chOff x="0" y="0"/>
            <a:chExt cx="14630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517321 Principles of Programming Languages — Rust Tutorial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11828" y="9710928"/>
            <a:ext cx="685800" cy="411480"/>
            <a:chOff x="0" y="0"/>
            <a:chExt cx="914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790D1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34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93A9B8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82828" y="5486400"/>
            <a:ext cx="7543800" cy="7543800"/>
            <a:chOff x="0" y="0"/>
            <a:chExt cx="10058400" cy="1005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93A9B8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703320"/>
            <a:ext cx="16088868" cy="1371600"/>
            <a:chOff x="0" y="0"/>
            <a:chExt cx="21451824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182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59" r="0" b="-17855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1451824" cy="197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Answers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5074920"/>
            <a:ext cx="16088868" cy="822960"/>
            <a:chOff x="0" y="0"/>
            <a:chExt cx="21451824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5182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1824">
                  <a:moveTo>
                    <a:pt x="0" y="0"/>
                  </a:moveTo>
                  <a:lnTo>
                    <a:pt x="21451824" y="0"/>
                  </a:lnTo>
                  <a:lnTo>
                    <a:pt x="2145182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32" r="0" b="-33093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51824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5EF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กลุ่ม [13]  —  [Slices &amp; Memory Model]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DAHWfP4xC5w</dc:identifier>
  <dcterms:modified xsi:type="dcterms:W3CDTF">2011-08-01T06:04:30Z</dcterms:modified>
  <cp:revision>1</cp:revision>
  <dc:title>Rust_Tutorial_Presentation_Template.pptx</dc:title>
</cp:coreProperties>
</file>