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34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43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</p:sldIdLst>
  <p:sldSz cx="18288000" cy="10287000"/>
  <p:notesSz cx="6858000" cy="9144000"/>
  <p:embeddedFontLst>
    <p:embeddedFont>
      <p:font typeface="Calibri (MS) Bold" charset="1" panose="020F0702030404030204"/>
      <p:regular r:id="rId46"/>
    </p:embeddedFont>
    <p:embeddedFont>
      <p:font typeface="Calibri (MS)" charset="1" panose="020F0502020204030204"/>
      <p:regular r:id="rId47"/>
    </p:embeddedFont>
    <p:embeddedFont>
      <p:font typeface="Prompt Bold" charset="1" panose="00000800000000000000"/>
      <p:regular r:id="rId48"/>
    </p:embeddedFont>
    <p:embeddedFont>
      <p:font typeface="Cambria Bold" charset="1" panose="02040803050406030204"/>
      <p:regular r:id="rId50"/>
    </p:embeddedFont>
    <p:embeddedFont>
      <p:font typeface="Calibri (MS) Italics" charset="1" panose="020F05020202040A0204"/>
      <p:regular r:id="rId51"/>
    </p:embeddedFont>
    <p:embeddedFont>
      <p:font typeface="Prompt" charset="1" panose="00000500000000000000"/>
      <p:regular r:id="rId53"/>
    </p:embeddedFont>
    <p:embeddedFont>
      <p:font typeface="Cambria" charset="1" panose="02040503050406030204"/>
      <p:regular r:id="rId54"/>
    </p:embeddedFont>
    <p:embeddedFont>
      <p:font typeface="Courier New" charset="1" panose="02070309020205020404"/>
      <p:regular r:id="rId56"/>
    </p:embeddedFont>
    <p:embeddedFont>
      <p:font typeface="Pracharath" charset="1" panose="00000500000000000000"/>
      <p:regular r:id="rId58"/>
    </p:embeddedFont>
    <p:embeddedFont>
      <p:font typeface="Fira Code" charset="1" panose="020B0809050000020004"/>
      <p:regular r:id="rId60"/>
    </p:embeddedFont>
    <p:embeddedFont>
      <p:font typeface="Fira Code Bold" charset="1" panose="020B0809050000020004"/>
      <p:regular r:id="rId61"/>
    </p:embeddedFont>
    <p:embeddedFont>
      <p:font typeface="Sarabun" charset="1" panose="00000500000000000000"/>
      <p:regular r:id="rId7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notesMasters/notesMaster1.xml" Type="http://schemas.openxmlformats.org/officeDocument/2006/relationships/notesMaster"/><Relationship Id="rId44" Target="theme/theme2.xml" Type="http://schemas.openxmlformats.org/officeDocument/2006/relationships/theme"/><Relationship Id="rId45" Target="notesSlides/notesSlide1.xml" Type="http://schemas.openxmlformats.org/officeDocument/2006/relationships/notesSlide"/><Relationship Id="rId46" Target="fonts/font46.fntdata" Type="http://schemas.openxmlformats.org/officeDocument/2006/relationships/font"/><Relationship Id="rId47" Target="fonts/font47.fntdata" Type="http://schemas.openxmlformats.org/officeDocument/2006/relationships/font"/><Relationship Id="rId48" Target="fonts/font48.fntdata" Type="http://schemas.openxmlformats.org/officeDocument/2006/relationships/font"/><Relationship Id="rId49" Target="notesSlides/notesSlide2.xml" Type="http://schemas.openxmlformats.org/officeDocument/2006/relationships/notesSlide"/><Relationship Id="rId5" Target="tableStyles.xml" Type="http://schemas.openxmlformats.org/officeDocument/2006/relationships/tableStyles"/><Relationship Id="rId50" Target="fonts/font50.fntdata" Type="http://schemas.openxmlformats.org/officeDocument/2006/relationships/font"/><Relationship Id="rId51" Target="fonts/font51.fntdata" Type="http://schemas.openxmlformats.org/officeDocument/2006/relationships/font"/><Relationship Id="rId52" Target="notesSlides/notesSlide3.xml" Type="http://schemas.openxmlformats.org/officeDocument/2006/relationships/notesSlide"/><Relationship Id="rId53" Target="fonts/font53.fntdata" Type="http://schemas.openxmlformats.org/officeDocument/2006/relationships/font"/><Relationship Id="rId54" Target="fonts/font54.fntdata" Type="http://schemas.openxmlformats.org/officeDocument/2006/relationships/font"/><Relationship Id="rId55" Target="notesSlides/notesSlide4.xml" Type="http://schemas.openxmlformats.org/officeDocument/2006/relationships/notesSlide"/><Relationship Id="rId56" Target="fonts/font56.fntdata" Type="http://schemas.openxmlformats.org/officeDocument/2006/relationships/font"/><Relationship Id="rId57" Target="notesSlides/notesSlide5.xml" Type="http://schemas.openxmlformats.org/officeDocument/2006/relationships/notesSlide"/><Relationship Id="rId58" Target="fonts/font58.fntdata" Type="http://schemas.openxmlformats.org/officeDocument/2006/relationships/font"/><Relationship Id="rId59" Target="notesSlides/notesSlide6.xml" Type="http://schemas.openxmlformats.org/officeDocument/2006/relationships/notesSlide"/><Relationship Id="rId6" Target="slides/slide1.xml" Type="http://schemas.openxmlformats.org/officeDocument/2006/relationships/slide"/><Relationship Id="rId60" Target="fonts/font60.fntdata" Type="http://schemas.openxmlformats.org/officeDocument/2006/relationships/font"/><Relationship Id="rId61" Target="fonts/font61.fntdata" Type="http://schemas.openxmlformats.org/officeDocument/2006/relationships/font"/><Relationship Id="rId62" Target="notesSlides/notesSlide7.xml" Type="http://schemas.openxmlformats.org/officeDocument/2006/relationships/notesSlide"/><Relationship Id="rId63" Target="notesSlides/notesSlide8.xml" Type="http://schemas.openxmlformats.org/officeDocument/2006/relationships/notesSlide"/><Relationship Id="rId64" Target="notesSlides/notesSlide9.xml" Type="http://schemas.openxmlformats.org/officeDocument/2006/relationships/notesSlide"/><Relationship Id="rId65" Target="notesSlides/notesSlide10.xml" Type="http://schemas.openxmlformats.org/officeDocument/2006/relationships/notesSlide"/><Relationship Id="rId66" Target="notesSlides/notesSlide11.xml" Type="http://schemas.openxmlformats.org/officeDocument/2006/relationships/notesSlide"/><Relationship Id="rId67" Target="notesSlides/notesSlide12.xml" Type="http://schemas.openxmlformats.org/officeDocument/2006/relationships/notesSlide"/><Relationship Id="rId68" Target="notesSlides/notesSlide13.xml" Type="http://schemas.openxmlformats.org/officeDocument/2006/relationships/notesSlide"/><Relationship Id="rId69" Target="notesSlides/notesSlide14.xml" Type="http://schemas.openxmlformats.org/officeDocument/2006/relationships/notesSlide"/><Relationship Id="rId7" Target="slides/slide2.xml" Type="http://schemas.openxmlformats.org/officeDocument/2006/relationships/slide"/><Relationship Id="rId70" Target="fonts/font70.fntdata" Type="http://schemas.openxmlformats.org/officeDocument/2006/relationships/font"/><Relationship Id="rId71" Target="notesSlides/notesSlide15.xml" Type="http://schemas.openxmlformats.org/officeDocument/2006/relationships/notesSlide"/><Relationship Id="rId72" Target="notesSlides/notesSlide16.xml" Type="http://schemas.openxmlformats.org/officeDocument/2006/relationships/notesSlide"/><Relationship Id="rId73" Target="notesSlides/notesSlide17.xml" Type="http://schemas.openxmlformats.org/officeDocument/2006/relationships/notesSlide"/><Relationship Id="rId74" Target="notesSlides/notesSlide18.xml" Type="http://schemas.openxmlformats.org/officeDocument/2006/relationships/notesSlide"/><Relationship Id="rId75" Target="notesSlides/notesSlide19.xml" Type="http://schemas.openxmlformats.org/officeDocument/2006/relationships/notesSlide"/><Relationship Id="rId76" Target="notesSlides/notesSlide20.xml" Type="http://schemas.openxmlformats.org/officeDocument/2006/relationships/notesSlide"/><Relationship Id="rId77" Target="notesSlides/notesSlide21.xml" Type="http://schemas.openxmlformats.org/officeDocument/2006/relationships/notesSlide"/><Relationship Id="rId78" Target="notesSlides/notesSlide22.xml" Type="http://schemas.openxmlformats.org/officeDocument/2006/relationships/notesSlide"/><Relationship Id="rId79" Target="notesSlides/notesSlide23.xml" Type="http://schemas.openxmlformats.org/officeDocument/2006/relationships/notesSlide"/><Relationship Id="rId8" Target="slides/slide3.xml" Type="http://schemas.openxmlformats.org/officeDocument/2006/relationships/slide"/><Relationship Id="rId80" Target="notesSlides/notesSlide24.xml" Type="http://schemas.openxmlformats.org/officeDocument/2006/relationships/notesSlide"/><Relationship Id="rId81" Target="notesSlides/notesSlide25.xml" Type="http://schemas.openxmlformats.org/officeDocument/2006/relationships/notesSlide"/><Relationship Id="rId82" Target="notesSlides/notesSlide26.xml" Type="http://schemas.openxmlformats.org/officeDocument/2006/relationships/notesSlide"/><Relationship Id="rId83" Target="notesSlides/notesSlide27.xml" Type="http://schemas.openxmlformats.org/officeDocument/2006/relationships/notesSlide"/><Relationship Id="rId84" Target="notesSlides/notesSlide28.xml" Type="http://schemas.openxmlformats.org/officeDocument/2006/relationships/notesSlide"/><Relationship Id="rId85" Target="notesSlides/notesSlide29.xml" Type="http://schemas.openxmlformats.org/officeDocument/2006/relationships/notesSlide"/><Relationship Id="rId86" Target="notesSlides/notesSlide30.xml" Type="http://schemas.openxmlformats.org/officeDocument/2006/relationships/notesSlide"/><Relationship Id="rId87" Target="notesSlides/notesSlide31.xml" Type="http://schemas.openxmlformats.org/officeDocument/2006/relationships/notesSlide"/><Relationship Id="rId88" Target="notesSlides/notesSlide32.xml" Type="http://schemas.openxmlformats.org/officeDocument/2006/relationships/notesSlide"/><Relationship Id="rId89" Target="notesSlides/notesSlide33.xml" Type="http://schemas.openxmlformats.org/officeDocument/2006/relationships/notesSlide"/><Relationship Id="rId9" Target="slides/slide4.xml" Type="http://schemas.openxmlformats.org/officeDocument/2006/relationships/slide"/><Relationship Id="rId90" Target="notesSlides/notesSlide34.xml" Type="http://schemas.openxmlformats.org/officeDocument/2006/relationships/notes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3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4.xml" Type="http://schemas.openxmlformats.org/officeDocument/2006/relationships/slide"/></Relationships>
</file>

<file path=ppt/notesSlides/_rels/notesSlide2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5.xml" Type="http://schemas.openxmlformats.org/officeDocument/2006/relationships/slide"/></Relationships>
</file>

<file path=ppt/notesSlides/_rels/notesSlide2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6.xml" Type="http://schemas.openxmlformats.org/officeDocument/2006/relationships/slide"/></Relationships>
</file>

<file path=ppt/notesSlides/_rels/notesSlide2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7.xml" Type="http://schemas.openxmlformats.org/officeDocument/2006/relationships/slide"/></Relationships>
</file>

<file path=ppt/notesSlides/_rels/notesSlide2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8.xml" Type="http://schemas.openxmlformats.org/officeDocument/2006/relationships/slide"/></Relationships>
</file>

<file path=ppt/notesSlides/_rels/notesSlide2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9.xml" Type="http://schemas.openxmlformats.org/officeDocument/2006/relationships/slide"/></Relationships>
</file>

<file path=ppt/notesSlides/_rels/notesSlide2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0.xml" Type="http://schemas.openxmlformats.org/officeDocument/2006/relationships/slide"/></Relationships>
</file>

<file path=ppt/notesSlides/_rels/notesSlide2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1.xml" Type="http://schemas.openxmlformats.org/officeDocument/2006/relationships/slide"/></Relationships>
</file>

<file path=ppt/notesSlides/_rels/notesSlide2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2.xml" Type="http://schemas.openxmlformats.org/officeDocument/2006/relationships/slide"/></Relationships>
</file>

<file path=ppt/notesSlides/_rels/notesSlide3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3.xml" Type="http://schemas.openxmlformats.org/officeDocument/2006/relationships/slide"/></Relationships>
</file>

<file path=ppt/notesSlides/_rels/notesSlide3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4.xml" Type="http://schemas.openxmlformats.org/officeDocument/2006/relationships/slide"/></Relationships>
</file>

<file path=ppt/notesSlides/_rels/notesSlide3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5.xml" Type="http://schemas.openxmlformats.org/officeDocument/2006/relationships/slide"/></Relationships>
</file>

<file path=ppt/notesSlides/_rels/notesSlide3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6.xml" Type="http://schemas.openxmlformats.org/officeDocument/2006/relationships/slide"/></Relationships>
</file>

<file path=ppt/notesSlides/_rels/notesSlide3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7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Template นี้จัดทำเพื่อใช้เป็นโครงร่างการนำเสนอ กลุ่มสามารถปรับสี/รูปแบบเพิ่มเติมได้ แต่ควรคงโครงสร้าง 4 ส่วนตามสมาชิกไว้ และให้ทุกคนเตรียมพร้อมตอบคำถามในส่วนของเพื่อนร่วมกลุ่มได้ด้วย</a:t>
            </a:r>
          </a:p>
          <a:p>
            <a:r>
              <a:rPr lang="en-US"/>
              <a:t>11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Relationship Id="rId4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Relationship Id="rId4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Relationship Id="rId4" Target="../media/image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1.png" Type="http://schemas.openxmlformats.org/officeDocument/2006/relationships/image"/><Relationship Id="rId4" Target="../media/image1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2.png" Type="http://schemas.openxmlformats.org/officeDocument/2006/relationships/image"/><Relationship Id="rId4" Target="../media/image1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2.png" Type="http://schemas.openxmlformats.org/officeDocument/2006/relationships/image"/><Relationship Id="rId4" Target="../media/image1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jpe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1.jpe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8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9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0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4.xml" Type="http://schemas.openxmlformats.org/officeDocument/2006/relationships/notesSlide"/><Relationship Id="rId3" Target="../media/image1.jpeg" Type="http://schemas.openxmlformats.org/officeDocument/2006/relationships/image"/><Relationship Id="rId4" Target="../media/image14.jpeg" Type="http://schemas.openxmlformats.org/officeDocument/2006/relationships/image"/><Relationship Id="rId5" Target="../media/image15.jpe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5.xml" Type="http://schemas.openxmlformats.org/officeDocument/2006/relationships/notesSlide"/><Relationship Id="rId3" Target="../media/image1.jpe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6.xml" Type="http://schemas.openxmlformats.org/officeDocument/2006/relationships/notesSlide"/><Relationship Id="rId3" Target="../media/image1.jpeg" Type="http://schemas.openxmlformats.org/officeDocument/2006/relationships/image"/><Relationship Id="rId4" Target="../media/image18.png" Type="http://schemas.openxmlformats.org/officeDocument/2006/relationships/image"/><Relationship Id="rId5" Target="../media/image19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7.xml" Type="http://schemas.openxmlformats.org/officeDocument/2006/relationships/notesSlide"/><Relationship Id="rId3" Target="../media/image1.jpeg" Type="http://schemas.openxmlformats.org/officeDocument/2006/relationships/image"/><Relationship Id="rId4" Target="../media/image20.png" Type="http://schemas.openxmlformats.org/officeDocument/2006/relationships/image"/><Relationship Id="rId5" Target="../media/image21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8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9.xml" Type="http://schemas.openxmlformats.org/officeDocument/2006/relationships/notesSlide"/><Relationship Id="rId3" Target="../media/image1.jpeg" Type="http://schemas.openxmlformats.org/officeDocument/2006/relationships/image"/><Relationship Id="rId4" Target="../media/image22.pn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0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1.xml" Type="http://schemas.openxmlformats.org/officeDocument/2006/relationships/notesSlide"/><Relationship Id="rId3" Target="../media/image1.jpeg" Type="http://schemas.openxmlformats.org/officeDocument/2006/relationships/image"/><Relationship Id="rId4" Target="../media/image23.pn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4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3428" cy="10287000"/>
            <a:chOff x="0" y="0"/>
            <a:chExt cx="24377904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790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790D1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522708" y="-2743200"/>
            <a:ext cx="8915400" cy="8915400"/>
            <a:chOff x="0" y="0"/>
            <a:chExt cx="11887200" cy="11887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887200" cy="11887200"/>
            </a:xfrm>
            <a:custGeom>
              <a:avLst/>
              <a:gdLst/>
              <a:ahLst/>
              <a:cxnLst/>
              <a:rect r="r" b="b" t="t" l="l"/>
              <a:pathLst>
                <a:path h="11887200" w="11887200">
                  <a:moveTo>
                    <a:pt x="0" y="5943600"/>
                  </a:moveTo>
                  <a:cubicBezTo>
                    <a:pt x="0" y="2661031"/>
                    <a:pt x="2661031" y="0"/>
                    <a:pt x="5943600" y="0"/>
                  </a:cubicBezTo>
                  <a:cubicBezTo>
                    <a:pt x="9226169" y="0"/>
                    <a:pt x="11887200" y="2661031"/>
                    <a:pt x="11887200" y="5943600"/>
                  </a:cubicBezTo>
                  <a:cubicBezTo>
                    <a:pt x="11887200" y="9226169"/>
                    <a:pt x="9226169" y="11887200"/>
                    <a:pt x="5943600" y="11887200"/>
                  </a:cubicBezTo>
                  <a:cubicBezTo>
                    <a:pt x="2661031" y="11887200"/>
                    <a:pt x="0" y="9226169"/>
                    <a:pt x="0" y="5943600"/>
                  </a:cubicBezTo>
                  <a:close/>
                </a:path>
              </a:pathLst>
            </a:custGeom>
            <a:solidFill>
              <a:srgbClr val="93A9B8">
                <a:alpha val="470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-3429000" y="6473952"/>
            <a:ext cx="6858000" cy="6858000"/>
            <a:chOff x="0" y="0"/>
            <a:chExt cx="9144000" cy="9144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144000" cy="9144000"/>
            </a:xfrm>
            <a:custGeom>
              <a:avLst/>
              <a:gdLst/>
              <a:ahLst/>
              <a:cxnLst/>
              <a:rect r="r" b="b" t="t" l="l"/>
              <a:pathLst>
                <a:path h="9144000" w="9144000">
                  <a:moveTo>
                    <a:pt x="0" y="4572000"/>
                  </a:moveTo>
                  <a:cubicBezTo>
                    <a:pt x="0" y="2046986"/>
                    <a:pt x="2046986" y="0"/>
                    <a:pt x="4572000" y="0"/>
                  </a:cubicBezTo>
                  <a:cubicBezTo>
                    <a:pt x="7097014" y="0"/>
                    <a:pt x="9144000" y="2046986"/>
                    <a:pt x="9144000" y="4572000"/>
                  </a:cubicBezTo>
                  <a:cubicBezTo>
                    <a:pt x="9144000" y="7097014"/>
                    <a:pt x="7097014" y="9144000"/>
                    <a:pt x="4572000" y="9144000"/>
                  </a:cubicBezTo>
                  <a:cubicBezTo>
                    <a:pt x="2046986" y="9144000"/>
                    <a:pt x="0" y="7097014"/>
                    <a:pt x="0" y="4572000"/>
                  </a:cubicBezTo>
                  <a:close/>
                </a:path>
              </a:pathLst>
            </a:custGeom>
            <a:solidFill>
              <a:srgbClr val="93A9B8">
                <a:alpha val="30196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97280" y="960120"/>
            <a:ext cx="16088868" cy="548640"/>
            <a:chOff x="0" y="0"/>
            <a:chExt cx="21451824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451824" cy="731520"/>
            </a:xfrm>
            <a:custGeom>
              <a:avLst/>
              <a:gdLst/>
              <a:ahLst/>
              <a:cxnLst/>
              <a:rect r="r" b="b" t="t" l="l"/>
              <a:pathLst>
                <a:path h="731520" w="21451824">
                  <a:moveTo>
                    <a:pt x="0" y="0"/>
                  </a:moveTo>
                  <a:lnTo>
                    <a:pt x="21451824" y="0"/>
                  </a:lnTo>
                  <a:lnTo>
                    <a:pt x="2145182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1398" r="0" b="-521398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1451824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99">
                  <a:solidFill>
                    <a:srgbClr val="F5EFE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517321 PRINCIPLES OF PROGRAMMING LANGUAGES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97280" y="1577340"/>
            <a:ext cx="16088868" cy="480060"/>
            <a:chOff x="0" y="0"/>
            <a:chExt cx="21451824" cy="6400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451824" cy="640080"/>
            </a:xfrm>
            <a:custGeom>
              <a:avLst/>
              <a:gdLst/>
              <a:ahLst/>
              <a:cxnLst/>
              <a:rect r="r" b="b" t="t" l="l"/>
              <a:pathLst>
                <a:path h="640080" w="21451824">
                  <a:moveTo>
                    <a:pt x="0" y="0"/>
                  </a:moveTo>
                  <a:lnTo>
                    <a:pt x="21451824" y="0"/>
                  </a:lnTo>
                  <a:lnTo>
                    <a:pt x="21451824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3027" r="0" b="-603027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1451824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spc="149">
                  <a:solidFill>
                    <a:srgbClr val="F5EF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RUST TUTORIAL PRESENTATION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87755" y="2896392"/>
            <a:ext cx="16088868" cy="1508760"/>
            <a:chOff x="0" y="0"/>
            <a:chExt cx="21451824" cy="20116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451824" cy="2011680"/>
            </a:xfrm>
            <a:custGeom>
              <a:avLst/>
              <a:gdLst/>
              <a:ahLst/>
              <a:cxnLst/>
              <a:rect r="r" b="b" t="t" l="l"/>
              <a:pathLst>
                <a:path h="2011680" w="21451824">
                  <a:moveTo>
                    <a:pt x="0" y="0"/>
                  </a:moveTo>
                  <a:lnTo>
                    <a:pt x="21451824" y="0"/>
                  </a:lnTo>
                  <a:lnTo>
                    <a:pt x="21451824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7781" r="0" b="-157781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21451824" cy="2011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b="true" sz="6000" spc="-192">
                  <a:solidFill>
                    <a:srgbClr val="AEC4D4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กลุ่ม 13  —  SLICES &amp; MEMORY MODEL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87755" y="6231255"/>
            <a:ext cx="16107918" cy="2967990"/>
            <a:chOff x="0" y="0"/>
            <a:chExt cx="21477224" cy="39573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477224" cy="3957320"/>
            </a:xfrm>
            <a:custGeom>
              <a:avLst/>
              <a:gdLst/>
              <a:ahLst/>
              <a:cxnLst/>
              <a:rect r="r" b="b" t="t" l="l"/>
              <a:pathLst>
                <a:path h="3957320" w="21477224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21330031" y="0"/>
                  </a:lnTo>
                  <a:cubicBezTo>
                    <a:pt x="21411312" y="0"/>
                    <a:pt x="21477224" y="65913"/>
                    <a:pt x="21477224" y="147193"/>
                  </a:cubicBezTo>
                  <a:lnTo>
                    <a:pt x="21477224" y="3810127"/>
                  </a:lnTo>
                  <a:cubicBezTo>
                    <a:pt x="21477224" y="3891407"/>
                    <a:pt x="21411312" y="3957320"/>
                    <a:pt x="21330031" y="3957320"/>
                  </a:cubicBezTo>
                  <a:lnTo>
                    <a:pt x="147193" y="3957320"/>
                  </a:lnTo>
                  <a:cubicBezTo>
                    <a:pt x="65913" y="3957320"/>
                    <a:pt x="0" y="3891407"/>
                    <a:pt x="0" y="3810127"/>
                  </a:cubicBezTo>
                  <a:close/>
                </a:path>
              </a:pathLst>
            </a:custGeom>
            <a:solidFill>
              <a:srgbClr val="AEC4D4">
                <a:alpha val="392"/>
              </a:srgbClr>
            </a:solidFill>
            <a:ln w="19050" cap="sq">
              <a:solidFill>
                <a:srgbClr val="B87A7A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508760" y="6473952"/>
            <a:ext cx="15265908" cy="576072"/>
            <a:chOff x="0" y="0"/>
            <a:chExt cx="20354544" cy="76809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0354544" cy="768096"/>
            </a:xfrm>
            <a:custGeom>
              <a:avLst/>
              <a:gdLst/>
              <a:ahLst/>
              <a:cxnLst/>
              <a:rect r="r" b="b" t="t" l="l"/>
              <a:pathLst>
                <a:path h="768096" w="20354544">
                  <a:moveTo>
                    <a:pt x="0" y="0"/>
                  </a:moveTo>
                  <a:lnTo>
                    <a:pt x="20354544" y="0"/>
                  </a:lnTo>
                  <a:lnTo>
                    <a:pt x="20354544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6353" r="0" b="-466353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20354544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5EF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1. นายปภังกร มงคลนรกิจ</a:t>
              </a:r>
              <a:r>
                <a:rPr lang="en-US" sz="2100">
                  <a:solidFill>
                    <a:srgbClr val="E5D3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— Concept + Short Code Illustration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508760" y="7118604"/>
            <a:ext cx="15265908" cy="576072"/>
            <a:chOff x="0" y="0"/>
            <a:chExt cx="20354544" cy="76809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0354544" cy="768096"/>
            </a:xfrm>
            <a:custGeom>
              <a:avLst/>
              <a:gdLst/>
              <a:ahLst/>
              <a:cxnLst/>
              <a:rect r="r" b="b" t="t" l="l"/>
              <a:pathLst>
                <a:path h="768096" w="20354544">
                  <a:moveTo>
                    <a:pt x="0" y="0"/>
                  </a:moveTo>
                  <a:lnTo>
                    <a:pt x="20354544" y="0"/>
                  </a:lnTo>
                  <a:lnTo>
                    <a:pt x="20354544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6353" r="0" b="-466353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20354544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5EF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2. นางสาวศิริกานต์ หรุ่นมาบแค </a:t>
              </a:r>
              <a:r>
                <a:rPr lang="en-US" sz="2100">
                  <a:solidFill>
                    <a:srgbClr val="E5D3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— Detailed Code + Live Demo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508760" y="7763256"/>
            <a:ext cx="15265908" cy="576072"/>
            <a:chOff x="0" y="0"/>
            <a:chExt cx="20354544" cy="76809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0354544" cy="768096"/>
            </a:xfrm>
            <a:custGeom>
              <a:avLst/>
              <a:gdLst/>
              <a:ahLst/>
              <a:cxnLst/>
              <a:rect r="r" b="b" t="t" l="l"/>
              <a:pathLst>
                <a:path h="768096" w="20354544">
                  <a:moveTo>
                    <a:pt x="0" y="0"/>
                  </a:moveTo>
                  <a:lnTo>
                    <a:pt x="20354544" y="0"/>
                  </a:lnTo>
                  <a:lnTo>
                    <a:pt x="20354544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6353" r="0" b="-466353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20354544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5EF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3. นายสิรวิชญ์ เชี่ยวชาญ</a:t>
              </a:r>
              <a:r>
                <a:rPr lang="en-US" sz="2100">
                  <a:solidFill>
                    <a:srgbClr val="E5D3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— Rust vs Other Language + PPL Analysis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508760" y="8407908"/>
            <a:ext cx="15265908" cy="576072"/>
            <a:chOff x="0" y="0"/>
            <a:chExt cx="20354544" cy="76809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0354544" cy="768096"/>
            </a:xfrm>
            <a:custGeom>
              <a:avLst/>
              <a:gdLst/>
              <a:ahLst/>
              <a:cxnLst/>
              <a:rect r="r" b="b" t="t" l="l"/>
              <a:pathLst>
                <a:path h="768096" w="20354544">
                  <a:moveTo>
                    <a:pt x="0" y="0"/>
                  </a:moveTo>
                  <a:lnTo>
                    <a:pt x="20354544" y="0"/>
                  </a:lnTo>
                  <a:lnTo>
                    <a:pt x="20354544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6353" r="0" b="-466353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20354544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5EF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4. นายวีรภัทร พุฒหอม</a:t>
              </a:r>
              <a:r>
                <a:rPr lang="en-US" sz="2100">
                  <a:solidFill>
                    <a:srgbClr val="E5D3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— Exercises + Common Mistakes + Challenge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097280" y="9532620"/>
            <a:ext cx="16088868" cy="480060"/>
            <a:chOff x="0" y="0"/>
            <a:chExt cx="21451824" cy="64008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1451824" cy="640080"/>
            </a:xfrm>
            <a:custGeom>
              <a:avLst/>
              <a:gdLst/>
              <a:ahLst/>
              <a:cxnLst/>
              <a:rect r="r" b="b" t="t" l="l"/>
              <a:pathLst>
                <a:path h="640080" w="21451824">
                  <a:moveTo>
                    <a:pt x="0" y="0"/>
                  </a:moveTo>
                  <a:lnTo>
                    <a:pt x="21451824" y="0"/>
                  </a:lnTo>
                  <a:lnTo>
                    <a:pt x="21451824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3027" r="0" b="-603027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28575"/>
              <a:ext cx="21451824" cy="6686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F5EF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คณะวิทยาศาสตร์ มหาวิทยาลัยศิลปากร  |  ภาคการศึกษาที่ 1/2569</a:t>
              </a:r>
            </a:p>
          </p:txBody>
        </p:sp>
      </p:grpSp>
      <p:sp>
        <p:nvSpPr>
          <p:cNvPr name="Freeform 34" id="34"/>
          <p:cNvSpPr/>
          <p:nvPr/>
        </p:nvSpPr>
        <p:spPr>
          <a:xfrm flipH="false" flipV="false" rot="0">
            <a:off x="13822129" y="3650772"/>
            <a:ext cx="3866523" cy="2580483"/>
          </a:xfrm>
          <a:custGeom>
            <a:avLst/>
            <a:gdLst/>
            <a:ahLst/>
            <a:cxnLst/>
            <a:rect r="r" b="b" t="t" l="l"/>
            <a:pathLst>
              <a:path h="2580483" w="3866523">
                <a:moveTo>
                  <a:pt x="0" y="0"/>
                </a:moveTo>
                <a:lnTo>
                  <a:pt x="3866523" y="0"/>
                </a:lnTo>
                <a:lnTo>
                  <a:pt x="3866523" y="2580483"/>
                </a:lnTo>
                <a:lnTo>
                  <a:pt x="0" y="25804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1440180"/>
            <a:ext cx="16911828" cy="960120"/>
            <a:chOff x="0" y="0"/>
            <a:chExt cx="22549104" cy="12801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549104" cy="1280160"/>
            </a:xfrm>
            <a:custGeom>
              <a:avLst/>
              <a:gdLst/>
              <a:ahLst/>
              <a:cxnLst/>
              <a:rect r="r" b="b" t="t" l="l"/>
              <a:pathLst>
                <a:path h="1280160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3215" r="0" b="-29321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2549104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b="true" sz="4500">
                  <a:solidFill>
                    <a:srgbClr val="AEC4D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Agenda — โครงสร้างการนำเสนอ (รวม ~20 นาที)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85800" y="2331720"/>
            <a:ext cx="16911828" cy="548640"/>
            <a:chOff x="0" y="0"/>
            <a:chExt cx="22549104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549104" cy="731520"/>
            </a:xfrm>
            <a:custGeom>
              <a:avLst/>
              <a:gdLst/>
              <a:ahLst/>
              <a:cxnLst/>
              <a:rect r="r" b="b" t="t" l="l"/>
              <a:pathLst>
                <a:path h="731520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0626" r="0" b="-55062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2549104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i="true">
                  <a:solidFill>
                    <a:srgbClr val="F5EFE1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แต่ละคนนำเสนอประมาณ 5 นาที ต่อเนื่องกันตามลำดับ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85800" y="3223260"/>
            <a:ext cx="4022217" cy="5349240"/>
            <a:chOff x="0" y="0"/>
            <a:chExt cx="5362956" cy="71323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362956" cy="7132320"/>
            </a:xfrm>
            <a:custGeom>
              <a:avLst/>
              <a:gdLst/>
              <a:ahLst/>
              <a:cxnLst/>
              <a:rect r="r" b="b" t="t" l="l"/>
              <a:pathLst>
                <a:path h="7132320" w="5362956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216652" y="0"/>
                  </a:lnTo>
                  <a:cubicBezTo>
                    <a:pt x="5297424" y="0"/>
                    <a:pt x="5362956" y="65532"/>
                    <a:pt x="5362956" y="146304"/>
                  </a:cubicBezTo>
                  <a:lnTo>
                    <a:pt x="5362956" y="6986016"/>
                  </a:lnTo>
                  <a:cubicBezTo>
                    <a:pt x="5362956" y="7066788"/>
                    <a:pt x="5297424" y="7132320"/>
                    <a:pt x="5216652" y="7132320"/>
                  </a:cubicBezTo>
                  <a:lnTo>
                    <a:pt x="146304" y="7132320"/>
                  </a:lnTo>
                  <a:cubicBezTo>
                    <a:pt x="65532" y="7132320"/>
                    <a:pt x="0" y="7066788"/>
                    <a:pt x="0" y="6986016"/>
                  </a:cubicBezTo>
                  <a:close/>
                </a:path>
              </a:pathLst>
            </a:custGeom>
            <a:solidFill>
              <a:srgbClr val="F5EFE1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216848" y="3634740"/>
            <a:ext cx="960120" cy="960120"/>
            <a:chOff x="0" y="0"/>
            <a:chExt cx="1280160" cy="12801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93A9B8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216848" y="3634740"/>
            <a:ext cx="960120" cy="960120"/>
            <a:chOff x="0" y="0"/>
            <a:chExt cx="1280160" cy="12801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128016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b="true" sz="3300">
                  <a:solidFill>
                    <a:srgbClr val="F5EFE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91540" y="4800600"/>
            <a:ext cx="3610737" cy="411480"/>
            <a:chOff x="0" y="0"/>
            <a:chExt cx="4814316" cy="5486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814316" cy="548640"/>
            </a:xfrm>
            <a:custGeom>
              <a:avLst/>
              <a:gdLst/>
              <a:ahLst/>
              <a:cxnLst/>
              <a:rect r="r" b="b" t="t" l="l"/>
              <a:pathLst>
                <a:path h="548640" w="4814316">
                  <a:moveTo>
                    <a:pt x="0" y="0"/>
                  </a:moveTo>
                  <a:lnTo>
                    <a:pt x="4814316" y="0"/>
                  </a:lnTo>
                  <a:lnTo>
                    <a:pt x="4814316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1" r="0" b="-120981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4814316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b="true" sz="1650">
                  <a:solidFill>
                    <a:srgbClr val="790D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Member 1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891540" y="5220462"/>
            <a:ext cx="3610737" cy="1322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b="true" sz="2100">
                <a:solidFill>
                  <a:srgbClr val="790D16"/>
                </a:solidFill>
                <a:latin typeface="Cambria Bold"/>
                <a:ea typeface="Cambria Bold"/>
                <a:cs typeface="Cambria Bold"/>
                <a:sym typeface="Cambria Bold"/>
              </a:rPr>
              <a:t>Concept + Short Code Illustration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88670" y="6623685"/>
            <a:ext cx="3816477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>
                <a:solidFill>
                  <a:srgbClr val="790D16"/>
                </a:solidFill>
                <a:latin typeface="Calibri (MS)"/>
                <a:ea typeface="Calibri (MS)"/>
                <a:cs typeface="Calibri (MS)"/>
                <a:sym typeface="Calibri (MS)"/>
              </a:rPr>
              <a:t>แนวคิดหลักของหัวข้อ พร้อมโค้ดตัวอย่างสั้น ๆ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891540" y="8092440"/>
            <a:ext cx="3610737" cy="411480"/>
            <a:chOff x="0" y="0"/>
            <a:chExt cx="4814316" cy="5486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814316" cy="548640"/>
            </a:xfrm>
            <a:custGeom>
              <a:avLst/>
              <a:gdLst/>
              <a:ahLst/>
              <a:cxnLst/>
              <a:rect r="r" b="b" t="t" l="l"/>
              <a:pathLst>
                <a:path h="548640" w="4814316">
                  <a:moveTo>
                    <a:pt x="0" y="0"/>
                  </a:moveTo>
                  <a:lnTo>
                    <a:pt x="4814316" y="0"/>
                  </a:lnTo>
                  <a:lnTo>
                    <a:pt x="4814316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1" r="0" b="-12098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4814316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i="true">
                  <a:solidFill>
                    <a:srgbClr val="790D16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~5 นาที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4982337" y="3223260"/>
            <a:ext cx="4022217" cy="5349240"/>
            <a:chOff x="0" y="0"/>
            <a:chExt cx="5362956" cy="71323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362956" cy="7132320"/>
            </a:xfrm>
            <a:custGeom>
              <a:avLst/>
              <a:gdLst/>
              <a:ahLst/>
              <a:cxnLst/>
              <a:rect r="r" b="b" t="t" l="l"/>
              <a:pathLst>
                <a:path h="7132320" w="5362956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216652" y="0"/>
                  </a:lnTo>
                  <a:cubicBezTo>
                    <a:pt x="5297424" y="0"/>
                    <a:pt x="5362956" y="65532"/>
                    <a:pt x="5362956" y="146304"/>
                  </a:cubicBezTo>
                  <a:lnTo>
                    <a:pt x="5362956" y="6986016"/>
                  </a:lnTo>
                  <a:cubicBezTo>
                    <a:pt x="5362956" y="7066788"/>
                    <a:pt x="5297424" y="7132320"/>
                    <a:pt x="5216652" y="7132320"/>
                  </a:cubicBezTo>
                  <a:lnTo>
                    <a:pt x="146304" y="7132320"/>
                  </a:lnTo>
                  <a:cubicBezTo>
                    <a:pt x="65532" y="7132320"/>
                    <a:pt x="0" y="7066788"/>
                    <a:pt x="0" y="6986016"/>
                  </a:cubicBezTo>
                  <a:close/>
                </a:path>
              </a:pathLst>
            </a:custGeom>
            <a:solidFill>
              <a:srgbClr val="F5EFE1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6513386" y="3634740"/>
            <a:ext cx="960120" cy="960120"/>
            <a:chOff x="0" y="0"/>
            <a:chExt cx="1280160" cy="12801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93A9B8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6513386" y="3634740"/>
            <a:ext cx="960120" cy="960120"/>
            <a:chOff x="0" y="0"/>
            <a:chExt cx="1280160" cy="128016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"/>
              <a:ext cx="128016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b="true" sz="3300">
                  <a:solidFill>
                    <a:srgbClr val="F5EFE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5188077" y="4800600"/>
            <a:ext cx="3610737" cy="411480"/>
            <a:chOff x="0" y="0"/>
            <a:chExt cx="4814316" cy="5486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814316" cy="548640"/>
            </a:xfrm>
            <a:custGeom>
              <a:avLst/>
              <a:gdLst/>
              <a:ahLst/>
              <a:cxnLst/>
              <a:rect r="r" b="b" t="t" l="l"/>
              <a:pathLst>
                <a:path h="548640" w="4814316">
                  <a:moveTo>
                    <a:pt x="0" y="0"/>
                  </a:moveTo>
                  <a:lnTo>
                    <a:pt x="4814316" y="0"/>
                  </a:lnTo>
                  <a:lnTo>
                    <a:pt x="4814316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1" r="0" b="-120981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28575"/>
              <a:ext cx="4814316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b="true" sz="1650">
                  <a:solidFill>
                    <a:srgbClr val="790D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Member 2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5188077" y="5220462"/>
            <a:ext cx="3610737" cy="1322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b="true" sz="2100">
                <a:solidFill>
                  <a:srgbClr val="790D16"/>
                </a:solidFill>
                <a:latin typeface="Cambria Bold"/>
                <a:ea typeface="Cambria Bold"/>
                <a:cs typeface="Cambria Bold"/>
                <a:sym typeface="Cambria Bold"/>
              </a:rPr>
              <a:t>Detailed Code + Live Demo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188077" y="6623685"/>
            <a:ext cx="3610737" cy="1743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>
                <a:solidFill>
                  <a:srgbClr val="790D16"/>
                </a:solidFill>
                <a:latin typeface="Calibri (MS)"/>
                <a:ea typeface="Calibri (MS)"/>
                <a:cs typeface="Calibri (MS)"/>
                <a:sym typeface="Calibri (MS)"/>
              </a:rPr>
              <a:t>อธิบายโค้ดเชิงลึกและสาธิตการทำงานจริง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5188077" y="8092440"/>
            <a:ext cx="3610737" cy="411480"/>
            <a:chOff x="0" y="0"/>
            <a:chExt cx="4814316" cy="5486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814316" cy="548640"/>
            </a:xfrm>
            <a:custGeom>
              <a:avLst/>
              <a:gdLst/>
              <a:ahLst/>
              <a:cxnLst/>
              <a:rect r="r" b="b" t="t" l="l"/>
              <a:pathLst>
                <a:path h="548640" w="4814316">
                  <a:moveTo>
                    <a:pt x="0" y="0"/>
                  </a:moveTo>
                  <a:lnTo>
                    <a:pt x="4814316" y="0"/>
                  </a:lnTo>
                  <a:lnTo>
                    <a:pt x="4814316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1" r="0" b="-120981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28575"/>
              <a:ext cx="4814316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i="true">
                  <a:solidFill>
                    <a:srgbClr val="790D16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~5 นาที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278874" y="3223260"/>
            <a:ext cx="4022217" cy="5349240"/>
            <a:chOff x="0" y="0"/>
            <a:chExt cx="5362956" cy="71323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362956" cy="7132320"/>
            </a:xfrm>
            <a:custGeom>
              <a:avLst/>
              <a:gdLst/>
              <a:ahLst/>
              <a:cxnLst/>
              <a:rect r="r" b="b" t="t" l="l"/>
              <a:pathLst>
                <a:path h="7132320" w="5362956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216652" y="0"/>
                  </a:lnTo>
                  <a:cubicBezTo>
                    <a:pt x="5297424" y="0"/>
                    <a:pt x="5362956" y="65532"/>
                    <a:pt x="5362956" y="146304"/>
                  </a:cubicBezTo>
                  <a:lnTo>
                    <a:pt x="5362956" y="6986016"/>
                  </a:lnTo>
                  <a:cubicBezTo>
                    <a:pt x="5362956" y="7066788"/>
                    <a:pt x="5297424" y="7132320"/>
                    <a:pt x="5216652" y="7132320"/>
                  </a:cubicBezTo>
                  <a:lnTo>
                    <a:pt x="146304" y="7132320"/>
                  </a:lnTo>
                  <a:cubicBezTo>
                    <a:pt x="65532" y="7132320"/>
                    <a:pt x="0" y="7066788"/>
                    <a:pt x="0" y="6986016"/>
                  </a:cubicBezTo>
                  <a:close/>
                </a:path>
              </a:pathLst>
            </a:custGeom>
            <a:solidFill>
              <a:srgbClr val="F5EFE1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0809922" y="3634740"/>
            <a:ext cx="960120" cy="960120"/>
            <a:chOff x="0" y="0"/>
            <a:chExt cx="1280160" cy="128016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93A9B8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0809922" y="3634740"/>
            <a:ext cx="960120" cy="960120"/>
            <a:chOff x="0" y="0"/>
            <a:chExt cx="1280160" cy="128016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9525"/>
              <a:ext cx="128016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b="true" sz="3300">
                  <a:solidFill>
                    <a:srgbClr val="F5EFE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3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9484614" y="4800600"/>
            <a:ext cx="3610737" cy="411480"/>
            <a:chOff x="0" y="0"/>
            <a:chExt cx="4814316" cy="54864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814316" cy="548640"/>
            </a:xfrm>
            <a:custGeom>
              <a:avLst/>
              <a:gdLst/>
              <a:ahLst/>
              <a:cxnLst/>
              <a:rect r="r" b="b" t="t" l="l"/>
              <a:pathLst>
                <a:path h="548640" w="4814316">
                  <a:moveTo>
                    <a:pt x="0" y="0"/>
                  </a:moveTo>
                  <a:lnTo>
                    <a:pt x="4814316" y="0"/>
                  </a:lnTo>
                  <a:lnTo>
                    <a:pt x="4814316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1" r="0" b="-120981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28575"/>
              <a:ext cx="4814316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b="true" sz="1650">
                  <a:solidFill>
                    <a:srgbClr val="790D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Member 3</a:t>
              </a:r>
            </a:p>
          </p:txBody>
        </p:sp>
      </p:grpSp>
      <p:sp>
        <p:nvSpPr>
          <p:cNvPr name="TextBox 48" id="48"/>
          <p:cNvSpPr txBox="true"/>
          <p:nvPr/>
        </p:nvSpPr>
        <p:spPr>
          <a:xfrm rot="0">
            <a:off x="9484614" y="5220462"/>
            <a:ext cx="3610737" cy="1322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b="true" sz="2100">
                <a:solidFill>
                  <a:srgbClr val="790D16"/>
                </a:solidFill>
                <a:latin typeface="Cambria Bold"/>
                <a:ea typeface="Cambria Bold"/>
                <a:cs typeface="Cambria Bold"/>
                <a:sym typeface="Cambria Bold"/>
              </a:rPr>
              <a:t>Rust vs Other Language + PPL Analysis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9484614" y="6623685"/>
            <a:ext cx="3610737" cy="1743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>
                <a:solidFill>
                  <a:srgbClr val="790D16"/>
                </a:solidFill>
                <a:latin typeface="Calibri (MS)"/>
                <a:ea typeface="Calibri (MS)"/>
                <a:cs typeface="Calibri (MS)"/>
                <a:sym typeface="Calibri (MS)"/>
              </a:rPr>
              <a:t>เปรียบเทียบภาษา และวิเคราะห์เชิง Programming Language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9484614" y="8092440"/>
            <a:ext cx="3610737" cy="411480"/>
            <a:chOff x="0" y="0"/>
            <a:chExt cx="4814316" cy="5486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814316" cy="548640"/>
            </a:xfrm>
            <a:custGeom>
              <a:avLst/>
              <a:gdLst/>
              <a:ahLst/>
              <a:cxnLst/>
              <a:rect r="r" b="b" t="t" l="l"/>
              <a:pathLst>
                <a:path h="548640" w="4814316">
                  <a:moveTo>
                    <a:pt x="0" y="0"/>
                  </a:moveTo>
                  <a:lnTo>
                    <a:pt x="4814316" y="0"/>
                  </a:lnTo>
                  <a:lnTo>
                    <a:pt x="4814316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1" r="0" b="-120981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28575"/>
              <a:ext cx="4814316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i="true">
                  <a:solidFill>
                    <a:srgbClr val="790D16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~5 นาที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3575411" y="3223260"/>
            <a:ext cx="4022217" cy="5349240"/>
            <a:chOff x="0" y="0"/>
            <a:chExt cx="5362956" cy="713232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5362956" cy="7132320"/>
            </a:xfrm>
            <a:custGeom>
              <a:avLst/>
              <a:gdLst/>
              <a:ahLst/>
              <a:cxnLst/>
              <a:rect r="r" b="b" t="t" l="l"/>
              <a:pathLst>
                <a:path h="7132320" w="5362956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216652" y="0"/>
                  </a:lnTo>
                  <a:cubicBezTo>
                    <a:pt x="5297424" y="0"/>
                    <a:pt x="5362956" y="65532"/>
                    <a:pt x="5362956" y="146304"/>
                  </a:cubicBezTo>
                  <a:lnTo>
                    <a:pt x="5362956" y="6986016"/>
                  </a:lnTo>
                  <a:cubicBezTo>
                    <a:pt x="5362956" y="7066788"/>
                    <a:pt x="5297424" y="7132320"/>
                    <a:pt x="5216652" y="7132320"/>
                  </a:cubicBezTo>
                  <a:lnTo>
                    <a:pt x="146304" y="7132320"/>
                  </a:lnTo>
                  <a:cubicBezTo>
                    <a:pt x="65532" y="7132320"/>
                    <a:pt x="0" y="7066788"/>
                    <a:pt x="0" y="6986016"/>
                  </a:cubicBezTo>
                  <a:close/>
                </a:path>
              </a:pathLst>
            </a:custGeom>
            <a:solidFill>
              <a:srgbClr val="F5EFE1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5106460" y="3634740"/>
            <a:ext cx="960120" cy="960120"/>
            <a:chOff x="0" y="0"/>
            <a:chExt cx="1280160" cy="128016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93A9B8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5106460" y="3634740"/>
            <a:ext cx="960120" cy="960120"/>
            <a:chOff x="0" y="0"/>
            <a:chExt cx="1280160" cy="128016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9525"/>
              <a:ext cx="128016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b="true" sz="3300">
                  <a:solidFill>
                    <a:srgbClr val="F5EFE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4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3781151" y="4800600"/>
            <a:ext cx="3610737" cy="411480"/>
            <a:chOff x="0" y="0"/>
            <a:chExt cx="4814316" cy="54864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4814316" cy="548640"/>
            </a:xfrm>
            <a:custGeom>
              <a:avLst/>
              <a:gdLst/>
              <a:ahLst/>
              <a:cxnLst/>
              <a:rect r="r" b="b" t="t" l="l"/>
              <a:pathLst>
                <a:path h="548640" w="4814316">
                  <a:moveTo>
                    <a:pt x="0" y="0"/>
                  </a:moveTo>
                  <a:lnTo>
                    <a:pt x="4814316" y="0"/>
                  </a:lnTo>
                  <a:lnTo>
                    <a:pt x="4814316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1" r="0" b="-120981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28575"/>
              <a:ext cx="4814316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b="true" sz="1650">
                  <a:solidFill>
                    <a:srgbClr val="790D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Member 4</a:t>
              </a:r>
            </a:p>
          </p:txBody>
        </p:sp>
      </p:grpSp>
      <p:sp>
        <p:nvSpPr>
          <p:cNvPr name="TextBox 63" id="63"/>
          <p:cNvSpPr txBox="true"/>
          <p:nvPr/>
        </p:nvSpPr>
        <p:spPr>
          <a:xfrm rot="0">
            <a:off x="13781151" y="5220462"/>
            <a:ext cx="3610737" cy="1322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b="true" sz="2100">
                <a:solidFill>
                  <a:srgbClr val="790D16"/>
                </a:solidFill>
                <a:latin typeface="Cambria Bold"/>
                <a:ea typeface="Cambria Bold"/>
                <a:cs typeface="Cambria Bold"/>
                <a:sym typeface="Cambria Bold"/>
              </a:rPr>
              <a:t>Exercises + Common Mistakes + Challenge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3781151" y="6623685"/>
            <a:ext cx="3610737" cy="1743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>
                <a:solidFill>
                  <a:srgbClr val="790D16"/>
                </a:solidFill>
                <a:latin typeface="Calibri (MS)"/>
                <a:ea typeface="Calibri (MS)"/>
                <a:cs typeface="Calibri (MS)"/>
                <a:sym typeface="Calibri (MS)"/>
              </a:rPr>
              <a:t>ข้อผิดพลาดที่พบบ่อย และโจทย์ท้าทายผู้ฟัง</a:t>
            </a:r>
          </a:p>
        </p:txBody>
      </p:sp>
      <p:grpSp>
        <p:nvGrpSpPr>
          <p:cNvPr name="Group 65" id="65"/>
          <p:cNvGrpSpPr/>
          <p:nvPr/>
        </p:nvGrpSpPr>
        <p:grpSpPr>
          <a:xfrm rot="0">
            <a:off x="13781151" y="8092440"/>
            <a:ext cx="3610737" cy="411480"/>
            <a:chOff x="0" y="0"/>
            <a:chExt cx="4814316" cy="54864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4814316" cy="548640"/>
            </a:xfrm>
            <a:custGeom>
              <a:avLst/>
              <a:gdLst/>
              <a:ahLst/>
              <a:cxnLst/>
              <a:rect r="r" b="b" t="t" l="l"/>
              <a:pathLst>
                <a:path h="548640" w="4814316">
                  <a:moveTo>
                    <a:pt x="0" y="0"/>
                  </a:moveTo>
                  <a:lnTo>
                    <a:pt x="4814316" y="0"/>
                  </a:lnTo>
                  <a:lnTo>
                    <a:pt x="4814316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1" r="0" b="-120981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28575"/>
              <a:ext cx="4814316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i="true">
                  <a:solidFill>
                    <a:srgbClr val="790D16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~5 นาที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F5EF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F5EF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F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790D1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190500" y="0"/>
                  </a:moveTo>
                  <a:lnTo>
                    <a:pt x="5295900" y="0"/>
                  </a:lnTo>
                  <a:cubicBezTo>
                    <a:pt x="5401110" y="0"/>
                    <a:pt x="5486400" y="85290"/>
                    <a:pt x="5486400" y="190500"/>
                  </a:cubicBezTo>
                  <a:lnTo>
                    <a:pt x="5486400" y="577596"/>
                  </a:lnTo>
                  <a:cubicBezTo>
                    <a:pt x="5486400" y="682806"/>
                    <a:pt x="5401110" y="768096"/>
                    <a:pt x="5295900" y="768096"/>
                  </a:cubicBezTo>
                  <a:lnTo>
                    <a:pt x="190500" y="768096"/>
                  </a:lnTo>
                  <a:cubicBezTo>
                    <a:pt x="139976" y="768096"/>
                    <a:pt x="91522" y="748026"/>
                    <a:pt x="55796" y="712300"/>
                  </a:cubicBezTo>
                  <a:cubicBezTo>
                    <a:pt x="20070" y="676574"/>
                    <a:pt x="0" y="628120"/>
                    <a:pt x="0" y="577596"/>
                  </a:cubicBezTo>
                  <a:lnTo>
                    <a:pt x="0" y="190500"/>
                  </a:lnTo>
                  <a:cubicBezTo>
                    <a:pt x="0" y="85290"/>
                    <a:pt x="85290" y="0"/>
                    <a:pt x="190500" y="0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>
                  <a:solidFill>
                    <a:srgbClr val="F5EFE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1 · MEMBER 1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790D1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790D1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</a:t>
              </a:r>
            </a:p>
          </p:txBody>
        </p:sp>
      </p:grpSp>
      <p:graphicFrame>
        <p:nvGraphicFramePr>
          <p:cNvPr name="Table 13" id="13"/>
          <p:cNvGraphicFramePr>
            <a:graphicFrameLocks noGrp="true"/>
          </p:cNvGraphicFramePr>
          <p:nvPr/>
        </p:nvGraphicFramePr>
        <p:xfrm>
          <a:off x="1028700" y="3994590"/>
          <a:ext cx="2376806" cy="5181600"/>
        </p:xfrm>
        <a:graphic>
          <a:graphicData uri="http://schemas.openxmlformats.org/drawingml/2006/table">
            <a:tbl>
              <a:tblPr/>
              <a:tblGrid>
                <a:gridCol w="811923"/>
              </a:tblGrid>
              <a:tr h="103632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790D1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x = 60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790D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3632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790D1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3632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790D1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y = 7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3632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790D1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z = x + 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3632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790D1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myVec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name="Table 14" id="14"/>
          <p:cNvGraphicFramePr>
            <a:graphicFrameLocks noGrp="true"/>
          </p:cNvGraphicFramePr>
          <p:nvPr/>
        </p:nvGraphicFramePr>
        <p:xfrm>
          <a:off x="5201644" y="4982718"/>
          <a:ext cx="5173049" cy="1117092"/>
        </p:xfrm>
        <a:graphic>
          <a:graphicData uri="http://schemas.openxmlformats.org/drawingml/2006/table">
            <a:tbl>
              <a:tblPr/>
              <a:tblGrid>
                <a:gridCol w="1034610"/>
                <a:gridCol w="1034610"/>
                <a:gridCol w="1034610"/>
                <a:gridCol w="1034610"/>
                <a:gridCol w="1034610"/>
              </a:tblGrid>
              <a:tr h="111709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790D16"/>
                          </a:solidFill>
                          <a:latin typeface="Prompt"/>
                          <a:ea typeface="Prompt"/>
                          <a:cs typeface="Prompt"/>
                          <a:sym typeface="Prompt"/>
                        </a:rPr>
                        <a:t>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790D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790D16"/>
                          </a:solidFill>
                          <a:latin typeface="Prompt"/>
                          <a:ea typeface="Prompt"/>
                          <a:cs typeface="Prompt"/>
                          <a:sym typeface="Prompt"/>
                        </a:rPr>
                        <a:t>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790D16"/>
                          </a:solidFill>
                          <a:latin typeface="Prompt"/>
                          <a:ea typeface="Prompt"/>
                          <a:cs typeface="Prompt"/>
                          <a:sym typeface="Prompt"/>
                        </a:rPr>
                        <a:t>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790D16"/>
                          </a:solidFill>
                          <a:latin typeface="Prompt"/>
                          <a:ea typeface="Prompt"/>
                          <a:cs typeface="Prompt"/>
                          <a:sym typeface="Prompt"/>
                        </a:rPr>
                        <a:t>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790D16"/>
                          </a:solidFill>
                          <a:latin typeface="Prompt"/>
                          <a:ea typeface="Prompt"/>
                          <a:cs typeface="Prompt"/>
                          <a:sym typeface="Prompt"/>
                        </a:rPr>
                        <a:t>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AutoShape 15" id="15"/>
          <p:cNvSpPr/>
          <p:nvPr/>
        </p:nvSpPr>
        <p:spPr>
          <a:xfrm flipV="true">
            <a:off x="3405506" y="5541264"/>
            <a:ext cx="1796137" cy="18842"/>
          </a:xfrm>
          <a:prstGeom prst="line">
            <a:avLst/>
          </a:prstGeom>
          <a:ln cap="flat" w="38100">
            <a:solidFill>
              <a:srgbClr val="790D16"/>
            </a:solidFill>
            <a:prstDash val="solid"/>
            <a:headEnd type="none" len="sm" w="sm"/>
            <a:tailEnd type="arrow" len="sm" w="med"/>
          </a:ln>
        </p:spPr>
      </p:sp>
      <p:graphicFrame>
        <p:nvGraphicFramePr>
          <p:cNvPr name="Table 16" id="16"/>
          <p:cNvGraphicFramePr>
            <a:graphicFrameLocks noGrp="true"/>
          </p:cNvGraphicFramePr>
          <p:nvPr/>
        </p:nvGraphicFramePr>
        <p:xfrm>
          <a:off x="5201644" y="8097374"/>
          <a:ext cx="4344591" cy="1117092"/>
        </p:xfrm>
        <a:graphic>
          <a:graphicData uri="http://schemas.openxmlformats.org/drawingml/2006/table">
            <a:tbl>
              <a:tblPr/>
              <a:tblGrid>
                <a:gridCol w="1104521"/>
                <a:gridCol w="1105631"/>
                <a:gridCol w="1093899"/>
                <a:gridCol w="1040540"/>
              </a:tblGrid>
              <a:tr h="111709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790D16"/>
                          </a:solidFill>
                          <a:latin typeface="Prompt"/>
                          <a:ea typeface="Prompt"/>
                          <a:cs typeface="Prompt"/>
                          <a:sym typeface="Prompt"/>
                        </a:rPr>
                        <a:t>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790D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790D16"/>
                          </a:solidFill>
                          <a:latin typeface="Prompt"/>
                          <a:ea typeface="Prompt"/>
                          <a:cs typeface="Prompt"/>
                          <a:sym typeface="Prompt"/>
                        </a:rPr>
                        <a:t>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790D16"/>
                          </a:solidFill>
                          <a:latin typeface="Prompt"/>
                          <a:ea typeface="Prompt"/>
                          <a:cs typeface="Prompt"/>
                          <a:sym typeface="Prompt"/>
                        </a:rPr>
                        <a:t>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790D16"/>
                          </a:solidFill>
                          <a:latin typeface="Prompt"/>
                          <a:ea typeface="Prompt"/>
                          <a:cs typeface="Prompt"/>
                          <a:sym typeface="Prompt"/>
                        </a:rPr>
                        <a:t>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AutoShape 17" id="17"/>
          <p:cNvSpPr/>
          <p:nvPr/>
        </p:nvSpPr>
        <p:spPr>
          <a:xfrm flipV="true">
            <a:off x="3405506" y="8655920"/>
            <a:ext cx="1796137" cy="0"/>
          </a:xfrm>
          <a:prstGeom prst="line">
            <a:avLst/>
          </a:prstGeom>
          <a:ln cap="flat" w="38100">
            <a:solidFill>
              <a:srgbClr val="790D16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8" id="18"/>
          <p:cNvGrpSpPr/>
          <p:nvPr/>
        </p:nvGrpSpPr>
        <p:grpSpPr>
          <a:xfrm rot="0">
            <a:off x="10807962" y="7305478"/>
            <a:ext cx="6626729" cy="2405450"/>
            <a:chOff x="0" y="0"/>
            <a:chExt cx="1745311" cy="63353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745311" cy="633534"/>
            </a:xfrm>
            <a:custGeom>
              <a:avLst/>
              <a:gdLst/>
              <a:ahLst/>
              <a:cxnLst/>
              <a:rect r="r" b="b" t="t" l="l"/>
              <a:pathLst>
                <a:path h="633534" w="1745311">
                  <a:moveTo>
                    <a:pt x="59583" y="0"/>
                  </a:moveTo>
                  <a:lnTo>
                    <a:pt x="1685729" y="0"/>
                  </a:lnTo>
                  <a:cubicBezTo>
                    <a:pt x="1718635" y="0"/>
                    <a:pt x="1745311" y="26676"/>
                    <a:pt x="1745311" y="59583"/>
                  </a:cubicBezTo>
                  <a:lnTo>
                    <a:pt x="1745311" y="573951"/>
                  </a:lnTo>
                  <a:cubicBezTo>
                    <a:pt x="1745311" y="589754"/>
                    <a:pt x="1739034" y="604909"/>
                    <a:pt x="1727860" y="616083"/>
                  </a:cubicBezTo>
                  <a:cubicBezTo>
                    <a:pt x="1716686" y="627257"/>
                    <a:pt x="1701531" y="633534"/>
                    <a:pt x="1685729" y="633534"/>
                  </a:cubicBezTo>
                  <a:lnTo>
                    <a:pt x="59583" y="633534"/>
                  </a:lnTo>
                  <a:cubicBezTo>
                    <a:pt x="43780" y="633534"/>
                    <a:pt x="28625" y="627257"/>
                    <a:pt x="17451" y="616083"/>
                  </a:cubicBezTo>
                  <a:cubicBezTo>
                    <a:pt x="6277" y="604909"/>
                    <a:pt x="0" y="589754"/>
                    <a:pt x="0" y="573951"/>
                  </a:cubicBezTo>
                  <a:lnTo>
                    <a:pt x="0" y="59583"/>
                  </a:lnTo>
                  <a:cubicBezTo>
                    <a:pt x="0" y="43780"/>
                    <a:pt x="6277" y="28625"/>
                    <a:pt x="17451" y="17451"/>
                  </a:cubicBezTo>
                  <a:cubicBezTo>
                    <a:pt x="28625" y="6277"/>
                    <a:pt x="43780" y="0"/>
                    <a:pt x="59583" y="0"/>
                  </a:cubicBezTo>
                  <a:close/>
                </a:path>
              </a:pathLst>
            </a:custGeom>
            <a:solidFill>
              <a:srgbClr val="AEC4D4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1745311" cy="7002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b="true" sz="2799">
                  <a:solidFill>
                    <a:srgbClr val="790D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ทำไม s และ myVec ถึงอยู่ใน Stack ด้วยล่ะ?</a:t>
              </a:r>
            </a:p>
            <a:p>
              <a:pPr algn="ctr">
                <a:lnSpc>
                  <a:spcPts val="3359"/>
                </a:lnSpc>
              </a:pPr>
            </a:p>
            <a:p>
              <a:pPr algn="ctr">
                <a:lnSpc>
                  <a:spcPts val="3359"/>
                </a:lnSpc>
              </a:pPr>
              <a:r>
                <a:rPr lang="en-US" b="true" sz="2799">
                  <a:solidFill>
                    <a:srgbClr val="790D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Ans: ต้องเก็บค่าข้อมูลอย่างอื่นแทน เช่น</a:t>
              </a:r>
            </a:p>
            <a:p>
              <a:pPr algn="ctr">
                <a:lnSpc>
                  <a:spcPts val="3359"/>
                </a:lnSpc>
              </a:pPr>
              <a:r>
                <a:rPr lang="en-US" b="true" sz="2799">
                  <a:solidFill>
                    <a:srgbClr val="790D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ขนาดข้อมูล , ความจุและตัวชี้ข้อมูลบน Heap</a:t>
              </a:r>
            </a:p>
            <a:p>
              <a:pPr algn="ctr">
                <a:lnSpc>
                  <a:spcPts val="3359"/>
                </a:lnSpc>
              </a:pPr>
              <a:r>
                <a:rPr lang="en-US" b="true" sz="2799">
                  <a:solidFill>
                    <a:srgbClr val="790D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( length , capacity , pointer )</a:t>
              </a: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10894466" y="3054993"/>
            <a:ext cx="6453720" cy="3893135"/>
          </a:xfrm>
          <a:custGeom>
            <a:avLst/>
            <a:gdLst/>
            <a:ahLst/>
            <a:cxnLst/>
            <a:rect r="r" b="b" t="t" l="l"/>
            <a:pathLst>
              <a:path h="3893135" w="6453720">
                <a:moveTo>
                  <a:pt x="0" y="0"/>
                </a:moveTo>
                <a:lnTo>
                  <a:pt x="6453720" y="0"/>
                </a:lnTo>
                <a:lnTo>
                  <a:pt x="6453720" y="3893135"/>
                </a:lnTo>
                <a:lnTo>
                  <a:pt x="0" y="38931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2272" t="-20980" r="-12905" b="-20571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5101828" y="676275"/>
            <a:ext cx="8086725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0"/>
              </a:lnSpc>
              <a:spcBef>
                <a:spcPct val="0"/>
              </a:spcBef>
            </a:pPr>
            <a:r>
              <a:rPr lang="en-US" b="true" sz="4500">
                <a:solidFill>
                  <a:srgbClr val="790D16"/>
                </a:solidFill>
                <a:latin typeface="Prompt Bold"/>
                <a:ea typeface="Prompt Bold"/>
                <a:cs typeface="Prompt Bold"/>
                <a:sym typeface="Prompt Bold"/>
              </a:rPr>
              <a:t> MEMORY MODEL (CONCEPT)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28700" y="1686861"/>
            <a:ext cx="16232981" cy="1024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1" indent="-280670" lvl="1">
              <a:lnSpc>
                <a:spcPts val="3900"/>
              </a:lnSpc>
              <a:buFont typeface="Arial"/>
              <a:buChar char="•"/>
            </a:pPr>
            <a:r>
              <a:rPr lang="en-US" sz="2600">
                <a:solidFill>
                  <a:srgbClr val="790D16"/>
                </a:solidFill>
                <a:latin typeface="Calibri (MS)"/>
                <a:ea typeface="Calibri (MS)"/>
                <a:cs typeface="Calibri (MS)"/>
                <a:sym typeface="Calibri (MS)"/>
              </a:rPr>
              <a:t>Memory Model : ชุดการจัดเก็บข้อมูล/ตัวแปร การใช้งาน การคืนความจำ โดยใช้หลัก Ownership , Borrowing  และ Lifetime</a:t>
            </a:r>
          </a:p>
          <a:p>
            <a:pPr algn="l" marL="561341" indent="-280670" lvl="1">
              <a:lnSpc>
                <a:spcPts val="3900"/>
              </a:lnSpc>
              <a:buFont typeface="Arial"/>
              <a:buChar char="•"/>
            </a:pPr>
            <a:r>
              <a:rPr lang="en-US" sz="2600">
                <a:solidFill>
                  <a:srgbClr val="790D16"/>
                </a:solidFill>
                <a:latin typeface="Calibri (MS)"/>
                <a:ea typeface="Calibri (MS)"/>
                <a:cs typeface="Calibri (MS)"/>
                <a:sym typeface="Calibri (MS)"/>
              </a:rPr>
              <a:t>ใน Memory Model มีการเก็บข้อมูลอยู่ 2 แบบหลักๆ คือ Stack เก็บข้อมูลรู้ขนาดแน่นอน / Heap เก็บข้อมูลที่ขนาดเปลี่ยนได้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21747" y="3217132"/>
            <a:ext cx="2383760" cy="547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790D16"/>
                </a:solidFill>
                <a:latin typeface="Cambria"/>
                <a:ea typeface="Cambria"/>
                <a:cs typeface="Cambria"/>
                <a:sym typeface="Cambria"/>
              </a:rPr>
              <a:t>Stack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599765" y="4291838"/>
            <a:ext cx="2376806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790D16"/>
                </a:solidFill>
                <a:latin typeface="Cambria"/>
                <a:ea typeface="Cambria"/>
                <a:cs typeface="Cambria"/>
                <a:sym typeface="Cambria"/>
              </a:rPr>
              <a:t>Heap ของ 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901300" y="7409201"/>
            <a:ext cx="2945279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790D16"/>
                </a:solidFill>
                <a:latin typeface="Cambria"/>
                <a:ea typeface="Cambria"/>
                <a:cs typeface="Cambria"/>
                <a:sym typeface="Cambria"/>
              </a:rPr>
              <a:t>Heap ของ myVec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861332" y="8030699"/>
            <a:ext cx="884485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790D16"/>
                </a:solidFill>
                <a:latin typeface="Cambria"/>
                <a:ea typeface="Cambria"/>
                <a:cs typeface="Cambria"/>
                <a:sym typeface="Cambria"/>
              </a:rPr>
              <a:t>ptr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861332" y="4934885"/>
            <a:ext cx="884485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790D16"/>
                </a:solidFill>
                <a:latin typeface="Cambria"/>
                <a:ea typeface="Cambria"/>
                <a:cs typeface="Cambria"/>
                <a:sym typeface="Cambria"/>
              </a:rPr>
              <a:t>ptr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F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AEC4D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190500" y="0"/>
                  </a:moveTo>
                  <a:lnTo>
                    <a:pt x="5295900" y="0"/>
                  </a:lnTo>
                  <a:cubicBezTo>
                    <a:pt x="5401110" y="0"/>
                    <a:pt x="5486400" y="85290"/>
                    <a:pt x="5486400" y="190500"/>
                  </a:cubicBezTo>
                  <a:lnTo>
                    <a:pt x="5486400" y="577596"/>
                  </a:lnTo>
                  <a:cubicBezTo>
                    <a:pt x="5486400" y="682806"/>
                    <a:pt x="5401110" y="768096"/>
                    <a:pt x="5295900" y="768096"/>
                  </a:cubicBezTo>
                  <a:lnTo>
                    <a:pt x="190500" y="768096"/>
                  </a:lnTo>
                  <a:cubicBezTo>
                    <a:pt x="139976" y="768096"/>
                    <a:pt x="91522" y="748026"/>
                    <a:pt x="55796" y="712300"/>
                  </a:cubicBezTo>
                  <a:cubicBezTo>
                    <a:pt x="20070" y="676574"/>
                    <a:pt x="0" y="628120"/>
                    <a:pt x="0" y="577596"/>
                  </a:cubicBezTo>
                  <a:lnTo>
                    <a:pt x="0" y="190500"/>
                  </a:lnTo>
                  <a:cubicBezTo>
                    <a:pt x="0" y="85290"/>
                    <a:pt x="85290" y="0"/>
                    <a:pt x="190500" y="0"/>
                  </a:cubicBezTo>
                  <a:close/>
                </a:path>
              </a:pathLst>
            </a:custGeom>
            <a:solidFill>
              <a:srgbClr val="790D16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>
                  <a:solidFill>
                    <a:srgbClr val="F5EFE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1 · MEMBER 1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790D1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790D1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</a:t>
              </a:r>
            </a:p>
          </p:txBody>
        </p:sp>
      </p:grpSp>
      <p:graphicFrame>
        <p:nvGraphicFramePr>
          <p:cNvPr name="Table 13" id="13"/>
          <p:cNvGraphicFramePr>
            <a:graphicFrameLocks noGrp="true"/>
          </p:cNvGraphicFramePr>
          <p:nvPr/>
        </p:nvGraphicFramePr>
        <p:xfrm>
          <a:off x="7956787" y="4649240"/>
          <a:ext cx="2376806" cy="3124200"/>
        </p:xfrm>
        <a:graphic>
          <a:graphicData uri="http://schemas.openxmlformats.org/drawingml/2006/table">
            <a:tbl>
              <a:tblPr/>
              <a:tblGrid>
                <a:gridCol w="811923"/>
              </a:tblGrid>
              <a:tr h="10414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790D1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790D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414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790D1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</a:t>
                      </a:r>
                      <a:r>
                        <a:rPr lang="en-US" sz="3000">
                          <a:solidFill>
                            <a:srgbClr val="790D1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orrowed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414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790D1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copied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name="Table 14" id="14"/>
          <p:cNvGraphicFramePr>
            <a:graphicFrameLocks noGrp="true"/>
          </p:cNvGraphicFramePr>
          <p:nvPr/>
        </p:nvGraphicFramePr>
        <p:xfrm>
          <a:off x="11658600" y="4584954"/>
          <a:ext cx="5173049" cy="1117092"/>
        </p:xfrm>
        <a:graphic>
          <a:graphicData uri="http://schemas.openxmlformats.org/drawingml/2006/table">
            <a:tbl>
              <a:tblPr/>
              <a:tblGrid>
                <a:gridCol w="1034610"/>
                <a:gridCol w="1034610"/>
                <a:gridCol w="1034610"/>
                <a:gridCol w="1034610"/>
                <a:gridCol w="1034610"/>
              </a:tblGrid>
              <a:tr h="111709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790D16"/>
                          </a:solidFill>
                          <a:latin typeface="Prompt"/>
                          <a:ea typeface="Prompt"/>
                          <a:cs typeface="Prompt"/>
                          <a:sym typeface="Prompt"/>
                        </a:rPr>
                        <a:t>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790D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790D16"/>
                          </a:solidFill>
                          <a:latin typeface="Prompt"/>
                          <a:ea typeface="Prompt"/>
                          <a:cs typeface="Prompt"/>
                          <a:sym typeface="Prompt"/>
                        </a:rPr>
                        <a:t>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790D16"/>
                          </a:solidFill>
                          <a:latin typeface="Prompt"/>
                          <a:ea typeface="Prompt"/>
                          <a:cs typeface="Prompt"/>
                          <a:sym typeface="Prompt"/>
                        </a:rPr>
                        <a:t>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790D16"/>
                          </a:solidFill>
                          <a:latin typeface="Prompt"/>
                          <a:ea typeface="Prompt"/>
                          <a:cs typeface="Prompt"/>
                          <a:sym typeface="Prompt"/>
                        </a:rPr>
                        <a:t>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790D16"/>
                          </a:solidFill>
                          <a:latin typeface="Prompt"/>
                          <a:ea typeface="Prompt"/>
                          <a:cs typeface="Prompt"/>
                          <a:sym typeface="Prompt"/>
                        </a:rPr>
                        <a:t>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name="Table 15" id="15"/>
          <p:cNvGraphicFramePr>
            <a:graphicFrameLocks noGrp="true"/>
          </p:cNvGraphicFramePr>
          <p:nvPr/>
        </p:nvGraphicFramePr>
        <p:xfrm>
          <a:off x="11658600" y="6595986"/>
          <a:ext cx="5173049" cy="1117092"/>
        </p:xfrm>
        <a:graphic>
          <a:graphicData uri="http://schemas.openxmlformats.org/drawingml/2006/table">
            <a:tbl>
              <a:tblPr/>
              <a:tblGrid>
                <a:gridCol w="1034610"/>
                <a:gridCol w="1034610"/>
                <a:gridCol w="1034610"/>
                <a:gridCol w="1034610"/>
                <a:gridCol w="1034610"/>
              </a:tblGrid>
              <a:tr h="111709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790D16"/>
                          </a:solidFill>
                          <a:latin typeface="Prompt"/>
                          <a:ea typeface="Prompt"/>
                          <a:cs typeface="Prompt"/>
                          <a:sym typeface="Prompt"/>
                        </a:rPr>
                        <a:t>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790D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790D16"/>
                          </a:solidFill>
                          <a:latin typeface="Prompt"/>
                          <a:ea typeface="Prompt"/>
                          <a:cs typeface="Prompt"/>
                          <a:sym typeface="Prompt"/>
                        </a:rPr>
                        <a:t>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790D16"/>
                          </a:solidFill>
                          <a:latin typeface="Prompt"/>
                          <a:ea typeface="Prompt"/>
                          <a:cs typeface="Prompt"/>
                          <a:sym typeface="Prompt"/>
                        </a:rPr>
                        <a:t>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790D16"/>
                          </a:solidFill>
                          <a:latin typeface="Prompt"/>
                          <a:ea typeface="Prompt"/>
                          <a:cs typeface="Prompt"/>
                          <a:sym typeface="Prompt"/>
                        </a:rPr>
                        <a:t>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790D16"/>
                          </a:solidFill>
                          <a:latin typeface="Prompt"/>
                          <a:ea typeface="Prompt"/>
                          <a:cs typeface="Prompt"/>
                          <a:sym typeface="Prompt"/>
                        </a:rPr>
                        <a:t>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AutoShape 16" id="16"/>
          <p:cNvSpPr/>
          <p:nvPr/>
        </p:nvSpPr>
        <p:spPr>
          <a:xfrm flipV="true">
            <a:off x="10333594" y="5143500"/>
            <a:ext cx="1325006" cy="837"/>
          </a:xfrm>
          <a:prstGeom prst="line">
            <a:avLst/>
          </a:prstGeom>
          <a:ln cap="flat" w="38100">
            <a:solidFill>
              <a:srgbClr val="790D16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7" id="17"/>
          <p:cNvSpPr/>
          <p:nvPr/>
        </p:nvSpPr>
        <p:spPr>
          <a:xfrm>
            <a:off x="10333594" y="6211340"/>
            <a:ext cx="1866743" cy="0"/>
          </a:xfrm>
          <a:prstGeom prst="line">
            <a:avLst/>
          </a:prstGeom>
          <a:ln cap="flat" w="38100">
            <a:solidFill>
              <a:srgbClr val="790D1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 flipV="true">
            <a:off x="12200336" y="5702046"/>
            <a:ext cx="0" cy="509294"/>
          </a:xfrm>
          <a:prstGeom prst="line">
            <a:avLst/>
          </a:prstGeom>
          <a:ln cap="flat" w="38100">
            <a:solidFill>
              <a:srgbClr val="790D16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9" id="19"/>
          <p:cNvSpPr/>
          <p:nvPr/>
        </p:nvSpPr>
        <p:spPr>
          <a:xfrm>
            <a:off x="10333594" y="7154532"/>
            <a:ext cx="1325006" cy="0"/>
          </a:xfrm>
          <a:prstGeom prst="line">
            <a:avLst/>
          </a:prstGeom>
          <a:ln cap="flat" w="38100">
            <a:solidFill>
              <a:srgbClr val="790D16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20" id="20"/>
          <p:cNvSpPr/>
          <p:nvPr/>
        </p:nvSpPr>
        <p:spPr>
          <a:xfrm flipH="false" flipV="false" rot="0">
            <a:off x="1209675" y="3460827"/>
            <a:ext cx="5421947" cy="3365346"/>
          </a:xfrm>
          <a:custGeom>
            <a:avLst/>
            <a:gdLst/>
            <a:ahLst/>
            <a:cxnLst/>
            <a:rect r="r" b="b" t="t" l="l"/>
            <a:pathLst>
              <a:path h="3365346" w="5421947">
                <a:moveTo>
                  <a:pt x="0" y="0"/>
                </a:moveTo>
                <a:lnTo>
                  <a:pt x="5421947" y="0"/>
                </a:lnTo>
                <a:lnTo>
                  <a:pt x="5421947" y="3365346"/>
                </a:lnTo>
                <a:lnTo>
                  <a:pt x="0" y="33653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2094" t="-19149" r="-11851" b="-18282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028700" y="1686861"/>
            <a:ext cx="16232981" cy="1024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1" indent="-280670" lvl="1">
              <a:lnSpc>
                <a:spcPts val="3900"/>
              </a:lnSpc>
              <a:buFont typeface="Arial"/>
              <a:buChar char="•"/>
            </a:pPr>
            <a:r>
              <a:rPr lang="en-US" sz="2600">
                <a:solidFill>
                  <a:srgbClr val="790D16"/>
                </a:solidFill>
                <a:latin typeface="Calibri (MS)"/>
                <a:ea typeface="Calibri (MS)"/>
                <a:cs typeface="Calibri (MS)"/>
                <a:sym typeface="Calibri (MS)"/>
              </a:rPr>
              <a:t>&amp;str : การยืมข้อความจากตัวแปรหลัก ( s )  โดยการใช้ ptr ชี้ไปยังตัวแปรนั้นๆ ( ใช้กับจำพวก slice )</a:t>
            </a:r>
          </a:p>
          <a:p>
            <a:pPr algn="l" marL="561341" indent="-280670" lvl="1">
              <a:lnSpc>
                <a:spcPts val="3900"/>
              </a:lnSpc>
              <a:buFont typeface="Arial"/>
              <a:buChar char="•"/>
            </a:pPr>
            <a:r>
              <a:rPr lang="en-US" sz="2600">
                <a:solidFill>
                  <a:srgbClr val="790D16"/>
                </a:solidFill>
                <a:latin typeface="Calibri (MS)"/>
                <a:ea typeface="Calibri (MS)"/>
                <a:cs typeface="Calibri (MS)"/>
                <a:sym typeface="Calibri (MS)"/>
              </a:rPr>
              <a:t>.clone() : สร้างก้อน String บน heap ขึ้นมาใหม่ พร้อมคัดลอกข้อความจากตัวแปรที่ต้องการไปยังก้อน heap ใหม่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101828" y="676275"/>
            <a:ext cx="8086725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0"/>
              </a:lnSpc>
              <a:spcBef>
                <a:spcPct val="0"/>
              </a:spcBef>
            </a:pPr>
            <a:r>
              <a:rPr lang="en-US" b="true" sz="4500">
                <a:solidFill>
                  <a:srgbClr val="962D2B"/>
                </a:solidFill>
                <a:latin typeface="Prompt Bold"/>
                <a:ea typeface="Prompt Bold"/>
                <a:cs typeface="Prompt Bold"/>
                <a:sym typeface="Prompt Bold"/>
              </a:rPr>
              <a:t> MEMORY MODEL (CONCEPT)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955597" y="3791867"/>
            <a:ext cx="2376806" cy="547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790D16"/>
                </a:solidFill>
                <a:latin typeface="Cambria"/>
                <a:ea typeface="Cambria"/>
                <a:cs typeface="Cambria"/>
                <a:sym typeface="Cambria"/>
              </a:rPr>
              <a:t>Stack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056721" y="3848382"/>
            <a:ext cx="2376806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790D16"/>
                </a:solidFill>
                <a:latin typeface="Cambria"/>
                <a:ea typeface="Cambria"/>
                <a:cs typeface="Cambria"/>
                <a:sym typeface="Cambria"/>
              </a:rPr>
              <a:t>Heap ของ 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964022" y="7894053"/>
            <a:ext cx="2562205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790D16"/>
                </a:solidFill>
                <a:latin typeface="Cambria"/>
                <a:ea typeface="Cambria"/>
                <a:cs typeface="Cambria"/>
                <a:sym typeface="Cambria"/>
              </a:rPr>
              <a:t>Heap ของ copied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209675" y="7457370"/>
            <a:ext cx="5556563" cy="1855075"/>
            <a:chOff x="0" y="0"/>
            <a:chExt cx="7408750" cy="2473433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0" y="0"/>
              <a:ext cx="7408750" cy="511745"/>
              <a:chOff x="0" y="0"/>
              <a:chExt cx="7942897" cy="54864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7942897" cy="548640"/>
              </a:xfrm>
              <a:custGeom>
                <a:avLst/>
                <a:gdLst/>
                <a:ahLst/>
                <a:cxnLst/>
                <a:rect r="r" b="b" t="t" l="l"/>
                <a:pathLst>
                  <a:path h="548640" w="7942897">
                    <a:moveTo>
                      <a:pt x="0" y="0"/>
                    </a:moveTo>
                    <a:lnTo>
                      <a:pt x="7942897" y="0"/>
                    </a:lnTo>
                    <a:lnTo>
                      <a:pt x="7942897" y="548640"/>
                    </a:lnTo>
                    <a:lnTo>
                      <a:pt x="0" y="54864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367629" r="-48046" b="-367629"/>
                </a:stretch>
              </a:blip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38100"/>
                <a:ext cx="7942897" cy="58674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159"/>
                  </a:lnSpc>
                </a:pPr>
                <a:r>
                  <a:rPr lang="en-US" b="true" sz="1799">
                    <a:solidFill>
                      <a:srgbClr val="790D16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ผลลัพธ์ที่คาดหวัง (Expected Output)</a:t>
                </a: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0" y="597036"/>
              <a:ext cx="7408750" cy="1876398"/>
              <a:chOff x="0" y="0"/>
              <a:chExt cx="7942897" cy="201168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7942897" cy="2011680"/>
              </a:xfrm>
              <a:custGeom>
                <a:avLst/>
                <a:gdLst/>
                <a:ahLst/>
                <a:cxnLst/>
                <a:rect r="r" b="b" t="t" l="l"/>
                <a:pathLst>
                  <a:path h="2011680" w="7942897">
                    <a:moveTo>
                      <a:pt x="0" y="109728"/>
                    </a:moveTo>
                    <a:cubicBezTo>
                      <a:pt x="0" y="49149"/>
                      <a:pt x="33198" y="0"/>
                      <a:pt x="74117" y="0"/>
                    </a:cubicBezTo>
                    <a:lnTo>
                      <a:pt x="7868780" y="0"/>
                    </a:lnTo>
                    <a:cubicBezTo>
                      <a:pt x="7909699" y="0"/>
                      <a:pt x="7942897" y="49149"/>
                      <a:pt x="7942897" y="109728"/>
                    </a:cubicBezTo>
                    <a:lnTo>
                      <a:pt x="7942897" y="1901952"/>
                    </a:lnTo>
                    <a:cubicBezTo>
                      <a:pt x="7942897" y="1962531"/>
                      <a:pt x="7909699" y="2011680"/>
                      <a:pt x="7868780" y="2011680"/>
                    </a:cubicBezTo>
                    <a:lnTo>
                      <a:pt x="74117" y="2011680"/>
                    </a:lnTo>
                    <a:cubicBezTo>
                      <a:pt x="33198" y="2011680"/>
                      <a:pt x="0" y="1962531"/>
                      <a:pt x="0" y="1901952"/>
                    </a:cubicBezTo>
                    <a:close/>
                  </a:path>
                </a:pathLst>
              </a:custGeom>
              <a:solidFill>
                <a:srgbClr val="121314"/>
              </a:solidFill>
            </p:spPr>
          </p:sp>
        </p:grpSp>
        <p:sp>
          <p:nvSpPr>
            <p:cNvPr name="TextBox 32" id="32"/>
            <p:cNvSpPr txBox="true"/>
            <p:nvPr/>
          </p:nvSpPr>
          <p:spPr>
            <a:xfrm rot="0">
              <a:off x="136949" y="695638"/>
              <a:ext cx="6832642" cy="12264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10"/>
                </a:lnSpc>
              </a:pPr>
              <a:r>
                <a:rPr lang="en-US" sz="1818">
                  <a:solidFill>
                    <a:srgbClr val="F5EFE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Hello //ที่อยู่จาก Heap ของ s</a:t>
              </a:r>
            </a:p>
            <a:p>
              <a:pPr algn="l">
                <a:lnSpc>
                  <a:spcPts val="2510"/>
                </a:lnSpc>
              </a:pPr>
              <a:r>
                <a:rPr lang="en-US" sz="1818">
                  <a:solidFill>
                    <a:srgbClr val="F5EFE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Hello //ที่อยู่จาก Heap ของ s</a:t>
              </a:r>
            </a:p>
            <a:p>
              <a:pPr algn="l">
                <a:lnSpc>
                  <a:spcPts val="2510"/>
                </a:lnSpc>
              </a:pPr>
              <a:r>
                <a:rPr lang="en-US" sz="1818">
                  <a:solidFill>
                    <a:srgbClr val="F5EFE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Hello //ที่อยู่จาก Heap ของ copied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0553854" y="4518279"/>
            <a:ext cx="884485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790D16"/>
                </a:solidFill>
                <a:latin typeface="Cambria"/>
                <a:ea typeface="Cambria"/>
                <a:cs typeface="Cambria"/>
                <a:sym typeface="Cambria"/>
              </a:rPr>
              <a:t>ptr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774115" y="5635371"/>
            <a:ext cx="884485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790D16"/>
                </a:solidFill>
                <a:latin typeface="Cambria"/>
                <a:ea typeface="Cambria"/>
                <a:cs typeface="Cambria"/>
                <a:sym typeface="Cambria"/>
              </a:rPr>
              <a:t>ptr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553854" y="7173582"/>
            <a:ext cx="884485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790D16"/>
                </a:solidFill>
                <a:latin typeface="Cambria"/>
                <a:ea typeface="Cambria"/>
                <a:cs typeface="Cambria"/>
                <a:sym typeface="Cambria"/>
              </a:rPr>
              <a:t>ptr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F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790D1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190500" y="0"/>
                  </a:moveTo>
                  <a:lnTo>
                    <a:pt x="5295900" y="0"/>
                  </a:lnTo>
                  <a:cubicBezTo>
                    <a:pt x="5401110" y="0"/>
                    <a:pt x="5486400" y="85290"/>
                    <a:pt x="5486400" y="190500"/>
                  </a:cubicBezTo>
                  <a:lnTo>
                    <a:pt x="5486400" y="577596"/>
                  </a:lnTo>
                  <a:cubicBezTo>
                    <a:pt x="5486400" y="682806"/>
                    <a:pt x="5401110" y="768096"/>
                    <a:pt x="5295900" y="768096"/>
                  </a:cubicBezTo>
                  <a:lnTo>
                    <a:pt x="190500" y="768096"/>
                  </a:lnTo>
                  <a:cubicBezTo>
                    <a:pt x="139976" y="768096"/>
                    <a:pt x="91522" y="748026"/>
                    <a:pt x="55796" y="712300"/>
                  </a:cubicBezTo>
                  <a:cubicBezTo>
                    <a:pt x="20070" y="676574"/>
                    <a:pt x="0" y="628120"/>
                    <a:pt x="0" y="577596"/>
                  </a:cubicBezTo>
                  <a:lnTo>
                    <a:pt x="0" y="190500"/>
                  </a:lnTo>
                  <a:cubicBezTo>
                    <a:pt x="0" y="85290"/>
                    <a:pt x="85290" y="0"/>
                    <a:pt x="190500" y="0"/>
                  </a:cubicBezTo>
                  <a:close/>
                </a:path>
              </a:pathLst>
            </a:custGeom>
            <a:solidFill>
              <a:srgbClr val="790D1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>
                  <a:solidFill>
                    <a:srgbClr val="F5EFE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1 · MEMBER 1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631525" y="7758184"/>
            <a:ext cx="7627775" cy="1720105"/>
            <a:chOff x="0" y="0"/>
            <a:chExt cx="10170367" cy="2293473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10170367" cy="474512"/>
              <a:chOff x="0" y="0"/>
              <a:chExt cx="11759184" cy="54864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1759184" cy="548640"/>
              </a:xfrm>
              <a:custGeom>
                <a:avLst/>
                <a:gdLst/>
                <a:ahLst/>
                <a:cxnLst/>
                <a:rect r="r" b="b" t="t" l="l"/>
                <a:pathLst>
                  <a:path h="548640" w="11759184">
                    <a:moveTo>
                      <a:pt x="0" y="0"/>
                    </a:moveTo>
                    <a:lnTo>
                      <a:pt x="11759184" y="0"/>
                    </a:lnTo>
                    <a:lnTo>
                      <a:pt x="11759184" y="548640"/>
                    </a:lnTo>
                    <a:lnTo>
                      <a:pt x="0" y="548640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367629" r="0" b="-367629"/>
                </a:stretch>
              </a:blip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11759184" cy="58674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160"/>
                  </a:lnSpc>
                </a:pPr>
                <a:r>
                  <a:rPr lang="en-US" b="true" sz="1800">
                    <a:solidFill>
                      <a:srgbClr val="790D16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ผลลัพธ์ที่คาดหวัง (Expected Output)</a:t>
                </a: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0" y="553597"/>
              <a:ext cx="10170367" cy="1739876"/>
              <a:chOff x="0" y="0"/>
              <a:chExt cx="11759184" cy="201168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1759185" cy="2011680"/>
              </a:xfrm>
              <a:custGeom>
                <a:avLst/>
                <a:gdLst/>
                <a:ahLst/>
                <a:cxnLst/>
                <a:rect r="r" b="b" t="t" l="l"/>
                <a:pathLst>
                  <a:path h="2011680" w="11759185">
                    <a:moveTo>
                      <a:pt x="0" y="109728"/>
                    </a:moveTo>
                    <a:cubicBezTo>
                      <a:pt x="0" y="49149"/>
                      <a:pt x="49149" y="0"/>
                      <a:pt x="109728" y="0"/>
                    </a:cubicBezTo>
                    <a:lnTo>
                      <a:pt x="11649456" y="0"/>
                    </a:lnTo>
                    <a:cubicBezTo>
                      <a:pt x="11710036" y="0"/>
                      <a:pt x="11759185" y="49149"/>
                      <a:pt x="11759185" y="109728"/>
                    </a:cubicBezTo>
                    <a:lnTo>
                      <a:pt x="11759185" y="1901952"/>
                    </a:lnTo>
                    <a:cubicBezTo>
                      <a:pt x="11759185" y="1962531"/>
                      <a:pt x="11710036" y="2011680"/>
                      <a:pt x="11649456" y="2011680"/>
                    </a:cubicBezTo>
                    <a:lnTo>
                      <a:pt x="109728" y="2011680"/>
                    </a:lnTo>
                    <a:cubicBezTo>
                      <a:pt x="49149" y="2011680"/>
                      <a:pt x="0" y="1962531"/>
                      <a:pt x="0" y="1901952"/>
                    </a:cubicBezTo>
                    <a:close/>
                  </a:path>
                </a:pathLst>
              </a:custGeom>
              <a:solidFill>
                <a:srgbClr val="121314"/>
              </a:solidFill>
            </p:spPr>
          </p:sp>
        </p:grpSp>
        <p:sp>
          <p:nvSpPr>
            <p:cNvPr name="TextBox 14" id="14"/>
            <p:cNvSpPr txBox="true"/>
            <p:nvPr/>
          </p:nvSpPr>
          <p:spPr>
            <a:xfrm rot="0">
              <a:off x="187997" y="651778"/>
              <a:ext cx="9379514" cy="15149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27"/>
                </a:lnSpc>
              </a:pPr>
              <a:r>
                <a:rPr lang="en-US" sz="1686">
                  <a:solidFill>
                    <a:srgbClr val="F5EFE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Slic</a:t>
              </a:r>
              <a:r>
                <a:rPr lang="en-US" sz="1686">
                  <a:solidFill>
                    <a:srgbClr val="F5EFE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es ได้ตัวเอง จะได้ Silpakorn</a:t>
              </a:r>
            </a:p>
            <a:p>
              <a:pPr algn="l">
                <a:lnSpc>
                  <a:spcPts val="2327"/>
                </a:lnSpc>
              </a:pPr>
              <a:r>
                <a:rPr lang="en-US" sz="1686">
                  <a:solidFill>
                    <a:srgbClr val="F5EFE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Slices ถึงตัวที่ 3 จะได้ Sil</a:t>
              </a:r>
            </a:p>
            <a:p>
              <a:pPr algn="l">
                <a:lnSpc>
                  <a:spcPts val="2327"/>
                </a:lnSpc>
              </a:pPr>
              <a:r>
                <a:rPr lang="en-US" sz="1686">
                  <a:solidFill>
                    <a:srgbClr val="F5EFE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Slices ตั้งแต่ตัวที่ 3 - 7 จะได้ pako</a:t>
              </a:r>
            </a:p>
            <a:p>
              <a:pPr algn="l">
                <a:lnSpc>
                  <a:spcPts val="2327"/>
                </a:lnSpc>
              </a:pPr>
              <a:r>
                <a:rPr lang="en-US" sz="1686">
                  <a:solidFill>
                    <a:srgbClr val="F5EFE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Slices ตั้งแต่ตัวที่ 7 เป็นต้นไป จะได้ rn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9631525" y="3126642"/>
            <a:ext cx="6830425" cy="4398904"/>
          </a:xfrm>
          <a:custGeom>
            <a:avLst/>
            <a:gdLst/>
            <a:ahLst/>
            <a:cxnLst/>
            <a:rect r="r" b="b" t="t" l="l"/>
            <a:pathLst>
              <a:path h="4398904" w="6830425">
                <a:moveTo>
                  <a:pt x="0" y="0"/>
                </a:moveTo>
                <a:lnTo>
                  <a:pt x="6830424" y="0"/>
                </a:lnTo>
                <a:lnTo>
                  <a:pt x="6830424" y="4398904"/>
                </a:lnTo>
                <a:lnTo>
                  <a:pt x="0" y="43989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870" t="-27665" r="-11107" b="-17794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028700" y="7758184"/>
            <a:ext cx="7627775" cy="1720105"/>
            <a:chOff x="0" y="0"/>
            <a:chExt cx="10170367" cy="2293473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10170367" cy="474512"/>
              <a:chOff x="0" y="0"/>
              <a:chExt cx="11759184" cy="54864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1759184" cy="548640"/>
              </a:xfrm>
              <a:custGeom>
                <a:avLst/>
                <a:gdLst/>
                <a:ahLst/>
                <a:cxnLst/>
                <a:rect r="r" b="b" t="t" l="l"/>
                <a:pathLst>
                  <a:path h="548640" w="11759184">
                    <a:moveTo>
                      <a:pt x="0" y="0"/>
                    </a:moveTo>
                    <a:lnTo>
                      <a:pt x="11759184" y="0"/>
                    </a:lnTo>
                    <a:lnTo>
                      <a:pt x="11759184" y="548640"/>
                    </a:lnTo>
                    <a:lnTo>
                      <a:pt x="0" y="548640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367629" r="0" b="-367629"/>
                </a:stretch>
              </a:blip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11759184" cy="58674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160"/>
                  </a:lnSpc>
                </a:pPr>
                <a:r>
                  <a:rPr lang="en-US" b="true" sz="1800">
                    <a:solidFill>
                      <a:srgbClr val="790D16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ผลลัพธ์ที่คาดหวัง (Expected Output)</a:t>
                </a: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0" y="553597"/>
              <a:ext cx="10170367" cy="1739876"/>
              <a:chOff x="0" y="0"/>
              <a:chExt cx="11759184" cy="201168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11759185" cy="2011680"/>
              </a:xfrm>
              <a:custGeom>
                <a:avLst/>
                <a:gdLst/>
                <a:ahLst/>
                <a:cxnLst/>
                <a:rect r="r" b="b" t="t" l="l"/>
                <a:pathLst>
                  <a:path h="2011680" w="11759185">
                    <a:moveTo>
                      <a:pt x="0" y="109728"/>
                    </a:moveTo>
                    <a:cubicBezTo>
                      <a:pt x="0" y="49149"/>
                      <a:pt x="49149" y="0"/>
                      <a:pt x="109728" y="0"/>
                    </a:cubicBezTo>
                    <a:lnTo>
                      <a:pt x="11649456" y="0"/>
                    </a:lnTo>
                    <a:cubicBezTo>
                      <a:pt x="11710036" y="0"/>
                      <a:pt x="11759185" y="49149"/>
                      <a:pt x="11759185" y="109728"/>
                    </a:cubicBezTo>
                    <a:lnTo>
                      <a:pt x="11759185" y="1901952"/>
                    </a:lnTo>
                    <a:cubicBezTo>
                      <a:pt x="11759185" y="1962531"/>
                      <a:pt x="11710036" y="2011680"/>
                      <a:pt x="11649456" y="2011680"/>
                    </a:cubicBezTo>
                    <a:lnTo>
                      <a:pt x="109728" y="2011680"/>
                    </a:lnTo>
                    <a:cubicBezTo>
                      <a:pt x="49149" y="2011680"/>
                      <a:pt x="0" y="1962531"/>
                      <a:pt x="0" y="1901952"/>
                    </a:cubicBezTo>
                    <a:close/>
                  </a:path>
                </a:pathLst>
              </a:custGeom>
              <a:solidFill>
                <a:srgbClr val="121314"/>
              </a:solidFill>
            </p:spPr>
          </p:sp>
        </p:grpSp>
        <p:sp>
          <p:nvSpPr>
            <p:cNvPr name="TextBox 22" id="22"/>
            <p:cNvSpPr txBox="true"/>
            <p:nvPr/>
          </p:nvSpPr>
          <p:spPr>
            <a:xfrm rot="0">
              <a:off x="187997" y="651778"/>
              <a:ext cx="9379514" cy="11304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27"/>
                </a:lnSpc>
              </a:pPr>
              <a:r>
                <a:rPr lang="en-US" sz="1686">
                  <a:solidFill>
                    <a:srgbClr val="F5EFE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[20 , 30 , 40] //ยืมอ่านค่าใน stack ของ array</a:t>
              </a:r>
            </a:p>
            <a:p>
              <a:pPr algn="l">
                <a:lnSpc>
                  <a:spcPts val="2327"/>
                </a:lnSpc>
              </a:pPr>
              <a:r>
                <a:rPr lang="en-US" sz="1686">
                  <a:solidFill>
                    <a:srgbClr val="F5EFE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[20 , 30 , 40] //ยืมอ่านค่าใน heap ของ vector</a:t>
              </a:r>
            </a:p>
            <a:p>
              <a:pPr algn="l">
                <a:lnSpc>
                  <a:spcPts val="2327"/>
                </a:lnSpc>
              </a:pPr>
              <a:r>
                <a:rPr lang="en-US" sz="1686">
                  <a:solidFill>
                    <a:srgbClr val="F5EFE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[10 , 20 , 30 , 40 , 50] //ก็อปปี้มาเลยจากตัวตั้งต้น</a:t>
              </a: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1028700" y="3812793"/>
            <a:ext cx="6104263" cy="3026602"/>
          </a:xfrm>
          <a:custGeom>
            <a:avLst/>
            <a:gdLst/>
            <a:ahLst/>
            <a:cxnLst/>
            <a:rect r="r" b="b" t="t" l="l"/>
            <a:pathLst>
              <a:path h="3026602" w="6104263">
                <a:moveTo>
                  <a:pt x="0" y="0"/>
                </a:moveTo>
                <a:lnTo>
                  <a:pt x="6104263" y="0"/>
                </a:lnTo>
                <a:lnTo>
                  <a:pt x="6104263" y="3026602"/>
                </a:lnTo>
                <a:lnTo>
                  <a:pt x="0" y="30266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4248" t="-51122" r="-99493" b="-32398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5330808" y="676275"/>
            <a:ext cx="5061876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0"/>
              </a:lnSpc>
              <a:spcBef>
                <a:spcPct val="0"/>
              </a:spcBef>
            </a:pPr>
            <a:r>
              <a:rPr lang="en-US" b="true" sz="4500">
                <a:solidFill>
                  <a:srgbClr val="8B2E2E"/>
                </a:solidFill>
                <a:latin typeface="Prompt Bold"/>
                <a:ea typeface="Prompt Bold"/>
                <a:cs typeface="Prompt Bold"/>
                <a:sym typeface="Prompt Bold"/>
              </a:rPr>
              <a:t>SLICES</a:t>
            </a:r>
            <a:r>
              <a:rPr lang="en-US" b="true" sz="4500">
                <a:solidFill>
                  <a:srgbClr val="8B2E2E"/>
                </a:solidFill>
                <a:latin typeface="Prompt Bold"/>
                <a:ea typeface="Prompt Bold"/>
                <a:cs typeface="Prompt Bold"/>
                <a:sym typeface="Prompt Bold"/>
              </a:rPr>
              <a:t> (CONCEPT)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28700" y="1686861"/>
            <a:ext cx="16232981" cy="1024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1" indent="-280670" lvl="1">
              <a:lnSpc>
                <a:spcPts val="3900"/>
              </a:lnSpc>
              <a:buFont typeface="Arial"/>
              <a:buChar char="•"/>
            </a:pPr>
            <a:r>
              <a:rPr lang="en-US" sz="2600">
                <a:solidFill>
                  <a:srgbClr val="790D16"/>
                </a:solidFill>
                <a:latin typeface="Calibri (MS)"/>
                <a:ea typeface="Calibri (MS)"/>
                <a:cs typeface="Calibri (MS)"/>
                <a:sym typeface="Calibri (MS)"/>
              </a:rPr>
              <a:t>Slice ไม่ใช่การแย่ง owner หรือการแก้ค่าแต่อย่างใด แต่มันแค่การขออ่านค่าตรงตำแหน่งที่ i จนถึงตำแหน่งที่ j</a:t>
            </a:r>
          </a:p>
          <a:p>
            <a:pPr algn="l" marL="561341" indent="-280670" lvl="1">
              <a:lnSpc>
                <a:spcPts val="3900"/>
              </a:lnSpc>
              <a:buFont typeface="Arial"/>
              <a:buChar char="•"/>
            </a:pPr>
            <a:r>
              <a:rPr lang="en-US" sz="2600">
                <a:solidFill>
                  <a:srgbClr val="790D16"/>
                </a:solidFill>
                <a:latin typeface="Calibri (MS)"/>
                <a:ea typeface="Calibri (MS)"/>
                <a:cs typeface="Calibri (MS)"/>
                <a:sym typeface="Calibri (MS)"/>
              </a:rPr>
              <a:t>เช่น &amp;s[1..3] แปลว่าจะขออ่านค่า ตั้งแต่ตัวที่ 1 จนถึงตัวที่ 2 ซึ่งมีความยาว = 2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790D1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F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790D1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190500" y="0"/>
                  </a:moveTo>
                  <a:lnTo>
                    <a:pt x="5295900" y="0"/>
                  </a:lnTo>
                  <a:cubicBezTo>
                    <a:pt x="5401110" y="0"/>
                    <a:pt x="5486400" y="85290"/>
                    <a:pt x="5486400" y="190500"/>
                  </a:cubicBezTo>
                  <a:lnTo>
                    <a:pt x="5486400" y="577596"/>
                  </a:lnTo>
                  <a:cubicBezTo>
                    <a:pt x="5486400" y="682806"/>
                    <a:pt x="5401110" y="768096"/>
                    <a:pt x="5295900" y="768096"/>
                  </a:cubicBezTo>
                  <a:lnTo>
                    <a:pt x="190500" y="768096"/>
                  </a:lnTo>
                  <a:cubicBezTo>
                    <a:pt x="139976" y="768096"/>
                    <a:pt x="91522" y="748026"/>
                    <a:pt x="55796" y="712300"/>
                  </a:cubicBezTo>
                  <a:cubicBezTo>
                    <a:pt x="20070" y="676574"/>
                    <a:pt x="0" y="628120"/>
                    <a:pt x="0" y="577596"/>
                  </a:cubicBezTo>
                  <a:lnTo>
                    <a:pt x="0" y="190500"/>
                  </a:lnTo>
                  <a:cubicBezTo>
                    <a:pt x="0" y="85290"/>
                    <a:pt x="85290" y="0"/>
                    <a:pt x="190500" y="0"/>
                  </a:cubicBezTo>
                  <a:close/>
                </a:path>
              </a:pathLst>
            </a:custGeom>
            <a:solidFill>
              <a:srgbClr val="790D1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>
                  <a:solidFill>
                    <a:srgbClr val="F5EFE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1 · MEMBER 1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392684" y="7814167"/>
            <a:ext cx="6866616" cy="1722460"/>
            <a:chOff x="0" y="0"/>
            <a:chExt cx="9155488" cy="2296614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9155488" cy="480793"/>
              <a:chOff x="0" y="0"/>
              <a:chExt cx="10585760" cy="555902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0585759" cy="555902"/>
              </a:xfrm>
              <a:custGeom>
                <a:avLst/>
                <a:gdLst/>
                <a:ahLst/>
                <a:cxnLst/>
                <a:rect r="r" b="b" t="t" l="l"/>
                <a:pathLst>
                  <a:path h="555902" w="10585759">
                    <a:moveTo>
                      <a:pt x="0" y="0"/>
                    </a:moveTo>
                    <a:lnTo>
                      <a:pt x="10585759" y="0"/>
                    </a:lnTo>
                    <a:lnTo>
                      <a:pt x="10585759" y="555902"/>
                    </a:lnTo>
                    <a:lnTo>
                      <a:pt x="0" y="555902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362826" r="-11084" b="-361520"/>
                </a:stretch>
              </a:blip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10585760" cy="59400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160"/>
                  </a:lnSpc>
                </a:pPr>
                <a:r>
                  <a:rPr lang="en-US" b="true" sz="1800">
                    <a:solidFill>
                      <a:srgbClr val="790D16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ผลลัพธ์ที่คาดหวัง (Expected Output)</a:t>
                </a: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0" y="556737"/>
              <a:ext cx="9155488" cy="1739876"/>
              <a:chOff x="0" y="0"/>
              <a:chExt cx="10585760" cy="201168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0585760" cy="2011680"/>
              </a:xfrm>
              <a:custGeom>
                <a:avLst/>
                <a:gdLst/>
                <a:ahLst/>
                <a:cxnLst/>
                <a:rect r="r" b="b" t="t" l="l"/>
                <a:pathLst>
                  <a:path h="2011680" w="10585760">
                    <a:moveTo>
                      <a:pt x="0" y="109728"/>
                    </a:moveTo>
                    <a:cubicBezTo>
                      <a:pt x="0" y="49149"/>
                      <a:pt x="44245" y="0"/>
                      <a:pt x="98778" y="0"/>
                    </a:cubicBezTo>
                    <a:lnTo>
                      <a:pt x="10486982" y="0"/>
                    </a:lnTo>
                    <a:cubicBezTo>
                      <a:pt x="10541515" y="0"/>
                      <a:pt x="10585760" y="49149"/>
                      <a:pt x="10585760" y="109728"/>
                    </a:cubicBezTo>
                    <a:lnTo>
                      <a:pt x="10585760" y="1901952"/>
                    </a:lnTo>
                    <a:cubicBezTo>
                      <a:pt x="10585760" y="1962531"/>
                      <a:pt x="10541515" y="2011680"/>
                      <a:pt x="10486982" y="2011680"/>
                    </a:cubicBezTo>
                    <a:lnTo>
                      <a:pt x="98778" y="2011680"/>
                    </a:lnTo>
                    <a:cubicBezTo>
                      <a:pt x="44245" y="2011680"/>
                      <a:pt x="0" y="1962531"/>
                      <a:pt x="0" y="1901952"/>
                    </a:cubicBezTo>
                    <a:close/>
                  </a:path>
                </a:pathLst>
              </a:custGeom>
              <a:solidFill>
                <a:srgbClr val="121314"/>
              </a:solidFill>
            </p:spPr>
          </p:sp>
        </p:grpSp>
        <p:sp>
          <p:nvSpPr>
            <p:cNvPr name="TextBox 14" id="14"/>
            <p:cNvSpPr txBox="true"/>
            <p:nvPr/>
          </p:nvSpPr>
          <p:spPr>
            <a:xfrm rot="0">
              <a:off x="169237" y="654919"/>
              <a:ext cx="8443552" cy="7460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27"/>
                </a:lnSpc>
              </a:pPr>
              <a:r>
                <a:rPr lang="en-US" sz="1686">
                  <a:solidFill>
                    <a:srgbClr val="F5EFE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Vec: [10, 1, -20, 40]</a:t>
              </a:r>
            </a:p>
            <a:p>
              <a:pPr algn="l">
                <a:lnSpc>
                  <a:spcPts val="2327"/>
                </a:lnSpc>
              </a:pPr>
              <a:r>
                <a:rPr lang="en-US" sz="1686">
                  <a:solidFill>
                    <a:srgbClr val="F5EFE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String: hEELo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0375372" y="2711751"/>
            <a:ext cx="6883928" cy="4686516"/>
          </a:xfrm>
          <a:custGeom>
            <a:avLst/>
            <a:gdLst/>
            <a:ahLst/>
            <a:cxnLst/>
            <a:rect r="r" b="b" t="t" l="l"/>
            <a:pathLst>
              <a:path h="4686516" w="6883928">
                <a:moveTo>
                  <a:pt x="0" y="0"/>
                </a:moveTo>
                <a:lnTo>
                  <a:pt x="6883928" y="0"/>
                </a:lnTo>
                <a:lnTo>
                  <a:pt x="6883928" y="4686516"/>
                </a:lnTo>
                <a:lnTo>
                  <a:pt x="0" y="46865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511" t="-16355" r="-13367" b="-22902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5330808" y="676275"/>
            <a:ext cx="5061876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0"/>
              </a:lnSpc>
              <a:spcBef>
                <a:spcPct val="0"/>
              </a:spcBef>
            </a:pPr>
            <a:r>
              <a:rPr lang="en-US" b="true" sz="4500">
                <a:solidFill>
                  <a:srgbClr val="8B2E2E"/>
                </a:solidFill>
                <a:latin typeface="Prompt Bold"/>
                <a:ea typeface="Prompt Bold"/>
                <a:cs typeface="Prompt Bold"/>
                <a:sym typeface="Prompt Bold"/>
              </a:rPr>
              <a:t>SLICES</a:t>
            </a:r>
            <a:r>
              <a:rPr lang="en-US" b="true" sz="4500">
                <a:solidFill>
                  <a:srgbClr val="8B2E2E"/>
                </a:solidFill>
                <a:latin typeface="Prompt Bold"/>
                <a:ea typeface="Prompt Bold"/>
                <a:cs typeface="Prompt Bold"/>
                <a:sym typeface="Prompt Bold"/>
              </a:rPr>
              <a:t> (CONCEPT)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1686861"/>
            <a:ext cx="16232981" cy="1024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1" indent="-280670" lvl="1">
              <a:lnSpc>
                <a:spcPts val="3900"/>
              </a:lnSpc>
              <a:buFont typeface="Arial"/>
              <a:buChar char="•"/>
            </a:pPr>
            <a:r>
              <a:rPr lang="en-US" sz="2600">
                <a:solidFill>
                  <a:srgbClr val="790D16"/>
                </a:solidFill>
                <a:latin typeface="Calibri (MS)"/>
                <a:ea typeface="Calibri (MS)"/>
                <a:cs typeface="Calibri (MS)"/>
                <a:sym typeface="Calibri (MS)"/>
              </a:rPr>
              <a:t>Mutable Slice : สามารถแก้ไขค่าที่ slice ออกมาจากข้อมูลหลักได้ หากแก้ไข ตัวข้อมูลหลักจะถูกแก้ไขตามไปด้วย</a:t>
            </a:r>
          </a:p>
          <a:p>
            <a:pPr algn="l" marL="561341" indent="-280670" lvl="1">
              <a:lnSpc>
                <a:spcPts val="3900"/>
              </a:lnSpc>
              <a:buFont typeface="Arial"/>
              <a:buChar char="•"/>
            </a:pPr>
            <a:r>
              <a:rPr lang="en-US" sz="2600">
                <a:solidFill>
                  <a:srgbClr val="790D16"/>
                </a:solidFill>
                <a:latin typeface="Calibri (MS)"/>
                <a:ea typeface="Calibri (MS)"/>
                <a:cs typeface="Calibri (MS)"/>
                <a:sym typeface="Calibri (MS)"/>
              </a:rPr>
              <a:t>ไม่สามารถ เพิ่ม - ลด ความยาวของตัว slice ได้</a:t>
            </a:r>
          </a:p>
        </p:txBody>
      </p:sp>
      <p:graphicFrame>
        <p:nvGraphicFramePr>
          <p:cNvPr name="Table 18" id="18"/>
          <p:cNvGraphicFramePr>
            <a:graphicFrameLocks noGrp="true"/>
          </p:cNvGraphicFramePr>
          <p:nvPr/>
        </p:nvGraphicFramePr>
        <p:xfrm>
          <a:off x="1028700" y="4007259"/>
          <a:ext cx="2376806" cy="2095500"/>
        </p:xfrm>
        <a:graphic>
          <a:graphicData uri="http://schemas.openxmlformats.org/drawingml/2006/table">
            <a:tbl>
              <a:tblPr/>
              <a:tblGrid>
                <a:gridCol w="811923"/>
              </a:tblGrid>
              <a:tr h="10477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790D1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numbers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790D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477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790D1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part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19" id="19"/>
          <p:cNvSpPr txBox="true"/>
          <p:nvPr/>
        </p:nvSpPr>
        <p:spPr>
          <a:xfrm rot="0">
            <a:off x="1028700" y="3273726"/>
            <a:ext cx="2376806" cy="547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790D16"/>
                </a:solidFill>
                <a:latin typeface="Cambria"/>
                <a:ea typeface="Cambria"/>
                <a:cs typeface="Cambria"/>
                <a:sym typeface="Cambria"/>
              </a:rPr>
              <a:t>Stack</a:t>
            </a:r>
          </a:p>
        </p:txBody>
      </p:sp>
      <p:graphicFrame>
        <p:nvGraphicFramePr>
          <p:cNvPr name="Table 20" id="20"/>
          <p:cNvGraphicFramePr>
            <a:graphicFrameLocks noGrp="true"/>
          </p:cNvGraphicFramePr>
          <p:nvPr/>
        </p:nvGraphicFramePr>
        <p:xfrm>
          <a:off x="4437590" y="3962661"/>
          <a:ext cx="4706410" cy="1076325"/>
        </p:xfrm>
        <a:graphic>
          <a:graphicData uri="http://schemas.openxmlformats.org/drawingml/2006/table">
            <a:tbl>
              <a:tblPr/>
              <a:tblGrid>
                <a:gridCol w="1155770"/>
                <a:gridCol w="1176069"/>
                <a:gridCol w="1140267"/>
                <a:gridCol w="1234303"/>
              </a:tblGrid>
              <a:tr h="103565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790D16"/>
                          </a:solidFill>
                          <a:latin typeface="Prompt"/>
                          <a:ea typeface="Prompt"/>
                          <a:cs typeface="Prompt"/>
                          <a:sym typeface="Prompt"/>
                        </a:rPr>
                        <a:t>10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790D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790D16"/>
                          </a:solidFill>
                          <a:latin typeface="Prompt"/>
                          <a:ea typeface="Prompt"/>
                          <a:cs typeface="Prompt"/>
                          <a:sym typeface="Prompt"/>
                        </a:rPr>
                        <a:t>2</a:t>
                      </a:r>
                      <a:r>
                        <a:rPr lang="en-US" sz="2799">
                          <a:solidFill>
                            <a:srgbClr val="790D16"/>
                          </a:solidFill>
                          <a:latin typeface="Prompt"/>
                          <a:ea typeface="Prompt"/>
                          <a:cs typeface="Prompt"/>
                          <a:sym typeface="Prompt"/>
                        </a:rPr>
                        <a:t>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790D16"/>
                          </a:solidFill>
                          <a:latin typeface="Prompt"/>
                          <a:ea typeface="Prompt"/>
                          <a:cs typeface="Prompt"/>
                          <a:sym typeface="Prompt"/>
                        </a:rPr>
                        <a:t>3</a:t>
                      </a:r>
                      <a:r>
                        <a:rPr lang="en-US" sz="2799">
                          <a:solidFill>
                            <a:srgbClr val="790D16"/>
                          </a:solidFill>
                          <a:latin typeface="Prompt"/>
                          <a:ea typeface="Prompt"/>
                          <a:cs typeface="Prompt"/>
                          <a:sym typeface="Prompt"/>
                        </a:rPr>
                        <a:t>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790D16"/>
                          </a:solidFill>
                          <a:latin typeface="Prompt"/>
                          <a:ea typeface="Prompt"/>
                          <a:cs typeface="Prompt"/>
                          <a:sym typeface="Prompt"/>
                        </a:rPr>
                        <a:t>4</a:t>
                      </a:r>
                      <a:r>
                        <a:rPr lang="en-US" sz="2799">
                          <a:solidFill>
                            <a:srgbClr val="790D16"/>
                          </a:solidFill>
                          <a:latin typeface="Prompt"/>
                          <a:ea typeface="Prompt"/>
                          <a:cs typeface="Prompt"/>
                          <a:sym typeface="Prompt"/>
                        </a:rPr>
                        <a:t>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AutoShape 21" id="21"/>
          <p:cNvSpPr/>
          <p:nvPr/>
        </p:nvSpPr>
        <p:spPr>
          <a:xfrm>
            <a:off x="3405506" y="4500823"/>
            <a:ext cx="1032084" cy="0"/>
          </a:xfrm>
          <a:prstGeom prst="line">
            <a:avLst/>
          </a:prstGeom>
          <a:ln cap="flat" w="38100">
            <a:solidFill>
              <a:srgbClr val="790D16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22" id="22"/>
          <p:cNvSpPr/>
          <p:nvPr/>
        </p:nvSpPr>
        <p:spPr>
          <a:xfrm>
            <a:off x="3405506" y="5618445"/>
            <a:ext cx="2766694" cy="0"/>
          </a:xfrm>
          <a:prstGeom prst="line">
            <a:avLst/>
          </a:prstGeom>
          <a:ln cap="flat" w="38100">
            <a:solidFill>
              <a:srgbClr val="790D1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 flipH="true" flipV="true">
            <a:off x="6172200" y="5016219"/>
            <a:ext cx="0" cy="602226"/>
          </a:xfrm>
          <a:prstGeom prst="line">
            <a:avLst/>
          </a:prstGeom>
          <a:ln cap="flat" w="38100">
            <a:solidFill>
              <a:srgbClr val="790D16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24" id="24"/>
          <p:cNvSpPr txBox="true"/>
          <p:nvPr/>
        </p:nvSpPr>
        <p:spPr>
          <a:xfrm rot="0">
            <a:off x="3479306" y="3940584"/>
            <a:ext cx="884485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790D16"/>
                </a:solidFill>
                <a:latin typeface="Cambria"/>
                <a:ea typeface="Cambria"/>
                <a:cs typeface="Cambria"/>
                <a:sym typeface="Cambria"/>
              </a:rPr>
              <a:t>ptr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358357" y="5618445"/>
            <a:ext cx="884485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790D16"/>
                </a:solidFill>
                <a:latin typeface="Cambria"/>
                <a:ea typeface="Cambria"/>
                <a:cs typeface="Cambria"/>
                <a:sym typeface="Cambria"/>
              </a:rPr>
              <a:t>ptr</a:t>
            </a:r>
          </a:p>
        </p:txBody>
      </p:sp>
      <p:graphicFrame>
        <p:nvGraphicFramePr>
          <p:cNvPr name="Table 26" id="26"/>
          <p:cNvGraphicFramePr>
            <a:graphicFrameLocks noGrp="true"/>
          </p:cNvGraphicFramePr>
          <p:nvPr/>
        </p:nvGraphicFramePr>
        <p:xfrm>
          <a:off x="4437590" y="6860105"/>
          <a:ext cx="4706410" cy="1076325"/>
        </p:xfrm>
        <a:graphic>
          <a:graphicData uri="http://schemas.openxmlformats.org/drawingml/2006/table">
            <a:tbl>
              <a:tblPr/>
              <a:tblGrid>
                <a:gridCol w="1155770"/>
                <a:gridCol w="1176069"/>
                <a:gridCol w="1140267"/>
                <a:gridCol w="1234303"/>
              </a:tblGrid>
              <a:tr h="103565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790D16"/>
                          </a:solidFill>
                          <a:latin typeface="Prompt"/>
                          <a:ea typeface="Prompt"/>
                          <a:cs typeface="Prompt"/>
                          <a:sym typeface="Prompt"/>
                        </a:rPr>
                        <a:t>10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790D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790D16"/>
                          </a:solidFill>
                          <a:latin typeface="Prompt"/>
                          <a:ea typeface="Prompt"/>
                          <a:cs typeface="Prompt"/>
                          <a:sym typeface="Prompt"/>
                        </a:rPr>
                        <a:t>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790D16"/>
                          </a:solidFill>
                          <a:latin typeface="Prompt"/>
                          <a:ea typeface="Prompt"/>
                          <a:cs typeface="Prompt"/>
                          <a:sym typeface="Prompt"/>
                        </a:rPr>
                        <a:t>-</a:t>
                      </a:r>
                      <a:r>
                        <a:rPr lang="en-US" sz="2799">
                          <a:solidFill>
                            <a:srgbClr val="790D16"/>
                          </a:solidFill>
                          <a:latin typeface="Prompt"/>
                          <a:ea typeface="Prompt"/>
                          <a:cs typeface="Prompt"/>
                          <a:sym typeface="Prompt"/>
                        </a:rPr>
                        <a:t>20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790D16"/>
                          </a:solidFill>
                          <a:latin typeface="Prompt"/>
                          <a:ea typeface="Prompt"/>
                          <a:cs typeface="Prompt"/>
                          <a:sym typeface="Prompt"/>
                        </a:rPr>
                        <a:t>4</a:t>
                      </a:r>
                      <a:r>
                        <a:rPr lang="en-US" sz="2799">
                          <a:solidFill>
                            <a:srgbClr val="790D16"/>
                          </a:solidFill>
                          <a:latin typeface="Prompt"/>
                          <a:ea typeface="Prompt"/>
                          <a:cs typeface="Prompt"/>
                          <a:sym typeface="Prompt"/>
                        </a:rPr>
                        <a:t>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27" id="27"/>
          <p:cNvSpPr txBox="true"/>
          <p:nvPr/>
        </p:nvSpPr>
        <p:spPr>
          <a:xfrm rot="0">
            <a:off x="3927510" y="3273726"/>
            <a:ext cx="5726570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790D16"/>
                </a:solidFill>
                <a:latin typeface="Cambria"/>
                <a:ea typeface="Cambria"/>
                <a:cs typeface="Cambria"/>
                <a:sym typeface="Cambria"/>
              </a:rPr>
              <a:t>Heap ของ numbers ก่อนถูกเปลี่ยนค่า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927510" y="6242650"/>
            <a:ext cx="5726570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790D16"/>
                </a:solidFill>
                <a:latin typeface="Cambria"/>
                <a:ea typeface="Cambria"/>
                <a:cs typeface="Cambria"/>
                <a:sym typeface="Cambria"/>
              </a:rPr>
              <a:t>Heap ของ numbers หลังเปลี่ยนค่า</a:t>
            </a:r>
          </a:p>
        </p:txBody>
      </p:sp>
      <p:graphicFrame>
        <p:nvGraphicFramePr>
          <p:cNvPr name="Table 29" id="29"/>
          <p:cNvGraphicFramePr>
            <a:graphicFrameLocks noGrp="true"/>
          </p:cNvGraphicFramePr>
          <p:nvPr/>
        </p:nvGraphicFramePr>
        <p:xfrm>
          <a:off x="1028700" y="6859094"/>
          <a:ext cx="2376806" cy="2095500"/>
        </p:xfrm>
        <a:graphic>
          <a:graphicData uri="http://schemas.openxmlformats.org/drawingml/2006/table">
            <a:tbl>
              <a:tblPr/>
              <a:tblGrid>
                <a:gridCol w="811923"/>
              </a:tblGrid>
              <a:tr h="10477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790D1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numbers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790D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477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790D1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part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30" id="30"/>
          <p:cNvSpPr txBox="true"/>
          <p:nvPr/>
        </p:nvSpPr>
        <p:spPr>
          <a:xfrm rot="0">
            <a:off x="1028700" y="6242650"/>
            <a:ext cx="2376806" cy="547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790D16"/>
                </a:solidFill>
                <a:latin typeface="Cambria"/>
                <a:ea typeface="Cambria"/>
                <a:cs typeface="Cambria"/>
                <a:sym typeface="Cambria"/>
              </a:rPr>
              <a:t>Stack</a:t>
            </a:r>
          </a:p>
        </p:txBody>
      </p:sp>
      <p:sp>
        <p:nvSpPr>
          <p:cNvPr name="AutoShape 31" id="31"/>
          <p:cNvSpPr/>
          <p:nvPr/>
        </p:nvSpPr>
        <p:spPr>
          <a:xfrm flipV="true">
            <a:off x="3405506" y="8503273"/>
            <a:ext cx="2802417" cy="0"/>
          </a:xfrm>
          <a:prstGeom prst="line">
            <a:avLst/>
          </a:prstGeom>
          <a:ln cap="flat" w="38100">
            <a:solidFill>
              <a:srgbClr val="790D1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2" id="32"/>
          <p:cNvSpPr/>
          <p:nvPr/>
        </p:nvSpPr>
        <p:spPr>
          <a:xfrm flipV="true">
            <a:off x="6207923" y="7936430"/>
            <a:ext cx="0" cy="566844"/>
          </a:xfrm>
          <a:prstGeom prst="line">
            <a:avLst/>
          </a:prstGeom>
          <a:ln cap="flat" w="38100">
            <a:solidFill>
              <a:srgbClr val="790D16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3" id="33"/>
          <p:cNvSpPr/>
          <p:nvPr/>
        </p:nvSpPr>
        <p:spPr>
          <a:xfrm>
            <a:off x="3405506" y="7398267"/>
            <a:ext cx="1032084" cy="0"/>
          </a:xfrm>
          <a:prstGeom prst="line">
            <a:avLst/>
          </a:prstGeom>
          <a:ln cap="flat" w="38100">
            <a:solidFill>
              <a:srgbClr val="790D16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34" id="34"/>
          <p:cNvSpPr txBox="true"/>
          <p:nvPr/>
        </p:nvSpPr>
        <p:spPr>
          <a:xfrm rot="0">
            <a:off x="3485267" y="6866855"/>
            <a:ext cx="884485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790D16"/>
                </a:solidFill>
                <a:latin typeface="Cambria"/>
                <a:ea typeface="Cambria"/>
                <a:cs typeface="Cambria"/>
                <a:sym typeface="Cambria"/>
              </a:rPr>
              <a:t>ptr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4358357" y="8544914"/>
            <a:ext cx="884485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790D16"/>
                </a:solidFill>
                <a:latin typeface="Cambria"/>
                <a:ea typeface="Cambria"/>
                <a:cs typeface="Cambria"/>
                <a:sym typeface="Cambria"/>
              </a:rPr>
              <a:t>ptr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790D1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 show="false">
  <p:cSld>
    <p:bg>
      <p:bgPr>
        <a:solidFill>
          <a:srgbClr val="F5EF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790D1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190500" y="0"/>
                  </a:moveTo>
                  <a:lnTo>
                    <a:pt x="5295900" y="0"/>
                  </a:lnTo>
                  <a:cubicBezTo>
                    <a:pt x="5401110" y="0"/>
                    <a:pt x="5486400" y="85290"/>
                    <a:pt x="5486400" y="190500"/>
                  </a:cubicBezTo>
                  <a:lnTo>
                    <a:pt x="5486400" y="577596"/>
                  </a:lnTo>
                  <a:cubicBezTo>
                    <a:pt x="5486400" y="682806"/>
                    <a:pt x="5401110" y="768096"/>
                    <a:pt x="5295900" y="768096"/>
                  </a:cubicBezTo>
                  <a:lnTo>
                    <a:pt x="190500" y="768096"/>
                  </a:lnTo>
                  <a:cubicBezTo>
                    <a:pt x="139976" y="768096"/>
                    <a:pt x="91522" y="748026"/>
                    <a:pt x="55796" y="712300"/>
                  </a:cubicBezTo>
                  <a:cubicBezTo>
                    <a:pt x="20070" y="676574"/>
                    <a:pt x="0" y="628120"/>
                    <a:pt x="0" y="577596"/>
                  </a:cubicBezTo>
                  <a:lnTo>
                    <a:pt x="0" y="190500"/>
                  </a:lnTo>
                  <a:cubicBezTo>
                    <a:pt x="0" y="85290"/>
                    <a:pt x="85290" y="0"/>
                    <a:pt x="190500" y="0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>
                  <a:solidFill>
                    <a:srgbClr val="F5EFE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1 · MEMBER 1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371330" y="7403225"/>
            <a:ext cx="8226298" cy="1855075"/>
            <a:chOff x="0" y="0"/>
            <a:chExt cx="10968398" cy="2473433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10968398" cy="511745"/>
              <a:chOff x="0" y="0"/>
              <a:chExt cx="11759184" cy="54864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1759184" cy="548640"/>
              </a:xfrm>
              <a:custGeom>
                <a:avLst/>
                <a:gdLst/>
                <a:ahLst/>
                <a:cxnLst/>
                <a:rect r="r" b="b" t="t" l="l"/>
                <a:pathLst>
                  <a:path h="548640" w="11759184">
                    <a:moveTo>
                      <a:pt x="0" y="0"/>
                    </a:moveTo>
                    <a:lnTo>
                      <a:pt x="11759184" y="0"/>
                    </a:lnTo>
                    <a:lnTo>
                      <a:pt x="11759184" y="548640"/>
                    </a:lnTo>
                    <a:lnTo>
                      <a:pt x="0" y="54864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367629" r="0" b="-367629"/>
                </a:stretch>
              </a:blip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11759184" cy="58674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159"/>
                  </a:lnSpc>
                </a:pPr>
                <a:r>
                  <a:rPr lang="en-US" b="true" sz="1799">
                    <a:solidFill>
                      <a:srgbClr val="790D16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ผลลัพธ์ที่คาดหวัง (Expected Output)</a:t>
                </a: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0" y="597036"/>
              <a:ext cx="10968398" cy="1876398"/>
              <a:chOff x="0" y="0"/>
              <a:chExt cx="11759184" cy="201168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1759185" cy="2011680"/>
              </a:xfrm>
              <a:custGeom>
                <a:avLst/>
                <a:gdLst/>
                <a:ahLst/>
                <a:cxnLst/>
                <a:rect r="r" b="b" t="t" l="l"/>
                <a:pathLst>
                  <a:path h="2011680" w="11759185">
                    <a:moveTo>
                      <a:pt x="0" y="109728"/>
                    </a:moveTo>
                    <a:cubicBezTo>
                      <a:pt x="0" y="49149"/>
                      <a:pt x="49149" y="0"/>
                      <a:pt x="109728" y="0"/>
                    </a:cubicBezTo>
                    <a:lnTo>
                      <a:pt x="11649456" y="0"/>
                    </a:lnTo>
                    <a:cubicBezTo>
                      <a:pt x="11710036" y="0"/>
                      <a:pt x="11759185" y="49149"/>
                      <a:pt x="11759185" y="109728"/>
                    </a:cubicBezTo>
                    <a:lnTo>
                      <a:pt x="11759185" y="1901952"/>
                    </a:lnTo>
                    <a:cubicBezTo>
                      <a:pt x="11759185" y="1962531"/>
                      <a:pt x="11710036" y="2011680"/>
                      <a:pt x="11649456" y="2011680"/>
                    </a:cubicBezTo>
                    <a:lnTo>
                      <a:pt x="109728" y="2011680"/>
                    </a:lnTo>
                    <a:cubicBezTo>
                      <a:pt x="49149" y="2011680"/>
                      <a:pt x="0" y="1962531"/>
                      <a:pt x="0" y="1901952"/>
                    </a:cubicBezTo>
                    <a:close/>
                  </a:path>
                </a:pathLst>
              </a:custGeom>
              <a:solidFill>
                <a:srgbClr val="121314"/>
              </a:solidFill>
            </p:spPr>
          </p:sp>
        </p:grpSp>
        <p:sp>
          <p:nvSpPr>
            <p:cNvPr name="TextBox 13" id="13"/>
            <p:cNvSpPr txBox="true"/>
            <p:nvPr/>
          </p:nvSpPr>
          <p:spPr>
            <a:xfrm rot="0">
              <a:off x="202749" y="695638"/>
              <a:ext cx="10115490" cy="16410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10"/>
                </a:lnSpc>
              </a:pPr>
              <a:r>
                <a:rPr lang="en-US" sz="1818">
                  <a:solidFill>
                    <a:srgbClr val="F5EFE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Slic</a:t>
              </a:r>
              <a:r>
                <a:rPr lang="en-US" sz="1818">
                  <a:solidFill>
                    <a:srgbClr val="F5EFE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es ได้ตัวเอง จะได้ Silpakorn</a:t>
              </a:r>
            </a:p>
            <a:p>
              <a:pPr algn="l">
                <a:lnSpc>
                  <a:spcPts val="2510"/>
                </a:lnSpc>
              </a:pPr>
              <a:r>
                <a:rPr lang="en-US" sz="1818">
                  <a:solidFill>
                    <a:srgbClr val="F5EFE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Slices ถึงตัวที่ 3 จะได้ Sil</a:t>
              </a:r>
            </a:p>
            <a:p>
              <a:pPr algn="l">
                <a:lnSpc>
                  <a:spcPts val="2510"/>
                </a:lnSpc>
              </a:pPr>
              <a:r>
                <a:rPr lang="en-US" sz="1818">
                  <a:solidFill>
                    <a:srgbClr val="F5EFE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Slices ตั้งแต่ตัวที่ 3 - 7 จะได้ pako</a:t>
              </a:r>
            </a:p>
            <a:p>
              <a:pPr algn="l">
                <a:lnSpc>
                  <a:spcPts val="2510"/>
                </a:lnSpc>
              </a:pPr>
              <a:r>
                <a:rPr lang="en-US" sz="1818">
                  <a:solidFill>
                    <a:srgbClr val="F5EFE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Slices ตั้งแต่ตัวที่ 7 เป็นต้นไป จะได้ rn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790D1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790D1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9371330" y="2094049"/>
            <a:ext cx="7633209" cy="4915910"/>
          </a:xfrm>
          <a:custGeom>
            <a:avLst/>
            <a:gdLst/>
            <a:ahLst/>
            <a:cxnLst/>
            <a:rect r="r" b="b" t="t" l="l"/>
            <a:pathLst>
              <a:path h="4915910" w="7633209">
                <a:moveTo>
                  <a:pt x="0" y="0"/>
                </a:moveTo>
                <a:lnTo>
                  <a:pt x="7633208" y="0"/>
                </a:lnTo>
                <a:lnTo>
                  <a:pt x="7633208" y="4915910"/>
                </a:lnTo>
                <a:lnTo>
                  <a:pt x="0" y="49159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8870" t="-27665" r="-11107" b="-17794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685800" y="1995778"/>
            <a:ext cx="8458200" cy="431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5775" indent="-242888" lvl="1">
              <a:lnSpc>
                <a:spcPts val="3375"/>
              </a:lnSpc>
              <a:buFont typeface="Arial"/>
              <a:buChar char="•"/>
            </a:pPr>
            <a:r>
              <a:rPr lang="en-US" b="true" sz="2250">
                <a:solidFill>
                  <a:srgbClr val="790D1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Slices </a:t>
            </a:r>
            <a:r>
              <a:rPr lang="en-US" sz="2250">
                <a:solidFill>
                  <a:srgbClr val="790D16"/>
                </a:solidFill>
                <a:latin typeface="Calibri (MS)"/>
                <a:ea typeface="Calibri (MS)"/>
                <a:cs typeface="Calibri (MS)"/>
                <a:sym typeface="Calibri (MS)"/>
              </a:rPr>
              <a:t>คือการอ้างอิงค่าบางส่วนใน String / Dynamic Collection</a:t>
            </a:r>
          </a:p>
          <a:p>
            <a:pPr algn="l" marL="485775" indent="-242888" lvl="1">
              <a:lnSpc>
                <a:spcPts val="3375"/>
              </a:lnSpc>
              <a:buFont typeface="Arial"/>
              <a:buChar char="•"/>
            </a:pPr>
            <a:r>
              <a:rPr lang="en-US" sz="2250">
                <a:solidFill>
                  <a:srgbClr val="790D16"/>
                </a:solidFill>
                <a:latin typeface="Calibri (MS)"/>
                <a:ea typeface="Calibri (MS)"/>
                <a:cs typeface="Calibri (MS)"/>
                <a:sym typeface="Calibri (MS)"/>
              </a:rPr>
              <a:t>เหตุผลที่ Rust ออกแบบแนวคิดนี้</a:t>
            </a:r>
          </a:p>
          <a:p>
            <a:pPr algn="l">
              <a:lnSpc>
                <a:spcPts val="3375"/>
              </a:lnSpc>
            </a:pPr>
            <a:r>
              <a:rPr lang="en-US" sz="2250">
                <a:solidFill>
                  <a:srgbClr val="790D16"/>
                </a:solidFill>
                <a:latin typeface="Calibri (MS)"/>
                <a:ea typeface="Calibri (MS)"/>
                <a:cs typeface="Calibri (MS)"/>
                <a:sym typeface="Calibri (MS)"/>
              </a:rPr>
              <a:t>          : Rust ต้องการ Safety ของ Memory จึงใช้ Ownership + Borrowing</a:t>
            </a:r>
          </a:p>
          <a:p>
            <a:pPr algn="l" marL="485775" indent="-242888" lvl="1">
              <a:lnSpc>
                <a:spcPts val="3375"/>
              </a:lnSpc>
              <a:buFont typeface="Arial"/>
              <a:buChar char="•"/>
            </a:pPr>
            <a:r>
              <a:rPr lang="en-US" sz="2250">
                <a:solidFill>
                  <a:srgbClr val="790D16"/>
                </a:solidFill>
                <a:latin typeface="Calibri (MS)"/>
                <a:ea typeface="Calibri (MS)"/>
                <a:cs typeface="Calibri (MS)"/>
                <a:sym typeface="Calibri (MS)"/>
              </a:rPr>
              <a:t>ปัญหาที่แนวคิดนี้ช่วยแก้ไข</a:t>
            </a:r>
          </a:p>
          <a:p>
            <a:pPr algn="l">
              <a:lnSpc>
                <a:spcPts val="3375"/>
              </a:lnSpc>
            </a:pPr>
            <a:r>
              <a:rPr lang="en-US" sz="2250">
                <a:solidFill>
                  <a:srgbClr val="790D16"/>
                </a:solidFill>
                <a:latin typeface="Calibri (MS)"/>
                <a:ea typeface="Calibri (MS)"/>
                <a:cs typeface="Calibri (MS)"/>
                <a:sym typeface="Calibri (MS)"/>
              </a:rPr>
              <a:t>          : Dangling reference ( ชี้ไปยังตัวแปรที่ถูกคืนความจำแล้ว ) </a:t>
            </a:r>
          </a:p>
          <a:p>
            <a:pPr algn="l">
              <a:lnSpc>
                <a:spcPts val="3375"/>
              </a:lnSpc>
            </a:pPr>
            <a:r>
              <a:rPr lang="en-US" sz="2250">
                <a:solidFill>
                  <a:srgbClr val="790D16"/>
                </a:solidFill>
                <a:latin typeface="Calibri (MS)"/>
                <a:ea typeface="Calibri (MS)"/>
                <a:cs typeface="Calibri (MS)"/>
                <a:sym typeface="Calibri (MS)"/>
              </a:rPr>
              <a:t>    </a:t>
            </a:r>
            <a:r>
              <a:rPr lang="en-US" sz="2250">
                <a:solidFill>
                  <a:srgbClr val="790D16"/>
                </a:solidFill>
                <a:latin typeface="Calibri (MS)"/>
                <a:ea typeface="Calibri (MS)"/>
                <a:cs typeface="Calibri (MS)"/>
                <a:sym typeface="Calibri (MS)"/>
              </a:rPr>
              <a:t>      : Data race ( ถูกแก้ข้อมูลในขณะที่ตัวที่ยืมยังใช้ไม่เสร็จ )</a:t>
            </a:r>
          </a:p>
          <a:p>
            <a:pPr algn="l" marL="485775" indent="-242888" lvl="1">
              <a:lnSpc>
                <a:spcPts val="3375"/>
              </a:lnSpc>
              <a:buFont typeface="Arial"/>
              <a:buChar char="•"/>
            </a:pPr>
            <a:r>
              <a:rPr lang="en-US" sz="2250">
                <a:solidFill>
                  <a:srgbClr val="790D16"/>
                </a:solidFill>
                <a:latin typeface="Calibri (MS)"/>
                <a:ea typeface="Calibri (MS)"/>
                <a:cs typeface="Calibri (MS)"/>
                <a:sym typeface="Calibri (MS)"/>
              </a:rPr>
              <a:t>จุดสำคัญที่ควรจำ</a:t>
            </a:r>
          </a:p>
          <a:p>
            <a:pPr algn="l">
              <a:lnSpc>
                <a:spcPts val="3375"/>
              </a:lnSpc>
            </a:pPr>
            <a:r>
              <a:rPr lang="en-US" sz="2250">
                <a:solidFill>
                  <a:srgbClr val="790D16"/>
                </a:solidFill>
                <a:latin typeface="Calibri (MS)"/>
                <a:ea typeface="Calibri (MS)"/>
                <a:cs typeface="Calibri (MS)"/>
                <a:sym typeface="Calibri (MS)"/>
              </a:rPr>
              <a:t>          : Stack เก็บข้อมูลที่มีขนาดคงที่ไว้ เช่น Integer , Array[ขนาดคงที่]</a:t>
            </a:r>
          </a:p>
          <a:p>
            <a:pPr algn="l">
              <a:lnSpc>
                <a:spcPts val="3375"/>
              </a:lnSpc>
            </a:pPr>
            <a:r>
              <a:rPr lang="en-US" sz="2250">
                <a:solidFill>
                  <a:srgbClr val="790D16"/>
                </a:solidFill>
                <a:latin typeface="Calibri (MS)"/>
                <a:ea typeface="Calibri (MS)"/>
                <a:cs typeface="Calibri (MS)"/>
                <a:sym typeface="Calibri (MS)"/>
              </a:rPr>
              <a:t>          : Heap เก็บข้อมูลที่ขนาดยืดหยุ่น เช่น String* , Dynamic Collection</a:t>
            </a:r>
          </a:p>
          <a:p>
            <a:pPr algn="l">
              <a:lnSpc>
                <a:spcPts val="3375"/>
              </a:lnSpc>
            </a:pPr>
            <a:r>
              <a:rPr lang="en-US" sz="2250">
                <a:solidFill>
                  <a:srgbClr val="790D16"/>
                </a:solidFill>
                <a:latin typeface="Calibri (MS)"/>
                <a:ea typeface="Calibri (MS)"/>
                <a:cs typeface="Calibri (MS)"/>
                <a:sym typeface="Calibri (MS)"/>
              </a:rPr>
              <a:t>          : Slices ข้อมูลได้กับเกือบทุกชุดข้อมูล ที่โครงสร้างข้อมูลติดต่อกัน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140442" y="676275"/>
            <a:ext cx="5256133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0"/>
              </a:lnSpc>
              <a:spcBef>
                <a:spcPct val="0"/>
              </a:spcBef>
            </a:pPr>
            <a:r>
              <a:rPr lang="en-US" b="true" sz="4500">
                <a:solidFill>
                  <a:srgbClr val="790D16"/>
                </a:solidFill>
                <a:latin typeface="Prompt Bold"/>
                <a:ea typeface="Prompt Bold"/>
                <a:cs typeface="Prompt Bold"/>
                <a:sym typeface="Prompt Bold"/>
              </a:rPr>
              <a:t> SLICES (CONCEPT)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 show="false">
  <p:cSld>
    <p:bg>
      <p:bgPr>
        <a:solidFill>
          <a:srgbClr val="F6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7278" y="5380986"/>
            <a:ext cx="6951198" cy="3385293"/>
            <a:chOff x="0" y="0"/>
            <a:chExt cx="13996416" cy="68163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996417" cy="6816375"/>
            </a:xfrm>
            <a:custGeom>
              <a:avLst/>
              <a:gdLst/>
              <a:ahLst/>
              <a:cxnLst/>
              <a:rect r="r" b="b" t="t" l="l"/>
              <a:pathLst>
                <a:path h="6816375" w="13996417">
                  <a:moveTo>
                    <a:pt x="0" y="104867"/>
                  </a:moveTo>
                  <a:cubicBezTo>
                    <a:pt x="0" y="46972"/>
                    <a:pt x="52979" y="0"/>
                    <a:pt x="118280" y="0"/>
                  </a:cubicBezTo>
                  <a:lnTo>
                    <a:pt x="13878136" y="0"/>
                  </a:lnTo>
                  <a:cubicBezTo>
                    <a:pt x="13943437" y="0"/>
                    <a:pt x="13996417" y="46972"/>
                    <a:pt x="13996417" y="104867"/>
                  </a:cubicBezTo>
                  <a:lnTo>
                    <a:pt x="13996417" y="6711508"/>
                  </a:lnTo>
                  <a:cubicBezTo>
                    <a:pt x="13996417" y="6769404"/>
                    <a:pt x="13943437" y="6816375"/>
                    <a:pt x="13878136" y="6816375"/>
                  </a:cubicBezTo>
                  <a:lnTo>
                    <a:pt x="118280" y="6816375"/>
                  </a:lnTo>
                  <a:cubicBezTo>
                    <a:pt x="52979" y="6816375"/>
                    <a:pt x="0" y="6769404"/>
                    <a:pt x="0" y="6711508"/>
                  </a:cubicBezTo>
                  <a:close/>
                </a:path>
              </a:pathLst>
            </a:custGeom>
            <a:blipFill>
              <a:blip r:embed="rId2"/>
              <a:stretch>
                <a:fillRect l="-11162" t="0" r="-11162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028700" y="142830"/>
            <a:ext cx="6421485" cy="4280990"/>
          </a:xfrm>
          <a:custGeom>
            <a:avLst/>
            <a:gdLst/>
            <a:ahLst/>
            <a:cxnLst/>
            <a:rect r="r" b="b" t="t" l="l"/>
            <a:pathLst>
              <a:path h="4280990" w="6421485">
                <a:moveTo>
                  <a:pt x="0" y="0"/>
                </a:moveTo>
                <a:lnTo>
                  <a:pt x="6421485" y="0"/>
                </a:lnTo>
                <a:lnTo>
                  <a:pt x="6421485" y="4280991"/>
                </a:lnTo>
                <a:lnTo>
                  <a:pt x="0" y="42809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549358" y="6674269"/>
            <a:ext cx="7351510" cy="3569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ไม่ชัวว่ามันควรอยู่โค้ดเชิงลึกหรือคอนเซป ถ้าแจ๊สคิดว่ามันค่อนข้างลึกก็มปร.นะๆ</a:t>
            </a:r>
          </a:p>
          <a:p>
            <a:pPr algn="ctr">
              <a:lnSpc>
                <a:spcPts val="2520"/>
              </a:lnSpc>
            </a:pPr>
          </a:p>
          <a:p>
            <a:pPr algn="ctr">
              <a:lnSpc>
                <a:spcPts val="2520"/>
              </a:lnSpc>
            </a:pP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เดะผมลองดูให้หนา</a:t>
            </a:r>
          </a:p>
          <a:p>
            <a:pPr algn="ctr">
              <a:lnSpc>
                <a:spcPts val="2520"/>
              </a:lnSpc>
            </a:pP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เท่าที่ผมดู ผมพูดตัว thin &amp; fat pointer ที่เป็นนิยามให้ได้หนา</a:t>
            </a:r>
          </a:p>
          <a:p>
            <a:pPr algn="ctr">
              <a:lnSpc>
                <a:spcPts val="2520"/>
              </a:lnSpc>
            </a:pPr>
          </a:p>
          <a:p>
            <a:pPr algn="ctr">
              <a:lnSpc>
                <a:spcPts val="2520"/>
              </a:lnSpc>
            </a:pP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ตรง String กับ &amp;str คุณอยากให้เน้นไรเพิ่มมั้ย</a:t>
            </a:r>
          </a:p>
          <a:p>
            <a:pPr algn="ctr">
              <a:lnSpc>
                <a:spcPts val="2520"/>
              </a:lnSpc>
            </a:pP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ที่คิดไว้คือ</a:t>
            </a:r>
          </a:p>
          <a:p>
            <a:pPr algn="ctr">
              <a:lnSpc>
                <a:spcPts val="2520"/>
              </a:lnSpc>
            </a:pP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String เก็บในพื้นที่ Heap ถ้าจะยืมปกติแบบ x = y จะไม่ได้</a:t>
            </a:r>
          </a:p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ต้องใช้ &amp; ในการไปชี้เรฟข้อมูล หรือไม่ก็ .clone เพื่อที่สร้างข้อมูลชุดใหม่ขึ้นมาเป็นของตัวเอง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848779" y="2317144"/>
            <a:ext cx="7905350" cy="887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70"/>
              </a:lnSpc>
              <a:spcBef>
                <a:spcPct val="0"/>
              </a:spcBef>
            </a:pPr>
            <a:r>
              <a:rPr lang="en-US" sz="272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ได้ๆ ในหน้านี้แค่อยากให้บอกว่าขนาดเท่านี้มันเก็บอะไรบ้างเฉยๆคับ ไใ่ม่ต้องละเอียดเดะเกินเวลา555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373197" y="3776017"/>
            <a:ext cx="7905350" cy="472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70"/>
              </a:lnSpc>
              <a:spcBef>
                <a:spcPct val="0"/>
              </a:spcBef>
            </a:pPr>
            <a:r>
              <a:rPr lang="en-US" sz="272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&lt;----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694204" y="3147964"/>
            <a:ext cx="7905350" cy="472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70"/>
              </a:lnSpc>
              <a:spcBef>
                <a:spcPct val="0"/>
              </a:spcBef>
            </a:pPr>
            <a:r>
              <a:rPr lang="en-US" sz="272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ได้ฮะ ผมน่าจะช่วยพูดระหว่างอธิบายโค้ดได้นิดหน่อย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989770" y="6258019"/>
            <a:ext cx="4749175" cy="100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41"/>
              </a:lnSpc>
            </a:pPr>
            <a:r>
              <a:rPr lang="en-US" sz="1958">
                <a:solidFill>
                  <a:srgbClr val="000000"/>
                </a:solidFill>
                <a:latin typeface="Pracharath"/>
                <a:ea typeface="Pracharath"/>
                <a:cs typeface="Pracharath"/>
                <a:sym typeface="Pracharath"/>
              </a:rPr>
              <a:t>ผมว่าเราขึ้นเรื่อง fat + thin ได้ แต่คงใช้เวลาไม่นานอะคูร</a:t>
            </a:r>
          </a:p>
          <a:p>
            <a:pPr algn="ctr">
              <a:lnSpc>
                <a:spcPts val="2741"/>
              </a:lnSpc>
            </a:pPr>
            <a:r>
              <a:rPr lang="en-US" sz="1958">
                <a:solidFill>
                  <a:srgbClr val="000000"/>
                </a:solidFill>
                <a:latin typeface="Pracharath"/>
                <a:ea typeface="Pracharath"/>
                <a:cs typeface="Pracharath"/>
                <a:sym typeface="Pracharath"/>
              </a:rPr>
              <a:t>ผมไปลองเช็คหัวข้อกลุ่มอื่นมาและ ไม่มีเรย T_T</a:t>
            </a:r>
          </a:p>
          <a:p>
            <a:pPr algn="ctr">
              <a:lnSpc>
                <a:spcPts val="2741"/>
              </a:lnSpc>
            </a:pPr>
            <a:r>
              <a:rPr lang="en-US" sz="1958">
                <a:solidFill>
                  <a:srgbClr val="000000"/>
                </a:solidFill>
                <a:latin typeface="Pracharath"/>
                <a:ea typeface="Pracharath"/>
                <a:cs typeface="Pracharath"/>
                <a:sym typeface="Pracharath"/>
              </a:rPr>
              <a:t>เอาแบบที่อายบอกละกัน เดะผมลองทำมาเพิ่มอีกหน้า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325872" y="3983722"/>
            <a:ext cx="7905350" cy="472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70"/>
              </a:lnSpc>
              <a:spcBef>
                <a:spcPct val="0"/>
              </a:spcBef>
            </a:pPr>
            <a:r>
              <a:rPr lang="en-US" sz="272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แจ๊สเกริ่นไว้เลยว่าได้ถึงไหน เดี๋ยวเค้าต่อให้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359357" y="5567988"/>
            <a:ext cx="4323620" cy="869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7"/>
              </a:lnSpc>
            </a:pPr>
            <a:r>
              <a:rPr lang="en-US" sz="2569">
                <a:solidFill>
                  <a:srgbClr val="000000"/>
                </a:solidFill>
                <a:latin typeface="Pracharath"/>
                <a:ea typeface="Pracharath"/>
                <a:cs typeface="Pracharath"/>
                <a:sym typeface="Pracharath"/>
              </a:rPr>
              <a:t>รู้เรื่องฮัฟ คุณคิดว่าจบเรื่อง thin/fat pointer หรือจบด้วย slice ดีกว่า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396790" y="4818232"/>
            <a:ext cx="8936639" cy="472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70"/>
              </a:lnSpc>
              <a:spcBef>
                <a:spcPct val="0"/>
              </a:spcBef>
            </a:pPr>
            <a:r>
              <a:rPr lang="en-US" sz="2725">
                <a:solidFill>
                  <a:srgbClr val="FF4D00"/>
                </a:solidFill>
                <a:latin typeface="Calibri (MS)"/>
                <a:ea typeface="Calibri (MS)"/>
                <a:cs typeface="Calibri (MS)"/>
                <a:sym typeface="Calibri (MS)"/>
              </a:rPr>
              <a:t>slice มั้ย แบบ memory &gt; pointer &gt; slice   | &lt; - เอาอันนี้เป็นหลักนะ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524809" y="7332908"/>
            <a:ext cx="3412825" cy="736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14"/>
              </a:lnSpc>
            </a:pPr>
            <a:r>
              <a:rPr lang="en-US" sz="2153">
                <a:solidFill>
                  <a:srgbClr val="000000"/>
                </a:solidFill>
                <a:latin typeface="Pracharath"/>
                <a:ea typeface="Pracharath"/>
                <a:cs typeface="Pracharath"/>
                <a:sym typeface="Pracharath"/>
              </a:rPr>
              <a:t>ได้คั้บ เดะผมลองถามอาจารย์ในตัวนี้ด้วย เผื่อกลุ่มที่เป็นตัวแปรเขาพรีไป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219989" y="5415488"/>
            <a:ext cx="7905350" cy="472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70"/>
              </a:lnSpc>
              <a:spcBef>
                <a:spcPct val="0"/>
              </a:spcBef>
            </a:pPr>
            <a:r>
              <a:rPr lang="en-US" sz="272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okk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EC4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790D1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>
                  <a:solidFill>
                    <a:srgbClr val="F5EFE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2 · ศิริกานต์ หรุ่นมาบแค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685800" y="2537460"/>
            <a:ext cx="9738360" cy="8225605"/>
          </a:xfrm>
          <a:custGeom>
            <a:avLst/>
            <a:gdLst/>
            <a:ahLst/>
            <a:cxnLst/>
            <a:rect r="r" b="b" t="t" l="l"/>
            <a:pathLst>
              <a:path h="8225605" w="9738360">
                <a:moveTo>
                  <a:pt x="0" y="0"/>
                </a:moveTo>
                <a:lnTo>
                  <a:pt x="9738360" y="0"/>
                </a:lnTo>
                <a:lnTo>
                  <a:pt x="9738360" y="8225605"/>
                </a:lnTo>
                <a:lnTo>
                  <a:pt x="0" y="82256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577" t="-15060" r="-8042" b="-8852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685800" y="1370457"/>
            <a:ext cx="16911828" cy="989838"/>
            <a:chOff x="0" y="0"/>
            <a:chExt cx="22549104" cy="131978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549104" cy="1319784"/>
            </a:xfrm>
            <a:custGeom>
              <a:avLst/>
              <a:gdLst/>
              <a:ahLst/>
              <a:cxnLst/>
              <a:rect r="r" b="b" t="t" l="l"/>
              <a:pathLst>
                <a:path h="1319784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319784"/>
                  </a:lnTo>
                  <a:lnTo>
                    <a:pt x="0" y="13197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411" r="0" b="-281409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22549104" cy="13293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b="true" sz="4500">
                  <a:solidFill>
                    <a:srgbClr val="790D16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SLICE IS “FAT POINTER”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835640" y="2541270"/>
            <a:ext cx="6761988" cy="6849468"/>
            <a:chOff x="0" y="0"/>
            <a:chExt cx="1780935" cy="180397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80935" cy="1803975"/>
            </a:xfrm>
            <a:custGeom>
              <a:avLst/>
              <a:gdLst/>
              <a:ahLst/>
              <a:cxnLst/>
              <a:rect r="r" b="b" t="t" l="l"/>
              <a:pathLst>
                <a:path h="1803975" w="1780935">
                  <a:moveTo>
                    <a:pt x="22898" y="0"/>
                  </a:moveTo>
                  <a:lnTo>
                    <a:pt x="1758037" y="0"/>
                  </a:lnTo>
                  <a:cubicBezTo>
                    <a:pt x="1770683" y="0"/>
                    <a:pt x="1780935" y="10252"/>
                    <a:pt x="1780935" y="22898"/>
                  </a:cubicBezTo>
                  <a:lnTo>
                    <a:pt x="1780935" y="1781077"/>
                  </a:lnTo>
                  <a:cubicBezTo>
                    <a:pt x="1780935" y="1787150"/>
                    <a:pt x="1778523" y="1792974"/>
                    <a:pt x="1774228" y="1797268"/>
                  </a:cubicBezTo>
                  <a:cubicBezTo>
                    <a:pt x="1769934" y="1801563"/>
                    <a:pt x="1764110" y="1803975"/>
                    <a:pt x="1758037" y="1803975"/>
                  </a:cubicBezTo>
                  <a:lnTo>
                    <a:pt x="22898" y="1803975"/>
                  </a:lnTo>
                  <a:cubicBezTo>
                    <a:pt x="10252" y="1803975"/>
                    <a:pt x="0" y="1793723"/>
                    <a:pt x="0" y="1781077"/>
                  </a:cubicBezTo>
                  <a:lnTo>
                    <a:pt x="0" y="22898"/>
                  </a:lnTo>
                  <a:cubicBezTo>
                    <a:pt x="0" y="10252"/>
                    <a:pt x="10252" y="0"/>
                    <a:pt x="22898" y="0"/>
                  </a:cubicBezTo>
                  <a:close/>
                </a:path>
              </a:pathLst>
            </a:custGeom>
            <a:solidFill>
              <a:srgbClr val="962D2B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780935" cy="1842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790D1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790D1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1183112" y="2889429"/>
            <a:ext cx="6076188" cy="615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AEC4D4"/>
                </a:solidFill>
                <a:latin typeface="Fira Code"/>
                <a:ea typeface="Fira Code"/>
                <a:cs typeface="Fira Code"/>
                <a:sym typeface="Fira Code"/>
              </a:rPr>
              <a:t>&amp;[T] (slice) </a:t>
            </a: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ไม่ได้เก็บแค่ที่อยู่ในหน่วยความจำ แต่เก็บ 2 อย่างคู่กัน: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ptr คือที่อยู่ของสมาชิกตัวแรก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len คือจำนวนสมาชิก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เรียกว่า </a:t>
            </a:r>
            <a:r>
              <a:rPr lang="en-US" sz="2400" b="true">
                <a:solidFill>
                  <a:srgbClr val="F5EFE1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fat pointer</a:t>
            </a: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 เพราะใหญ่กว่า pointer ธรรมดาที่เก็บแค่ที่อยู่อย่างเดียว (thin pointer)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AEC4D4"/>
                </a:solidFill>
                <a:latin typeface="Fira Code"/>
                <a:ea typeface="Fira Code"/>
                <a:cs typeface="Fira Code"/>
                <a:sym typeface="Fira Code"/>
              </a:rPr>
              <a:t>data.a</a:t>
            </a:r>
            <a:r>
              <a:rPr lang="en-US" sz="2400">
                <a:solidFill>
                  <a:srgbClr val="AEC4D4"/>
                </a:solidFill>
                <a:latin typeface="Fira Code"/>
                <a:ea typeface="Fira Code"/>
                <a:cs typeface="Fira Code"/>
                <a:sym typeface="Fira Code"/>
              </a:rPr>
              <a:t>s_ptr()</a:t>
            </a: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 และ </a:t>
            </a:r>
            <a:r>
              <a:rPr lang="en-US" sz="2400">
                <a:solidFill>
                  <a:srgbClr val="AEC4D4"/>
                </a:solidFill>
                <a:latin typeface="Fira Code"/>
                <a:ea typeface="Fira Code"/>
                <a:cs typeface="Fira Code"/>
                <a:sym typeface="Fira Code"/>
              </a:rPr>
              <a:t>data.len()</a:t>
            </a: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 ดึง ptr กับ len ออกมาจาก slice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AEC4D4"/>
                </a:solidFill>
                <a:latin typeface="Fira Code"/>
                <a:ea typeface="Fira Code"/>
                <a:cs typeface="Fira Code"/>
                <a:sym typeface="Fira Code"/>
              </a:rPr>
              <a:t>size_of::&lt;&amp;[T]&gt;()</a:t>
            </a: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 จะได้ 16 bytes บนเครื่อง 64-bit (pointer 8 + len 8) ซึ่งเป็น fat pointer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AEC4D4"/>
                </a:solidFill>
                <a:latin typeface="Fira Code"/>
                <a:ea typeface="Fira Code"/>
                <a:cs typeface="Fira Code"/>
                <a:sym typeface="Fira Code"/>
              </a:rPr>
              <a:t>size_of::&lt;T&gt;()</a:t>
            </a: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 คือขนาดสมาชิก 1 ตัว (ในที่นี้ i32 = 4 bytes)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EC4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790D1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>
                  <a:solidFill>
                    <a:srgbClr val="F5EFE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2 · ศิริกานต์ หรุ่นมาบแค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685800" y="2537460"/>
            <a:ext cx="9738360" cy="8225605"/>
          </a:xfrm>
          <a:custGeom>
            <a:avLst/>
            <a:gdLst/>
            <a:ahLst/>
            <a:cxnLst/>
            <a:rect r="r" b="b" t="t" l="l"/>
            <a:pathLst>
              <a:path h="8225605" w="9738360">
                <a:moveTo>
                  <a:pt x="0" y="0"/>
                </a:moveTo>
                <a:lnTo>
                  <a:pt x="9738360" y="0"/>
                </a:lnTo>
                <a:lnTo>
                  <a:pt x="9738360" y="8225605"/>
                </a:lnTo>
                <a:lnTo>
                  <a:pt x="0" y="82256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577" t="-15060" r="-8042" b="-8852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685800" y="1370457"/>
            <a:ext cx="16911828" cy="989838"/>
            <a:chOff x="0" y="0"/>
            <a:chExt cx="22549104" cy="131978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549104" cy="1319784"/>
            </a:xfrm>
            <a:custGeom>
              <a:avLst/>
              <a:gdLst/>
              <a:ahLst/>
              <a:cxnLst/>
              <a:rect r="r" b="b" t="t" l="l"/>
              <a:pathLst>
                <a:path h="1319784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319784"/>
                  </a:lnTo>
                  <a:lnTo>
                    <a:pt x="0" y="13197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411" r="0" b="-281409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22549104" cy="13293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b="true" sz="4500">
                  <a:solidFill>
                    <a:srgbClr val="790D16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SLICE IS “FAT POINTER”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835640" y="2541270"/>
            <a:ext cx="6761988" cy="4996173"/>
            <a:chOff x="0" y="0"/>
            <a:chExt cx="1780935" cy="131586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80935" cy="1315865"/>
            </a:xfrm>
            <a:custGeom>
              <a:avLst/>
              <a:gdLst/>
              <a:ahLst/>
              <a:cxnLst/>
              <a:rect r="r" b="b" t="t" l="l"/>
              <a:pathLst>
                <a:path h="1315865" w="1780935">
                  <a:moveTo>
                    <a:pt x="22898" y="0"/>
                  </a:moveTo>
                  <a:lnTo>
                    <a:pt x="1758037" y="0"/>
                  </a:lnTo>
                  <a:cubicBezTo>
                    <a:pt x="1770683" y="0"/>
                    <a:pt x="1780935" y="10252"/>
                    <a:pt x="1780935" y="22898"/>
                  </a:cubicBezTo>
                  <a:lnTo>
                    <a:pt x="1780935" y="1292966"/>
                  </a:lnTo>
                  <a:cubicBezTo>
                    <a:pt x="1780935" y="1305613"/>
                    <a:pt x="1770683" y="1315865"/>
                    <a:pt x="1758037" y="1315865"/>
                  </a:cubicBezTo>
                  <a:lnTo>
                    <a:pt x="22898" y="1315865"/>
                  </a:lnTo>
                  <a:cubicBezTo>
                    <a:pt x="10252" y="1315865"/>
                    <a:pt x="0" y="1305613"/>
                    <a:pt x="0" y="1292966"/>
                  </a:cubicBezTo>
                  <a:lnTo>
                    <a:pt x="0" y="22898"/>
                  </a:lnTo>
                  <a:cubicBezTo>
                    <a:pt x="0" y="10252"/>
                    <a:pt x="10252" y="0"/>
                    <a:pt x="22898" y="0"/>
                  </a:cubicBezTo>
                  <a:close/>
                </a:path>
              </a:pathLst>
            </a:custGeom>
            <a:solidFill>
              <a:srgbClr val="962D2B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780935" cy="1353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790D1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790D1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8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1178540" y="2867657"/>
            <a:ext cx="6076188" cy="434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ส่วน </a:t>
            </a:r>
            <a:r>
              <a:rPr lang="en-US" sz="2400">
                <a:solidFill>
                  <a:srgbClr val="AEC4D4"/>
                </a:solidFill>
                <a:latin typeface="Fira Code"/>
                <a:ea typeface="Fira Code"/>
                <a:cs typeface="Fira Code"/>
                <a:sym typeface="Fira Code"/>
              </a:rPr>
              <a:t>unsafe </a:t>
            </a: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ใช้ </a:t>
            </a:r>
            <a:r>
              <a:rPr lang="en-US" sz="2400">
                <a:solidFill>
                  <a:srgbClr val="AEC4D4"/>
                </a:solidFill>
                <a:latin typeface="Fira Code"/>
                <a:ea typeface="Fira Code"/>
                <a:cs typeface="Fira Code"/>
                <a:sym typeface="Fira Code"/>
              </a:rPr>
              <a:t>from_raw_parts(ptr, len - 2)</a:t>
            </a: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 สร้าง</a:t>
            </a: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sl</a:t>
            </a: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i</a:t>
            </a: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c</a:t>
            </a: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e</a:t>
            </a: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 ใหม่จาก ptr เดิม แต่ตัดความยาวลง 2 ผลคือได้ </a:t>
            </a:r>
            <a:r>
              <a:rPr lang="en-US" sz="2400">
                <a:solidFill>
                  <a:srgbClr val="E5D3AF"/>
                </a:solidFill>
                <a:latin typeface="Fira Code"/>
                <a:ea typeface="Fira Code"/>
                <a:cs typeface="Fira Code"/>
                <a:sym typeface="Fira Code"/>
              </a:rPr>
              <a:t>[1, 2, 3, 4]</a:t>
            </a: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 โดยไม่ได้ copy ข้อมูลเลย แค่เปลี่ยนตัวเลข len นี่คือหัวใจของ slice: </a:t>
            </a:r>
            <a:r>
              <a:rPr lang="en-US" sz="2400" b="true">
                <a:solidFill>
                  <a:srgbClr val="FFFFFF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เป็นแค่ "หน้าต่างมองข้อมูล" ไม่ได้เป็นเจ้าของข้อมูล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ข้อควรระวัง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AEC4D4"/>
                </a:solidFill>
                <a:latin typeface="Fira Code"/>
                <a:ea typeface="Fira Code"/>
                <a:cs typeface="Fira Code"/>
                <a:sym typeface="Fira Code"/>
              </a:rPr>
              <a:t>fatptr.len - 2</a:t>
            </a: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 ถ้า slice ยาวน้อยกว่า 2 จะเกิด underflow (panic ใน debug mode) ถ้าจะใช้จริงควรเช็กความยาวก่อน</a:t>
            </a:r>
          </a:p>
        </p:txBody>
      </p:sp>
    </p:spTree>
  </p:cSld>
  <p:clrMapOvr>
    <a:masterClrMapping/>
  </p:clrMapOvr>
  <p:transition spd="fast">
    <p:fade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EC4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2541270"/>
            <a:chOff x="0" y="0"/>
            <a:chExt cx="4816593" cy="6693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669306"/>
            </a:xfrm>
            <a:custGeom>
              <a:avLst/>
              <a:gdLst/>
              <a:ahLst/>
              <a:cxnLst/>
              <a:rect r="r" b="b" t="t" l="l"/>
              <a:pathLst>
                <a:path h="66930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69306"/>
                  </a:lnTo>
                  <a:lnTo>
                    <a:pt x="0" y="669306"/>
                  </a:lnTo>
                  <a:close/>
                </a:path>
              </a:pathLst>
            </a:custGeom>
            <a:solidFill>
              <a:srgbClr val="AEC4D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7074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790D16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>
                  <a:solidFill>
                    <a:srgbClr val="F5EFE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2 · ศิริกานต์ หรุ่นมาบแค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85800" y="1370457"/>
            <a:ext cx="16911828" cy="989838"/>
            <a:chOff x="0" y="0"/>
            <a:chExt cx="22549104" cy="131978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549104" cy="1319784"/>
            </a:xfrm>
            <a:custGeom>
              <a:avLst/>
              <a:gdLst/>
              <a:ahLst/>
              <a:cxnLst/>
              <a:rect r="r" b="b" t="t" l="l"/>
              <a:pathLst>
                <a:path h="1319784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319784"/>
                  </a:lnTo>
                  <a:lnTo>
                    <a:pt x="0" y="13197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411" r="0" b="-281409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22549104" cy="13293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b="true" sz="4500">
                  <a:solidFill>
                    <a:srgbClr val="790D16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STRING AND &amp;STR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835640" y="2541270"/>
            <a:ext cx="6761988" cy="5485664"/>
            <a:chOff x="0" y="0"/>
            <a:chExt cx="1780935" cy="144478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780935" cy="1444784"/>
            </a:xfrm>
            <a:custGeom>
              <a:avLst/>
              <a:gdLst/>
              <a:ahLst/>
              <a:cxnLst/>
              <a:rect r="r" b="b" t="t" l="l"/>
              <a:pathLst>
                <a:path h="1444784" w="1780935">
                  <a:moveTo>
                    <a:pt x="22898" y="0"/>
                  </a:moveTo>
                  <a:lnTo>
                    <a:pt x="1758037" y="0"/>
                  </a:lnTo>
                  <a:cubicBezTo>
                    <a:pt x="1770683" y="0"/>
                    <a:pt x="1780935" y="10252"/>
                    <a:pt x="1780935" y="22898"/>
                  </a:cubicBezTo>
                  <a:lnTo>
                    <a:pt x="1780935" y="1421885"/>
                  </a:lnTo>
                  <a:cubicBezTo>
                    <a:pt x="1780935" y="1427958"/>
                    <a:pt x="1778523" y="1433783"/>
                    <a:pt x="1774228" y="1438077"/>
                  </a:cubicBezTo>
                  <a:cubicBezTo>
                    <a:pt x="1769934" y="1442371"/>
                    <a:pt x="1764110" y="1444784"/>
                    <a:pt x="1758037" y="1444784"/>
                  </a:cubicBezTo>
                  <a:lnTo>
                    <a:pt x="22898" y="1444784"/>
                  </a:lnTo>
                  <a:cubicBezTo>
                    <a:pt x="10252" y="1444784"/>
                    <a:pt x="0" y="1434532"/>
                    <a:pt x="0" y="1421885"/>
                  </a:cubicBezTo>
                  <a:lnTo>
                    <a:pt x="0" y="22898"/>
                  </a:lnTo>
                  <a:cubicBezTo>
                    <a:pt x="0" y="10252"/>
                    <a:pt x="10252" y="0"/>
                    <a:pt x="22898" y="0"/>
                  </a:cubicBezTo>
                  <a:close/>
                </a:path>
              </a:pathLst>
            </a:custGeom>
            <a:solidFill>
              <a:srgbClr val="962D2B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780935" cy="14828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790D1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790D1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9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1183112" y="2898946"/>
            <a:ext cx="6076188" cy="470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AEC4D4"/>
                </a:solidFill>
                <a:latin typeface="Fira Code"/>
                <a:ea typeface="Fira Code"/>
                <a:cs typeface="Fira Code"/>
                <a:sym typeface="Fira Code"/>
              </a:rPr>
              <a:t>(&amp;String -&gt; usize)</a:t>
            </a: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 คืนแค่ตำแหน่ง index ของช่องว่างแรก ปัญห</a:t>
            </a: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าคือ index นี้ไม่ผูกกับสตริงเลย ถ้</a:t>
            </a: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าเรียก string.clear() ทีหลัง</a:t>
            </a: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ind</a:t>
            </a: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e</a:t>
            </a: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x ก็ยังอยู่แต่ไม่มีความหมายแล้ว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AEC4D4"/>
                </a:solidFill>
                <a:latin typeface="Fira Code"/>
                <a:ea typeface="Fira Code"/>
                <a:cs typeface="Fira Code"/>
                <a:sym typeface="Fira Code"/>
              </a:rPr>
              <a:t>(&amp;str -&gt; &amp;str)</a:t>
            </a: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 คืน slice ที่ชี้เข้าไปในสตริงเดิม ทำให้ borrow checker รู้ว่าผลลัพธ์ยังยืมสตริงอยู่ ถ้าสตริงต้นทางถูกแก้ไขหรือล้างขณะที่ slice ยังถูกใช้ จะ compile ไม่ผ่าน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ภาษาอังกฤษ 1 ตัว = 1 byte จึงเท่ากันหมด และตัด </a:t>
            </a:r>
            <a:r>
              <a:rPr lang="en-US" sz="2400">
                <a:solidFill>
                  <a:srgbClr val="AEC4D4"/>
                </a:solidFill>
                <a:latin typeface="Fira Code"/>
                <a:ea typeface="Fira Code"/>
                <a:cs typeface="Fira Code"/>
                <a:sym typeface="Fira Code"/>
              </a:rPr>
              <a:t>[0..1]</a:t>
            </a: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 ได้ตัวแรกพอดี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764874" y="2537460"/>
            <a:ext cx="9654286" cy="12979651"/>
          </a:xfrm>
          <a:custGeom>
            <a:avLst/>
            <a:gdLst/>
            <a:ahLst/>
            <a:cxnLst/>
            <a:rect r="r" b="b" t="t" l="l"/>
            <a:pathLst>
              <a:path h="12979651" w="9654286">
                <a:moveTo>
                  <a:pt x="0" y="0"/>
                </a:moveTo>
                <a:lnTo>
                  <a:pt x="9654286" y="0"/>
                </a:lnTo>
                <a:lnTo>
                  <a:pt x="9654286" y="12979651"/>
                </a:lnTo>
                <a:lnTo>
                  <a:pt x="0" y="1297965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8965" t="-11357" r="-9013" b="-6729"/>
            </a:stretch>
          </a:blipFill>
        </p:spPr>
      </p:sp>
    </p:spTree>
  </p:cSld>
  <p:clrMapOvr>
    <a:masterClrMapping/>
  </p:clrMapOvr>
  <p:transition spd="fast">
    <p:fade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EC4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64874" y="-3268723"/>
            <a:ext cx="9654286" cy="12979651"/>
          </a:xfrm>
          <a:custGeom>
            <a:avLst/>
            <a:gdLst/>
            <a:ahLst/>
            <a:cxnLst/>
            <a:rect r="r" b="b" t="t" l="l"/>
            <a:pathLst>
              <a:path h="12979651" w="9654286">
                <a:moveTo>
                  <a:pt x="0" y="0"/>
                </a:moveTo>
                <a:lnTo>
                  <a:pt x="9654286" y="0"/>
                </a:lnTo>
                <a:lnTo>
                  <a:pt x="9654286" y="12979651"/>
                </a:lnTo>
                <a:lnTo>
                  <a:pt x="0" y="129796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965" t="-11357" r="-9013" b="-672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2537460"/>
            <a:chOff x="0" y="0"/>
            <a:chExt cx="4816593" cy="66830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668302"/>
            </a:xfrm>
            <a:custGeom>
              <a:avLst/>
              <a:gdLst/>
              <a:ahLst/>
              <a:cxnLst/>
              <a:rect r="r" b="b" t="t" l="l"/>
              <a:pathLst>
                <a:path h="66830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68302"/>
                  </a:lnTo>
                  <a:lnTo>
                    <a:pt x="0" y="668302"/>
                  </a:lnTo>
                  <a:close/>
                </a:path>
              </a:pathLst>
            </a:custGeom>
            <a:solidFill>
              <a:srgbClr val="AEC4D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7064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790D16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>
                  <a:solidFill>
                    <a:srgbClr val="F5EFE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2 · ศิริกานต์ หรุ่นมาบแค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835640" y="2541270"/>
            <a:ext cx="6761988" cy="6510993"/>
            <a:chOff x="0" y="0"/>
            <a:chExt cx="1780935" cy="171483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80935" cy="1714830"/>
            </a:xfrm>
            <a:custGeom>
              <a:avLst/>
              <a:gdLst/>
              <a:ahLst/>
              <a:cxnLst/>
              <a:rect r="r" b="b" t="t" l="l"/>
              <a:pathLst>
                <a:path h="1714830" w="1780935">
                  <a:moveTo>
                    <a:pt x="22898" y="0"/>
                  </a:moveTo>
                  <a:lnTo>
                    <a:pt x="1758037" y="0"/>
                  </a:lnTo>
                  <a:cubicBezTo>
                    <a:pt x="1770683" y="0"/>
                    <a:pt x="1780935" y="10252"/>
                    <a:pt x="1780935" y="22898"/>
                  </a:cubicBezTo>
                  <a:lnTo>
                    <a:pt x="1780935" y="1691931"/>
                  </a:lnTo>
                  <a:cubicBezTo>
                    <a:pt x="1780935" y="1704578"/>
                    <a:pt x="1770683" y="1714830"/>
                    <a:pt x="1758037" y="1714830"/>
                  </a:cubicBezTo>
                  <a:lnTo>
                    <a:pt x="22898" y="1714830"/>
                  </a:lnTo>
                  <a:cubicBezTo>
                    <a:pt x="10252" y="1714830"/>
                    <a:pt x="0" y="1704578"/>
                    <a:pt x="0" y="1691931"/>
                  </a:cubicBezTo>
                  <a:lnTo>
                    <a:pt x="0" y="22898"/>
                  </a:lnTo>
                  <a:cubicBezTo>
                    <a:pt x="0" y="10252"/>
                    <a:pt x="10252" y="0"/>
                    <a:pt x="22898" y="0"/>
                  </a:cubicBezTo>
                  <a:close/>
                </a:path>
              </a:pathLst>
            </a:custGeom>
            <a:solidFill>
              <a:srgbClr val="962D2B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780935" cy="17529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790D1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790D1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85800" y="1370457"/>
            <a:ext cx="16911828" cy="989838"/>
            <a:chOff x="0" y="0"/>
            <a:chExt cx="22549104" cy="131978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2549104" cy="1319784"/>
            </a:xfrm>
            <a:custGeom>
              <a:avLst/>
              <a:gdLst/>
              <a:ahLst/>
              <a:cxnLst/>
              <a:rect r="r" b="b" t="t" l="l"/>
              <a:pathLst>
                <a:path h="1319784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319784"/>
                  </a:lnTo>
                  <a:lnTo>
                    <a:pt x="0" y="131978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4411" r="0" b="-281409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22549104" cy="13293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b="true" sz="4500">
                  <a:solidFill>
                    <a:srgbClr val="790D16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STRING AND &amp;STR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1183112" y="2877047"/>
            <a:ext cx="6076188" cy="579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ภาษาไทยตัวแรกกินที่ 3 bytes การใช้ &amp;th[0..1] จะ error </a:t>
            </a: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เพราะ</a:t>
            </a:r>
            <a:r>
              <a:rPr lang="en-US" sz="2400" b="true">
                <a:solidFill>
                  <a:srgbClr val="F5EFE1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ตัดกลางตัว byte</a:t>
            </a: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 ที่ไม่สมบูรณ์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is_char_boundary </a:t>
            </a: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ใช้ถามว่า "ตำแหน่ง byte นี้เป็นจุดเริ่มของตัวอักษรไหม"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s1 เป็น </a:t>
            </a:r>
            <a:r>
              <a:rPr lang="en-US" sz="2400">
                <a:solidFill>
                  <a:srgbClr val="AEC4D4"/>
                </a:solidFill>
                <a:latin typeface="Fira Code"/>
                <a:ea typeface="Fira Code"/>
                <a:cs typeface="Fira Code"/>
                <a:sym typeface="Fira Code"/>
              </a:rPr>
              <a:t>String</a:t>
            </a: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 คือ เป็นเจ้าของ ข้อมูล แก้ไข/ขยายได้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s2 เป็น </a:t>
            </a:r>
            <a:r>
              <a:rPr lang="en-US" sz="2400">
                <a:solidFill>
                  <a:srgbClr val="AEC4D4"/>
                </a:solidFill>
                <a:latin typeface="Fira Code"/>
                <a:ea typeface="Fira Code"/>
                <a:cs typeface="Fira Code"/>
                <a:sym typeface="Fira Code"/>
              </a:rPr>
              <a:t>&amp;str</a:t>
            </a: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 คือ fat pointer (ptr + len) แค่ "ยืมดู" ข้อมูล เป็นเจ้าของไม่ได้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AEC4D4"/>
                </a:solidFill>
                <a:latin typeface="Fira Code"/>
                <a:ea typeface="Fira Code"/>
                <a:cs typeface="Fira Code"/>
                <a:sym typeface="Fira Code"/>
              </a:rPr>
              <a:t>push_str</a:t>
            </a: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 แค่ยืม s2 มา copy ข้อความเข้า heap ของ s1 จึงไม่ได้เอา s2 ไป และยังใช้ s2 ต่อได้</a:t>
            </a:r>
          </a:p>
        </p:txBody>
      </p:sp>
    </p:spTree>
  </p:cSld>
  <p:clrMapOvr>
    <a:masterClrMapping/>
  </p:clrMapOvr>
  <p:transition spd="fast">
    <p:fade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EC4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64874" y="2541270"/>
            <a:ext cx="9659286" cy="11191155"/>
          </a:xfrm>
          <a:custGeom>
            <a:avLst/>
            <a:gdLst/>
            <a:ahLst/>
            <a:cxnLst/>
            <a:rect r="r" b="b" t="t" l="l"/>
            <a:pathLst>
              <a:path h="11191155" w="9659286">
                <a:moveTo>
                  <a:pt x="0" y="0"/>
                </a:moveTo>
                <a:lnTo>
                  <a:pt x="9659286" y="0"/>
                </a:lnTo>
                <a:lnTo>
                  <a:pt x="9659286" y="11191155"/>
                </a:lnTo>
                <a:lnTo>
                  <a:pt x="0" y="111911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551" t="-15256" r="-11927" b="-924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2537460"/>
            <a:chOff x="0" y="0"/>
            <a:chExt cx="4816593" cy="66830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668302"/>
            </a:xfrm>
            <a:custGeom>
              <a:avLst/>
              <a:gdLst/>
              <a:ahLst/>
              <a:cxnLst/>
              <a:rect r="r" b="b" t="t" l="l"/>
              <a:pathLst>
                <a:path h="66830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68302"/>
                  </a:lnTo>
                  <a:lnTo>
                    <a:pt x="0" y="668302"/>
                  </a:lnTo>
                  <a:close/>
                </a:path>
              </a:pathLst>
            </a:custGeom>
            <a:solidFill>
              <a:srgbClr val="AEC4D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7064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790D16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>
                  <a:solidFill>
                    <a:srgbClr val="F5EFE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2 · ศิริกานต์ หรุ่นมาบแค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835640" y="2541270"/>
            <a:ext cx="6761988" cy="4693097"/>
            <a:chOff x="0" y="0"/>
            <a:chExt cx="1780935" cy="123604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80935" cy="1236042"/>
            </a:xfrm>
            <a:custGeom>
              <a:avLst/>
              <a:gdLst/>
              <a:ahLst/>
              <a:cxnLst/>
              <a:rect r="r" b="b" t="t" l="l"/>
              <a:pathLst>
                <a:path h="1236042" w="1780935">
                  <a:moveTo>
                    <a:pt x="22898" y="0"/>
                  </a:moveTo>
                  <a:lnTo>
                    <a:pt x="1758037" y="0"/>
                  </a:lnTo>
                  <a:cubicBezTo>
                    <a:pt x="1770683" y="0"/>
                    <a:pt x="1780935" y="10252"/>
                    <a:pt x="1780935" y="22898"/>
                  </a:cubicBezTo>
                  <a:lnTo>
                    <a:pt x="1780935" y="1213144"/>
                  </a:lnTo>
                  <a:cubicBezTo>
                    <a:pt x="1780935" y="1219217"/>
                    <a:pt x="1778523" y="1225041"/>
                    <a:pt x="1774228" y="1229335"/>
                  </a:cubicBezTo>
                  <a:cubicBezTo>
                    <a:pt x="1769934" y="1233630"/>
                    <a:pt x="1764110" y="1236042"/>
                    <a:pt x="1758037" y="1236042"/>
                  </a:cubicBezTo>
                  <a:lnTo>
                    <a:pt x="22898" y="1236042"/>
                  </a:lnTo>
                  <a:cubicBezTo>
                    <a:pt x="10252" y="1236042"/>
                    <a:pt x="0" y="1225790"/>
                    <a:pt x="0" y="1213144"/>
                  </a:cubicBezTo>
                  <a:lnTo>
                    <a:pt x="0" y="22898"/>
                  </a:lnTo>
                  <a:cubicBezTo>
                    <a:pt x="0" y="10252"/>
                    <a:pt x="10252" y="0"/>
                    <a:pt x="22898" y="0"/>
                  </a:cubicBezTo>
                  <a:close/>
                </a:path>
              </a:pathLst>
            </a:custGeom>
            <a:solidFill>
              <a:srgbClr val="962D2B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780935" cy="12741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790D1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790D1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11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1183112" y="2897093"/>
            <a:ext cx="6076188" cy="3981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AEC4D4"/>
                </a:solidFill>
                <a:latin typeface="Fira Code"/>
                <a:ea typeface="Fira Code"/>
                <a:cs typeface="Fira Code"/>
                <a:sym typeface="Fira Code"/>
              </a:rPr>
              <a:t>iter_mut()</a:t>
            </a: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ให้ &amp;mut i32 ของแต่ละตัว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AEC4D4"/>
                </a:solidFill>
                <a:latin typeface="Fira Code"/>
                <a:ea typeface="Fira Code"/>
                <a:cs typeface="Fira Code"/>
                <a:sym typeface="Fira Code"/>
              </a:rPr>
              <a:t>*x</a:t>
            </a: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 คือการ "ตามไปที่ค่าจริง" เพื่ออ่าน/แก้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ฟังก์ชันรับ &amp;mut [i32] จึงแก้ข้อมูลของคนเรียกได้โดยตรง ไม่ต้อง return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ต้องประกาศ </a:t>
            </a:r>
            <a:r>
              <a:rPr lang="en-US" sz="2400">
                <a:solidFill>
                  <a:srgbClr val="AEC4D4"/>
                </a:solidFill>
                <a:latin typeface="Fira Code"/>
                <a:ea typeface="Fira Code"/>
                <a:cs typeface="Fira Code"/>
                <a:sym typeface="Fira Code"/>
              </a:rPr>
              <a:t>let mut </a:t>
            </a: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ไม่งั้นแก้ไม่ได้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AEC4D4"/>
                </a:solidFill>
                <a:latin typeface="Fira Code"/>
                <a:ea typeface="Fira Code"/>
                <a:cs typeface="Fira Code"/>
                <a:sym typeface="Fira Code"/>
              </a:rPr>
              <a:t>&amp;mut numbers</a:t>
            </a: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 (ชนิด &amp;mut [i32; 6]) ถูกแปลงเป็น &amp;mut [i32] ให้อัตโนมัติ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685800" y="1370457"/>
            <a:ext cx="16911828" cy="989838"/>
            <a:chOff x="0" y="0"/>
            <a:chExt cx="22549104" cy="131978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2549104" cy="1319784"/>
            </a:xfrm>
            <a:custGeom>
              <a:avLst/>
              <a:gdLst/>
              <a:ahLst/>
              <a:cxnLst/>
              <a:rect r="r" b="b" t="t" l="l"/>
              <a:pathLst>
                <a:path h="1319784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319784"/>
                  </a:lnTo>
                  <a:lnTo>
                    <a:pt x="0" y="131978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4411" r="0" b="-281409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22549104" cy="13293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b="true" sz="4500">
                  <a:solidFill>
                    <a:srgbClr val="790D16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MUTABLE SLICES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EC4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64874" y="-707759"/>
            <a:ext cx="9659286" cy="11191155"/>
          </a:xfrm>
          <a:custGeom>
            <a:avLst/>
            <a:gdLst/>
            <a:ahLst/>
            <a:cxnLst/>
            <a:rect r="r" b="b" t="t" l="l"/>
            <a:pathLst>
              <a:path h="11191155" w="9659286">
                <a:moveTo>
                  <a:pt x="0" y="0"/>
                </a:moveTo>
                <a:lnTo>
                  <a:pt x="9659286" y="0"/>
                </a:lnTo>
                <a:lnTo>
                  <a:pt x="9659286" y="11191155"/>
                </a:lnTo>
                <a:lnTo>
                  <a:pt x="0" y="111911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551" t="-15256" r="-11927" b="-924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2537460"/>
            <a:chOff x="0" y="0"/>
            <a:chExt cx="4816593" cy="66830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668302"/>
            </a:xfrm>
            <a:custGeom>
              <a:avLst/>
              <a:gdLst/>
              <a:ahLst/>
              <a:cxnLst/>
              <a:rect r="r" b="b" t="t" l="l"/>
              <a:pathLst>
                <a:path h="66830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68302"/>
                  </a:lnTo>
                  <a:lnTo>
                    <a:pt x="0" y="668302"/>
                  </a:lnTo>
                  <a:close/>
                </a:path>
              </a:pathLst>
            </a:custGeom>
            <a:solidFill>
              <a:srgbClr val="AEC4D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7064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790D16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>
                  <a:solidFill>
                    <a:srgbClr val="F5EFE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2 · ศิริกานต์ หรุ่นมาบแค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835640" y="2541270"/>
            <a:ext cx="6761988" cy="6519882"/>
            <a:chOff x="0" y="0"/>
            <a:chExt cx="1780935" cy="171717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80935" cy="1717170"/>
            </a:xfrm>
            <a:custGeom>
              <a:avLst/>
              <a:gdLst/>
              <a:ahLst/>
              <a:cxnLst/>
              <a:rect r="r" b="b" t="t" l="l"/>
              <a:pathLst>
                <a:path h="1717170" w="1780935">
                  <a:moveTo>
                    <a:pt x="22898" y="0"/>
                  </a:moveTo>
                  <a:lnTo>
                    <a:pt x="1758037" y="0"/>
                  </a:lnTo>
                  <a:cubicBezTo>
                    <a:pt x="1770683" y="0"/>
                    <a:pt x="1780935" y="10252"/>
                    <a:pt x="1780935" y="22898"/>
                  </a:cubicBezTo>
                  <a:lnTo>
                    <a:pt x="1780935" y="1694272"/>
                  </a:lnTo>
                  <a:cubicBezTo>
                    <a:pt x="1780935" y="1706918"/>
                    <a:pt x="1770683" y="1717170"/>
                    <a:pt x="1758037" y="1717170"/>
                  </a:cubicBezTo>
                  <a:lnTo>
                    <a:pt x="22898" y="1717170"/>
                  </a:lnTo>
                  <a:cubicBezTo>
                    <a:pt x="16825" y="1717170"/>
                    <a:pt x="11001" y="1714758"/>
                    <a:pt x="6707" y="1710464"/>
                  </a:cubicBezTo>
                  <a:cubicBezTo>
                    <a:pt x="2412" y="1706169"/>
                    <a:pt x="0" y="1700345"/>
                    <a:pt x="0" y="1694272"/>
                  </a:cubicBezTo>
                  <a:lnTo>
                    <a:pt x="0" y="22898"/>
                  </a:lnTo>
                  <a:cubicBezTo>
                    <a:pt x="0" y="10252"/>
                    <a:pt x="10252" y="0"/>
                    <a:pt x="22898" y="0"/>
                  </a:cubicBezTo>
                  <a:close/>
                </a:path>
              </a:pathLst>
            </a:custGeom>
            <a:solidFill>
              <a:srgbClr val="962D2B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780935" cy="17552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790D1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790D1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12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1183112" y="2897093"/>
            <a:ext cx="6076188" cy="579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s1 กับ s2 ถูกใช้ต่อหลังจากนั้นทั้งคู่ Rust จึงไม่ยอมให้คอมไพล์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หมายเหตุ: จริงๆ Rust ไม่ได้ดูว่า range ทับกันจริงหรือเปล่า แค่เห็นว่า numbers[..] ถูก &amp;mut ยืมซ้ำก็ error แล้ว แม้ range จะไม่ทับกัน (เช่น [..2] กับ [3..]) ก็ยัง error เพราะมัน</a:t>
            </a:r>
            <a:r>
              <a:rPr lang="en-US" sz="2400" b="true">
                <a:solidFill>
                  <a:srgbClr val="FFFFFF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ตรวจ range ตอนคอมไพล์ไม่ได้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ใช้ </a:t>
            </a:r>
            <a:r>
              <a:rPr lang="en-US" sz="2400">
                <a:solidFill>
                  <a:srgbClr val="AEC4D4"/>
                </a:solidFill>
                <a:latin typeface="Fira Code"/>
                <a:ea typeface="Fira Code"/>
                <a:cs typeface="Fira Code"/>
                <a:sym typeface="Fira Code"/>
              </a:rPr>
              <a:t>split_at_mut</a:t>
            </a: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 แบ่ง slice เป็น 2 ส่วนที่ ไม่ทับกันแน่นอน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ตราบใดที่ left/right ยังถูกใช้อยู่ข้างล่าง numbers ถือว่า ถูกยืมแบบ mutable อยู่ จะอ่าน numbers ตรงๆ ไม่ได้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685800" y="1370457"/>
            <a:ext cx="16911828" cy="989838"/>
            <a:chOff x="0" y="0"/>
            <a:chExt cx="22549104" cy="131978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2549104" cy="1319784"/>
            </a:xfrm>
            <a:custGeom>
              <a:avLst/>
              <a:gdLst/>
              <a:ahLst/>
              <a:cxnLst/>
              <a:rect r="r" b="b" t="t" l="l"/>
              <a:pathLst>
                <a:path h="1319784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319784"/>
                  </a:lnTo>
                  <a:lnTo>
                    <a:pt x="0" y="131978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4411" r="0" b="-281409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22549104" cy="13293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b="true" sz="4500">
                  <a:solidFill>
                    <a:srgbClr val="790D16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MUTABLE SLICES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EC4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790D1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>
                  <a:solidFill>
                    <a:srgbClr val="F5EFE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2 · ศิริกานต์ หรุ่นมาบแค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5800" y="1370457"/>
            <a:ext cx="16911828" cy="989838"/>
            <a:chOff x="0" y="0"/>
            <a:chExt cx="22549104" cy="131978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549104" cy="1319784"/>
            </a:xfrm>
            <a:custGeom>
              <a:avLst/>
              <a:gdLst/>
              <a:ahLst/>
              <a:cxnLst/>
              <a:rect r="r" b="b" t="t" l="l"/>
              <a:pathLst>
                <a:path h="1319784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319784"/>
                  </a:lnTo>
                  <a:lnTo>
                    <a:pt x="0" y="13197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411" r="0" b="-28140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2549104" cy="13293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b="true" sz="4500">
                  <a:solidFill>
                    <a:srgbClr val="790D16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SLICE METHODS (ZERO-COPY VIEWS)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835640" y="2541270"/>
            <a:ext cx="6761988" cy="7169658"/>
            <a:chOff x="0" y="0"/>
            <a:chExt cx="1780935" cy="188830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80935" cy="1888305"/>
            </a:xfrm>
            <a:custGeom>
              <a:avLst/>
              <a:gdLst/>
              <a:ahLst/>
              <a:cxnLst/>
              <a:rect r="r" b="b" t="t" l="l"/>
              <a:pathLst>
                <a:path h="1888305" w="1780935">
                  <a:moveTo>
                    <a:pt x="22898" y="0"/>
                  </a:moveTo>
                  <a:lnTo>
                    <a:pt x="1758037" y="0"/>
                  </a:lnTo>
                  <a:cubicBezTo>
                    <a:pt x="1770683" y="0"/>
                    <a:pt x="1780935" y="10252"/>
                    <a:pt x="1780935" y="22898"/>
                  </a:cubicBezTo>
                  <a:lnTo>
                    <a:pt x="1780935" y="1865407"/>
                  </a:lnTo>
                  <a:cubicBezTo>
                    <a:pt x="1780935" y="1878053"/>
                    <a:pt x="1770683" y="1888305"/>
                    <a:pt x="1758037" y="1888305"/>
                  </a:cubicBezTo>
                  <a:lnTo>
                    <a:pt x="22898" y="1888305"/>
                  </a:lnTo>
                  <a:cubicBezTo>
                    <a:pt x="16825" y="1888305"/>
                    <a:pt x="11001" y="1885893"/>
                    <a:pt x="6707" y="1881598"/>
                  </a:cubicBezTo>
                  <a:cubicBezTo>
                    <a:pt x="2412" y="1877304"/>
                    <a:pt x="0" y="1871480"/>
                    <a:pt x="0" y="1865407"/>
                  </a:cubicBezTo>
                  <a:lnTo>
                    <a:pt x="0" y="22898"/>
                  </a:lnTo>
                  <a:cubicBezTo>
                    <a:pt x="0" y="10252"/>
                    <a:pt x="10252" y="0"/>
                    <a:pt x="22898" y="0"/>
                  </a:cubicBezTo>
                  <a:close/>
                </a:path>
              </a:pathLst>
            </a:custGeom>
            <a:solidFill>
              <a:srgbClr val="962D2B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780935" cy="19264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790D1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790D1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13</a:t>
              </a: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685800" y="2537460"/>
            <a:ext cx="9738360" cy="6538613"/>
          </a:xfrm>
          <a:custGeom>
            <a:avLst/>
            <a:gdLst/>
            <a:ahLst/>
            <a:cxnLst/>
            <a:rect r="r" b="b" t="t" l="l"/>
            <a:pathLst>
              <a:path h="6538613" w="9738360">
                <a:moveTo>
                  <a:pt x="0" y="0"/>
                </a:moveTo>
                <a:lnTo>
                  <a:pt x="9738360" y="0"/>
                </a:lnTo>
                <a:lnTo>
                  <a:pt x="9738360" y="6538613"/>
                </a:lnTo>
                <a:lnTo>
                  <a:pt x="0" y="65386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511" t="-19211" r="-8208" b="-16571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1183112" y="2866644"/>
            <a:ext cx="6076188" cy="6515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AEC4D4"/>
                </a:solidFill>
                <a:latin typeface="Fira Code"/>
                <a:ea typeface="Fira Code"/>
                <a:cs typeface="Fira Code"/>
                <a:sym typeface="Fira Code"/>
              </a:rPr>
              <a:t>first / last/ rest</a:t>
            </a: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 หาข้อมูลตัวแรก/สุดท้ายในอาเรย์/ตัวที่เหลือ (ถ้า slice ว่างจะได้ None)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AEC4D4"/>
                </a:solidFill>
                <a:latin typeface="Fira Code"/>
                <a:ea typeface="Fira Code"/>
                <a:cs typeface="Fira Code"/>
                <a:sym typeface="Fira Code"/>
              </a:rPr>
              <a:t>get(x)</a:t>
            </a: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 index เกินขอบเขตได้ None ไม่ panic (ต่างจาก nums[10] ที่ panic)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AEC4D4"/>
                </a:solidFill>
                <a:latin typeface="Fira Code"/>
                <a:ea typeface="Fira Code"/>
                <a:cs typeface="Fira Code"/>
                <a:sym typeface="Fira Code"/>
              </a:rPr>
              <a:t>split_at(x)</a:t>
            </a:r>
            <a:r>
              <a:rPr lang="en-US" b="true" sz="2400">
                <a:solidFill>
                  <a:srgbClr val="F5EFE1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 </a:t>
            </a: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แบ่งเป็น 2 slice ที่ index x คืนเป็น tuple (ไม่ copy)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AEC4D4"/>
                </a:solidFill>
                <a:latin typeface="Fira Code"/>
                <a:ea typeface="Fira Code"/>
                <a:cs typeface="Fira Code"/>
                <a:sym typeface="Fira Code"/>
              </a:rPr>
              <a:t>chunks(x)</a:t>
            </a:r>
            <a:r>
              <a:rPr lang="en-US" b="true" sz="2400">
                <a:solidFill>
                  <a:srgbClr val="F5EFE1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 </a:t>
            </a: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ตัดเป็นท่อนละ x ไม่ซ้อนกัน ท่อนสุดท้ายเหลือเท่าไรก็เท่านั้น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AEC4D4"/>
                </a:solidFill>
                <a:latin typeface="Fira Code"/>
                <a:ea typeface="Fira Code"/>
                <a:cs typeface="Fira Code"/>
                <a:sym typeface="Fira Code"/>
              </a:rPr>
              <a:t>windows(x)</a:t>
            </a:r>
            <a:r>
              <a:rPr lang="en-US" b="true" sz="2400">
                <a:solidFill>
                  <a:srgbClr val="F5EFE1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 </a:t>
            </a: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"หน้าต่าง" ขนาด x เลื่อนทีละ 1 ซ้อนกัน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AEC4D4"/>
                </a:solidFill>
                <a:latin typeface="Fira Code"/>
                <a:ea typeface="Fira Code"/>
                <a:cs typeface="Fira Code"/>
                <a:sym typeface="Fira Code"/>
              </a:rPr>
              <a:t>contains(&amp;x)</a:t>
            </a:r>
            <a:r>
              <a:rPr lang="en-US" b="true" sz="2400">
                <a:solidFill>
                  <a:srgbClr val="F5EFE1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 </a:t>
            </a: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เช็กว่ามีค่านี้อยู่ไหม รับ reference และวนหาแบบเรียงทีละตัว</a:t>
            </a:r>
          </a:p>
        </p:txBody>
      </p:sp>
    </p:spTree>
  </p:cSld>
  <p:clrMapOvr>
    <a:masterClrMapping/>
  </p:clrMapOvr>
  <p:transition spd="fast">
    <p:fade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EC4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790D1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>
                  <a:solidFill>
                    <a:srgbClr val="F5EFE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2 · ศิริกานต์ หรุ่นมาบแค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5800" y="1370457"/>
            <a:ext cx="16911828" cy="989838"/>
            <a:chOff x="0" y="0"/>
            <a:chExt cx="22549104" cy="131978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549104" cy="1319784"/>
            </a:xfrm>
            <a:custGeom>
              <a:avLst/>
              <a:gdLst/>
              <a:ahLst/>
              <a:cxnLst/>
              <a:rect r="r" b="b" t="t" l="l"/>
              <a:pathLst>
                <a:path h="1319784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319784"/>
                  </a:lnTo>
                  <a:lnTo>
                    <a:pt x="0" y="13197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411" r="0" b="-28140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2549104" cy="13293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b="true" sz="4500">
                  <a:solidFill>
                    <a:srgbClr val="790D16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SLICE METHODS (ZERO-COPY VIEWS)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835640" y="2541270"/>
            <a:ext cx="6761988" cy="3836646"/>
            <a:chOff x="0" y="0"/>
            <a:chExt cx="1780935" cy="101047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80935" cy="1010475"/>
            </a:xfrm>
            <a:custGeom>
              <a:avLst/>
              <a:gdLst/>
              <a:ahLst/>
              <a:cxnLst/>
              <a:rect r="r" b="b" t="t" l="l"/>
              <a:pathLst>
                <a:path h="1010475" w="1780935">
                  <a:moveTo>
                    <a:pt x="22898" y="0"/>
                  </a:moveTo>
                  <a:lnTo>
                    <a:pt x="1758037" y="0"/>
                  </a:lnTo>
                  <a:cubicBezTo>
                    <a:pt x="1770683" y="0"/>
                    <a:pt x="1780935" y="10252"/>
                    <a:pt x="1780935" y="22898"/>
                  </a:cubicBezTo>
                  <a:lnTo>
                    <a:pt x="1780935" y="987576"/>
                  </a:lnTo>
                  <a:cubicBezTo>
                    <a:pt x="1780935" y="993649"/>
                    <a:pt x="1778523" y="999474"/>
                    <a:pt x="1774228" y="1003768"/>
                  </a:cubicBezTo>
                  <a:cubicBezTo>
                    <a:pt x="1769934" y="1008062"/>
                    <a:pt x="1764110" y="1010475"/>
                    <a:pt x="1758037" y="1010475"/>
                  </a:cubicBezTo>
                  <a:lnTo>
                    <a:pt x="22898" y="1010475"/>
                  </a:lnTo>
                  <a:cubicBezTo>
                    <a:pt x="10252" y="1010475"/>
                    <a:pt x="0" y="1000223"/>
                    <a:pt x="0" y="987576"/>
                  </a:cubicBezTo>
                  <a:lnTo>
                    <a:pt x="0" y="22898"/>
                  </a:lnTo>
                  <a:cubicBezTo>
                    <a:pt x="0" y="10252"/>
                    <a:pt x="10252" y="0"/>
                    <a:pt x="22898" y="0"/>
                  </a:cubicBezTo>
                  <a:close/>
                </a:path>
              </a:pathLst>
            </a:custGeom>
            <a:solidFill>
              <a:srgbClr val="962D2B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780935" cy="1048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790D1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790D1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14</a:t>
              </a: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685800" y="2537460"/>
            <a:ext cx="9738360" cy="6538613"/>
          </a:xfrm>
          <a:custGeom>
            <a:avLst/>
            <a:gdLst/>
            <a:ahLst/>
            <a:cxnLst/>
            <a:rect r="r" b="b" t="t" l="l"/>
            <a:pathLst>
              <a:path h="6538613" w="9738360">
                <a:moveTo>
                  <a:pt x="0" y="0"/>
                </a:moveTo>
                <a:lnTo>
                  <a:pt x="9738360" y="0"/>
                </a:lnTo>
                <a:lnTo>
                  <a:pt x="9738360" y="6538613"/>
                </a:lnTo>
                <a:lnTo>
                  <a:pt x="0" y="65386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511" t="-19211" r="-8208" b="-16571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1178540" y="2828913"/>
            <a:ext cx="6076188" cy="325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AEC4D4"/>
                </a:solidFill>
                <a:latin typeface="Fira Code"/>
                <a:ea typeface="Fira Code"/>
                <a:cs typeface="Fira Code"/>
                <a:sym typeface="Fira Code"/>
              </a:rPr>
              <a:t>to_vec()</a:t>
            </a: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 คัดลอก ไปสร้าง Vec ใหม่บน heap ที่เป็นเจ้าของข้อมูลเอง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เมธอดส่วนใหญ่ (first, get, split_at, chunks, windows) คืน slice/reference = </a:t>
            </a:r>
            <a:r>
              <a:rPr lang="en-US" b="true" sz="2400">
                <a:solidFill>
                  <a:srgbClr val="F5EFE1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ยืมข้อมูลเดิม ไม่ copy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มีแค่ </a:t>
            </a:r>
            <a:r>
              <a:rPr lang="en-US" sz="2400">
                <a:solidFill>
                  <a:srgbClr val="AEC4D4"/>
                </a:solidFill>
                <a:latin typeface="Fira Code"/>
                <a:ea typeface="Fira Code"/>
                <a:cs typeface="Fira Code"/>
                <a:sym typeface="Fira Code"/>
              </a:rPr>
              <a:t>to_vec()</a:t>
            </a: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 ที่ </a:t>
            </a:r>
            <a:r>
              <a:rPr lang="en-US" b="true" sz="2400">
                <a:solidFill>
                  <a:srgbClr val="F5EFE1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copy</a:t>
            </a: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 จริง</a:t>
            </a:r>
          </a:p>
        </p:txBody>
      </p:sp>
    </p:spTree>
  </p:cSld>
  <p:clrMapOvr>
    <a:masterClrMapping/>
  </p:clrMapOvr>
  <p:transition spd="fast">
    <p:fade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F5EFE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>
                  <a:solidFill>
                    <a:srgbClr val="790D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3 · MEMBER 3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5800" y="1440180"/>
            <a:ext cx="16911828" cy="989838"/>
            <a:chOff x="0" y="0"/>
            <a:chExt cx="22549104" cy="131978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549104" cy="1319784"/>
            </a:xfrm>
            <a:custGeom>
              <a:avLst/>
              <a:gdLst/>
              <a:ahLst/>
              <a:cxnLst/>
              <a:rect r="r" b="b" t="t" l="l"/>
              <a:pathLst>
                <a:path h="1319784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319784"/>
                  </a:lnTo>
                  <a:lnTo>
                    <a:pt x="0" y="13197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411" r="0" b="-28140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2549104" cy="13293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b="true" sz="4500">
                  <a:solidFill>
                    <a:srgbClr val="AEC4D4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PPL PERSPECTIVE — มุมมองเชิง PROGRAMMING LANGUAGE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85800" y="2537460"/>
            <a:ext cx="17100166" cy="7053223"/>
            <a:chOff x="0" y="0"/>
            <a:chExt cx="10440026" cy="430614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440026" cy="4306147"/>
            </a:xfrm>
            <a:custGeom>
              <a:avLst/>
              <a:gdLst/>
              <a:ahLst/>
              <a:cxnLst/>
              <a:rect r="r" b="b" t="t" l="l"/>
              <a:pathLst>
                <a:path h="4306147" w="10440026">
                  <a:moveTo>
                    <a:pt x="0" y="186212"/>
                  </a:moveTo>
                  <a:cubicBezTo>
                    <a:pt x="0" y="83407"/>
                    <a:pt x="94869" y="0"/>
                    <a:pt x="211801" y="0"/>
                  </a:cubicBezTo>
                  <a:lnTo>
                    <a:pt x="10228225" y="0"/>
                  </a:lnTo>
                  <a:cubicBezTo>
                    <a:pt x="10345157" y="0"/>
                    <a:pt x="10440026" y="83407"/>
                    <a:pt x="10440026" y="186212"/>
                  </a:cubicBezTo>
                  <a:lnTo>
                    <a:pt x="10440026" y="4119936"/>
                  </a:lnTo>
                  <a:cubicBezTo>
                    <a:pt x="10440026" y="4222740"/>
                    <a:pt x="10345157" y="4306147"/>
                    <a:pt x="10228225" y="4306147"/>
                  </a:cubicBezTo>
                  <a:lnTo>
                    <a:pt x="211801" y="4306147"/>
                  </a:lnTo>
                  <a:cubicBezTo>
                    <a:pt x="94869" y="4306147"/>
                    <a:pt x="0" y="4222740"/>
                    <a:pt x="0" y="4119936"/>
                  </a:cubicBezTo>
                  <a:close/>
                </a:path>
              </a:pathLst>
            </a:custGeom>
            <a:solidFill>
              <a:srgbClr val="F5EFE1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60120" y="2537460"/>
            <a:ext cx="4860036" cy="870331"/>
            <a:chOff x="0" y="0"/>
            <a:chExt cx="6480048" cy="116044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480048" cy="1160441"/>
            </a:xfrm>
            <a:custGeom>
              <a:avLst/>
              <a:gdLst/>
              <a:ahLst/>
              <a:cxnLst/>
              <a:rect r="r" b="b" t="t" l="l"/>
              <a:pathLst>
                <a:path h="1160441" w="6480048">
                  <a:moveTo>
                    <a:pt x="0" y="0"/>
                  </a:moveTo>
                  <a:lnTo>
                    <a:pt x="6480048" y="0"/>
                  </a:lnTo>
                  <a:lnTo>
                    <a:pt x="6480048" y="1160441"/>
                  </a:lnTo>
                  <a:lnTo>
                    <a:pt x="0" y="11604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287" r="0" b="-4032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6480048" cy="11604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9"/>
                </a:lnSpc>
              </a:pPr>
              <a:r>
                <a:rPr lang="en-US" b="true" sz="3999">
                  <a:solidFill>
                    <a:srgbClr val="790D16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Syntax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F5EF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F5EF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15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960120" y="3626866"/>
            <a:ext cx="16521300" cy="5831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25"/>
              </a:lnSpc>
            </a:pPr>
            <a:r>
              <a:rPr lang="en-US" sz="4100">
                <a:solidFill>
                  <a:srgbClr val="790D16"/>
                </a:solidFill>
                <a:latin typeface="Sarabun"/>
                <a:ea typeface="Sarabun"/>
                <a:cs typeface="Sarabun"/>
                <a:sym typeface="Sarabun"/>
              </a:rPr>
              <a:t>Ru</a:t>
            </a:r>
            <a:r>
              <a:rPr lang="en-US" sz="4100">
                <a:solidFill>
                  <a:srgbClr val="790D16"/>
                </a:solidFill>
                <a:latin typeface="Sarabun"/>
                <a:ea typeface="Sarabun"/>
                <a:cs typeface="Sarabun"/>
                <a:sym typeface="Sarabun"/>
              </a:rPr>
              <a:t>st ใช้ slice เพื่ออ้างอิงข้อมูลบางส่วนของ collection โดยไม่ต้องสร้าง collection ใหม่ขึ้นมา รูปแบบที่พบบ่อยคือ </a:t>
            </a:r>
            <a:r>
              <a:rPr lang="en-US" sz="4100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&amp;collection[start..end]</a:t>
            </a:r>
          </a:p>
          <a:p>
            <a:pPr algn="l">
              <a:lnSpc>
                <a:spcPts val="5125"/>
              </a:lnSpc>
            </a:pPr>
          </a:p>
          <a:p>
            <a:pPr algn="l">
              <a:lnSpc>
                <a:spcPts val="5125"/>
              </a:lnSpc>
            </a:pPr>
            <a:r>
              <a:rPr lang="en-US" sz="4100">
                <a:solidFill>
                  <a:srgbClr val="790D16"/>
                </a:solidFill>
                <a:latin typeface="Sarabun"/>
                <a:ea typeface="Sarabun"/>
                <a:cs typeface="Sarabun"/>
                <a:sym typeface="Sarabun"/>
              </a:rPr>
              <a:t>ตัวอย่าง</a:t>
            </a:r>
          </a:p>
          <a:p>
            <a:pPr algn="l">
              <a:lnSpc>
                <a:spcPts val="5125"/>
              </a:lnSpc>
            </a:pPr>
            <a:r>
              <a:rPr lang="en-US" sz="4100">
                <a:solidFill>
                  <a:srgbClr val="790D16"/>
                </a:solidFill>
                <a:latin typeface="Sarabun"/>
                <a:ea typeface="Sarabun"/>
                <a:cs typeface="Sarabun"/>
                <a:sym typeface="Sarabun"/>
              </a:rPr>
              <a:t>l</a:t>
            </a:r>
            <a:r>
              <a:rPr lang="en-US" sz="4100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et numbers = [10, 20, 30, 40, 50];</a:t>
            </a:r>
          </a:p>
          <a:p>
            <a:pPr algn="l">
              <a:lnSpc>
                <a:spcPts val="5125"/>
              </a:lnSpc>
            </a:pPr>
            <a:r>
              <a:rPr lang="en-US" sz="4100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let part = &amp;numbers[1..4];</a:t>
            </a:r>
          </a:p>
          <a:p>
            <a:pPr algn="l">
              <a:lnSpc>
                <a:spcPts val="5125"/>
              </a:lnSpc>
            </a:pPr>
          </a:p>
          <a:p>
            <a:pPr algn="l">
              <a:lnSpc>
                <a:spcPts val="5125"/>
              </a:lnSpc>
            </a:pPr>
            <a:r>
              <a:rPr lang="en-US" sz="4100">
                <a:solidFill>
                  <a:srgbClr val="790D16"/>
                </a:solidFill>
                <a:latin typeface="Sarabun"/>
                <a:ea typeface="Sarabun"/>
                <a:cs typeface="Sarabun"/>
                <a:sym typeface="Sarabun"/>
              </a:rPr>
              <a:t>ดังนั้น Syntax ของ Slice จะเน้นการใช้ </a:t>
            </a:r>
            <a:r>
              <a:rPr lang="en-US" sz="4100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&amp;</a:t>
            </a:r>
            <a:r>
              <a:rPr lang="en-US" sz="4100">
                <a:solidFill>
                  <a:srgbClr val="790D16"/>
                </a:solidFill>
                <a:latin typeface="Sarabun"/>
                <a:ea typeface="Sarabun"/>
                <a:cs typeface="Sarabun"/>
                <a:sym typeface="Sarabun"/>
              </a:rPr>
              <a:t> ร่วมกับช่วง </a:t>
            </a:r>
            <a:r>
              <a:rPr lang="en-US" sz="4100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[start..end]</a:t>
            </a:r>
            <a:r>
              <a:rPr lang="en-US" sz="4100">
                <a:solidFill>
                  <a:srgbClr val="790D16"/>
                </a:solidFill>
                <a:latin typeface="Sarabun"/>
                <a:ea typeface="Sarabun"/>
                <a:cs typeface="Sarabun"/>
                <a:sym typeface="Sarabun"/>
              </a:rPr>
              <a:t> เพื่อสร้าง reference ไปยังข้อมูลเดิม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F5EFE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>
                  <a:solidFill>
                    <a:srgbClr val="790D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3 · MEMBER 3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5800" y="1440180"/>
            <a:ext cx="16911828" cy="989838"/>
            <a:chOff x="0" y="0"/>
            <a:chExt cx="22549104" cy="131978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549104" cy="1319784"/>
            </a:xfrm>
            <a:custGeom>
              <a:avLst/>
              <a:gdLst/>
              <a:ahLst/>
              <a:cxnLst/>
              <a:rect r="r" b="b" t="t" l="l"/>
              <a:pathLst>
                <a:path h="1319784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319784"/>
                  </a:lnTo>
                  <a:lnTo>
                    <a:pt x="0" y="13197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411" r="0" b="-28140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2549104" cy="13293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b="true" sz="4500">
                  <a:solidFill>
                    <a:srgbClr val="AEC4D4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PPL PERSPECTIVE — มุมมองเชิง PROGRAMMING LANGUAGE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85800" y="2537460"/>
            <a:ext cx="17100166" cy="7053223"/>
            <a:chOff x="0" y="0"/>
            <a:chExt cx="10440026" cy="430614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440026" cy="4306147"/>
            </a:xfrm>
            <a:custGeom>
              <a:avLst/>
              <a:gdLst/>
              <a:ahLst/>
              <a:cxnLst/>
              <a:rect r="r" b="b" t="t" l="l"/>
              <a:pathLst>
                <a:path h="4306147" w="10440026">
                  <a:moveTo>
                    <a:pt x="0" y="186212"/>
                  </a:moveTo>
                  <a:cubicBezTo>
                    <a:pt x="0" y="83407"/>
                    <a:pt x="94869" y="0"/>
                    <a:pt x="211801" y="0"/>
                  </a:cubicBezTo>
                  <a:lnTo>
                    <a:pt x="10228225" y="0"/>
                  </a:lnTo>
                  <a:cubicBezTo>
                    <a:pt x="10345157" y="0"/>
                    <a:pt x="10440026" y="83407"/>
                    <a:pt x="10440026" y="186212"/>
                  </a:cubicBezTo>
                  <a:lnTo>
                    <a:pt x="10440026" y="4119936"/>
                  </a:lnTo>
                  <a:cubicBezTo>
                    <a:pt x="10440026" y="4222740"/>
                    <a:pt x="10345157" y="4306147"/>
                    <a:pt x="10228225" y="4306147"/>
                  </a:cubicBezTo>
                  <a:lnTo>
                    <a:pt x="211801" y="4306147"/>
                  </a:lnTo>
                  <a:cubicBezTo>
                    <a:pt x="94869" y="4306147"/>
                    <a:pt x="0" y="4222740"/>
                    <a:pt x="0" y="4119936"/>
                  </a:cubicBezTo>
                  <a:close/>
                </a:path>
              </a:pathLst>
            </a:custGeom>
            <a:solidFill>
              <a:srgbClr val="F5EFE1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60120" y="2537460"/>
            <a:ext cx="4860036" cy="870331"/>
            <a:chOff x="0" y="0"/>
            <a:chExt cx="6480048" cy="116044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480048" cy="1160441"/>
            </a:xfrm>
            <a:custGeom>
              <a:avLst/>
              <a:gdLst/>
              <a:ahLst/>
              <a:cxnLst/>
              <a:rect r="r" b="b" t="t" l="l"/>
              <a:pathLst>
                <a:path h="1160441" w="6480048">
                  <a:moveTo>
                    <a:pt x="0" y="0"/>
                  </a:moveTo>
                  <a:lnTo>
                    <a:pt x="6480048" y="0"/>
                  </a:lnTo>
                  <a:lnTo>
                    <a:pt x="6480048" y="1160441"/>
                  </a:lnTo>
                  <a:lnTo>
                    <a:pt x="0" y="11604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287" r="0" b="-4032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6480048" cy="11604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9"/>
                </a:lnSpc>
              </a:pPr>
              <a:r>
                <a:rPr lang="en-US" b="true" sz="3999">
                  <a:solidFill>
                    <a:srgbClr val="790D16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Semantics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F5EF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F5EF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16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960120" y="3535172"/>
            <a:ext cx="16521300" cy="5995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0"/>
              </a:lnSpc>
            </a:pPr>
            <a:r>
              <a:rPr lang="en-US" sz="3800">
                <a:solidFill>
                  <a:srgbClr val="790D16"/>
                </a:solidFill>
                <a:latin typeface="Sarabun"/>
                <a:ea typeface="Sarabun"/>
                <a:cs typeface="Sarabun"/>
                <a:sym typeface="Sarabun"/>
              </a:rPr>
              <a:t>S</a:t>
            </a:r>
            <a:r>
              <a:rPr lang="en-US" sz="3800">
                <a:solidFill>
                  <a:srgbClr val="790D16"/>
                </a:solidFill>
                <a:latin typeface="Sarabun"/>
                <a:ea typeface="Sarabun"/>
                <a:cs typeface="Sarabun"/>
                <a:sym typeface="Sarabun"/>
              </a:rPr>
              <a:t>lice มีความหมายว่าเป็น</a:t>
            </a:r>
            <a:r>
              <a:rPr lang="en-US" sz="3800">
                <a:solidFill>
                  <a:srgbClr val="790D16"/>
                </a:solidFill>
                <a:latin typeface="Sarabun"/>
                <a:ea typeface="Sarabun"/>
                <a:cs typeface="Sarabun"/>
                <a:sym typeface="Sarabun"/>
              </a:rPr>
              <a:t> ส่ว</a:t>
            </a:r>
            <a:r>
              <a:rPr lang="en-US" sz="3800">
                <a:solidFill>
                  <a:srgbClr val="790D16"/>
                </a:solidFill>
                <a:latin typeface="Sarabun"/>
                <a:ea typeface="Sarabun"/>
                <a:cs typeface="Sarabun"/>
                <a:sym typeface="Sarabun"/>
              </a:rPr>
              <a:t>นหนึ่งของข้อมูลเดิม ไม่ใช่ข้อมูลชุดใหม่</a:t>
            </a:r>
          </a:p>
          <a:p>
            <a:pPr algn="l">
              <a:lnSpc>
                <a:spcPts val="4750"/>
              </a:lnSpc>
            </a:pPr>
          </a:p>
          <a:p>
            <a:pPr algn="l">
              <a:lnSpc>
                <a:spcPts val="4750"/>
              </a:lnSpc>
            </a:pPr>
            <a:r>
              <a:rPr lang="en-US" sz="3800">
                <a:solidFill>
                  <a:srgbClr val="790D16"/>
                </a:solidFill>
                <a:latin typeface="Sarabun"/>
                <a:ea typeface="Sarabun"/>
                <a:cs typeface="Sarabun"/>
                <a:sym typeface="Sarabun"/>
              </a:rPr>
              <a:t>ตัวอย่าง</a:t>
            </a:r>
          </a:p>
          <a:p>
            <a:pPr algn="l">
              <a:lnSpc>
                <a:spcPts val="4750"/>
              </a:lnSpc>
            </a:pPr>
            <a:r>
              <a:rPr lang="en-US" sz="3800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let data = [10, 20, 30, 40, 50];</a:t>
            </a:r>
          </a:p>
          <a:p>
            <a:pPr algn="l">
              <a:lnSpc>
                <a:spcPts val="4750"/>
              </a:lnSpc>
            </a:pPr>
            <a:r>
              <a:rPr lang="en-US" sz="3800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let part = &amp;numbers[1..4];</a:t>
            </a:r>
          </a:p>
          <a:p>
            <a:pPr algn="l">
              <a:lnSpc>
                <a:spcPts val="4750"/>
              </a:lnSpc>
            </a:pPr>
          </a:p>
          <a:p>
            <a:pPr algn="l">
              <a:lnSpc>
                <a:spcPts val="4750"/>
              </a:lnSpc>
            </a:pPr>
            <a:r>
              <a:rPr lang="en-US" sz="3800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part </a:t>
            </a:r>
            <a:r>
              <a:rPr lang="en-US" sz="3800">
                <a:solidFill>
                  <a:srgbClr val="8B2E2E"/>
                </a:solidFill>
                <a:latin typeface="Sarabun"/>
                <a:ea typeface="Sarabun"/>
                <a:cs typeface="Sarabun"/>
                <a:sym typeface="Sarabun"/>
              </a:rPr>
              <a:t>หมายถึงข้อมูล 20, 30, 40 แต่ข้อมูลยังอยู่ใน </a:t>
            </a:r>
            <a:r>
              <a:rPr lang="en-US" sz="3800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data</a:t>
            </a:r>
            <a:r>
              <a:rPr lang="en-US" sz="3800">
                <a:solidFill>
                  <a:srgbClr val="8B2E2E"/>
                </a:solidFill>
                <a:latin typeface="Sarabun"/>
                <a:ea typeface="Sarabun"/>
                <a:cs typeface="Sarabun"/>
                <a:sym typeface="Sarabun"/>
              </a:rPr>
              <a:t> เหมือนเดิม</a:t>
            </a:r>
          </a:p>
          <a:p>
            <a:pPr algn="l">
              <a:lnSpc>
                <a:spcPts val="4750"/>
              </a:lnSpc>
            </a:pPr>
            <a:r>
              <a:rPr lang="en-US" sz="3800">
                <a:solidFill>
                  <a:srgbClr val="8B2E2E"/>
                </a:solidFill>
                <a:latin typeface="Sarabun"/>
                <a:ea typeface="Sarabun"/>
                <a:cs typeface="Sarabun"/>
                <a:sym typeface="Sarabun"/>
              </a:rPr>
              <a:t>แนวคิดสำคัญคือ Slice เป็น borrowed reference จึงไม่ได้เป็นเจ้าของข้อมูล</a:t>
            </a:r>
          </a:p>
          <a:p>
            <a:pPr algn="l">
              <a:lnSpc>
                <a:spcPts val="4750"/>
              </a:lnSpc>
            </a:pPr>
            <a:r>
              <a:rPr lang="en-US" sz="3800">
                <a:solidFill>
                  <a:srgbClr val="8B2E2E"/>
                </a:solidFill>
                <a:latin typeface="Sarabun"/>
                <a:ea typeface="Sarabun"/>
                <a:cs typeface="Sarabun"/>
                <a:sym typeface="Sarabun"/>
              </a:rPr>
              <a:t>ดังนั้น Semantics ของ Slice คือ การอ้างอิงข้อมูลเดิมบางช่วงผ่าน borrowing โดยไม่โอน ownership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F5EFE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>
                  <a:solidFill>
                    <a:srgbClr val="790D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3 · MEMBER 3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5800" y="1440180"/>
            <a:ext cx="16911828" cy="989838"/>
            <a:chOff x="0" y="0"/>
            <a:chExt cx="22549104" cy="131978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549104" cy="1319784"/>
            </a:xfrm>
            <a:custGeom>
              <a:avLst/>
              <a:gdLst/>
              <a:ahLst/>
              <a:cxnLst/>
              <a:rect r="r" b="b" t="t" l="l"/>
              <a:pathLst>
                <a:path h="1319784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319784"/>
                  </a:lnTo>
                  <a:lnTo>
                    <a:pt x="0" y="13197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411" r="0" b="-28140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2549104" cy="13293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b="true" sz="4500">
                  <a:solidFill>
                    <a:srgbClr val="AEC4D4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PPL PERSPECTIVE — มุมมองเชิง PROGRAMMING LANGUAGE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85800" y="2537460"/>
            <a:ext cx="17100166" cy="7053223"/>
            <a:chOff x="0" y="0"/>
            <a:chExt cx="10440026" cy="430614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440026" cy="4306147"/>
            </a:xfrm>
            <a:custGeom>
              <a:avLst/>
              <a:gdLst/>
              <a:ahLst/>
              <a:cxnLst/>
              <a:rect r="r" b="b" t="t" l="l"/>
              <a:pathLst>
                <a:path h="4306147" w="10440026">
                  <a:moveTo>
                    <a:pt x="0" y="186212"/>
                  </a:moveTo>
                  <a:cubicBezTo>
                    <a:pt x="0" y="83407"/>
                    <a:pt x="94869" y="0"/>
                    <a:pt x="211801" y="0"/>
                  </a:cubicBezTo>
                  <a:lnTo>
                    <a:pt x="10228225" y="0"/>
                  </a:lnTo>
                  <a:cubicBezTo>
                    <a:pt x="10345157" y="0"/>
                    <a:pt x="10440026" y="83407"/>
                    <a:pt x="10440026" y="186212"/>
                  </a:cubicBezTo>
                  <a:lnTo>
                    <a:pt x="10440026" y="4119936"/>
                  </a:lnTo>
                  <a:cubicBezTo>
                    <a:pt x="10440026" y="4222740"/>
                    <a:pt x="10345157" y="4306147"/>
                    <a:pt x="10228225" y="4306147"/>
                  </a:cubicBezTo>
                  <a:lnTo>
                    <a:pt x="211801" y="4306147"/>
                  </a:lnTo>
                  <a:cubicBezTo>
                    <a:pt x="94869" y="4306147"/>
                    <a:pt x="0" y="4222740"/>
                    <a:pt x="0" y="4119936"/>
                  </a:cubicBezTo>
                  <a:close/>
                </a:path>
              </a:pathLst>
            </a:custGeom>
            <a:solidFill>
              <a:srgbClr val="F5EFE1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60120" y="2537460"/>
            <a:ext cx="4860036" cy="870331"/>
            <a:chOff x="0" y="0"/>
            <a:chExt cx="6480048" cy="116044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480048" cy="1160441"/>
            </a:xfrm>
            <a:custGeom>
              <a:avLst/>
              <a:gdLst/>
              <a:ahLst/>
              <a:cxnLst/>
              <a:rect r="r" b="b" t="t" l="l"/>
              <a:pathLst>
                <a:path h="1160441" w="6480048">
                  <a:moveTo>
                    <a:pt x="0" y="0"/>
                  </a:moveTo>
                  <a:lnTo>
                    <a:pt x="6480048" y="0"/>
                  </a:lnTo>
                  <a:lnTo>
                    <a:pt x="6480048" y="1160441"/>
                  </a:lnTo>
                  <a:lnTo>
                    <a:pt x="0" y="11604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287" r="0" b="-4032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6480048" cy="11604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9"/>
                </a:lnSpc>
              </a:pPr>
              <a:r>
                <a:rPr lang="en-US" b="true" sz="3999">
                  <a:solidFill>
                    <a:srgbClr val="790D16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Type System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F5EF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F5EF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17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960120" y="3535172"/>
            <a:ext cx="16521300" cy="6398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0"/>
              </a:lnSpc>
            </a:pPr>
            <a:r>
              <a:rPr lang="en-US" sz="3400">
                <a:solidFill>
                  <a:srgbClr val="790D16"/>
                </a:solidFill>
                <a:latin typeface="Sarabun"/>
                <a:ea typeface="Sarabun"/>
                <a:cs typeface="Sarabun"/>
                <a:sym typeface="Sarabun"/>
              </a:rPr>
              <a:t>Rust</a:t>
            </a:r>
            <a:r>
              <a:rPr lang="en-US" sz="3400">
                <a:solidFill>
                  <a:srgbClr val="790D16"/>
                </a:solidFill>
                <a:latin typeface="Sarabun"/>
                <a:ea typeface="Sarabun"/>
                <a:cs typeface="Sarabun"/>
                <a:sym typeface="Sarabun"/>
              </a:rPr>
              <a:t> มี</a:t>
            </a:r>
            <a:r>
              <a:rPr lang="en-US" sz="3400">
                <a:solidFill>
                  <a:srgbClr val="790D16"/>
                </a:solidFill>
                <a:latin typeface="Sarabun"/>
                <a:ea typeface="Sarabun"/>
                <a:cs typeface="Sarabun"/>
                <a:sym typeface="Sarabun"/>
              </a:rPr>
              <a:t> Type System ที่ทำงานร่วมกับ Slice และ Ownership อย่างชัดเจน</a:t>
            </a:r>
          </a:p>
          <a:p>
            <a:pPr algn="l">
              <a:lnSpc>
                <a:spcPts val="4250"/>
              </a:lnSpc>
            </a:pPr>
          </a:p>
          <a:p>
            <a:pPr algn="l">
              <a:lnSpc>
                <a:spcPts val="4250"/>
              </a:lnSpc>
            </a:pPr>
            <a:r>
              <a:rPr lang="en-US" sz="3400">
                <a:solidFill>
                  <a:srgbClr val="790D16"/>
                </a:solidFill>
                <a:latin typeface="Sarabun"/>
                <a:ea typeface="Sarabun"/>
                <a:cs typeface="Sarabun"/>
                <a:sym typeface="Sarabun"/>
              </a:rPr>
              <a:t>ตัวอย่างชนิดที่เกี่ยวข้อง</a:t>
            </a:r>
          </a:p>
          <a:p>
            <a:pPr algn="l">
              <a:lnSpc>
                <a:spcPts val="4250"/>
              </a:lnSpc>
            </a:pPr>
            <a:r>
              <a:rPr lang="en-US" sz="3400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let arr: [i32; 5] = [1, 2, 3, 4, 5];</a:t>
            </a:r>
          </a:p>
          <a:p>
            <a:pPr algn="l">
              <a:lnSpc>
                <a:spcPts val="4250"/>
              </a:lnSpc>
            </a:pPr>
            <a:r>
              <a:rPr lang="en-US" sz="3400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let slice: &amp;[i32] = &amp;arr[1..4];</a:t>
            </a:r>
          </a:p>
          <a:p>
            <a:pPr algn="l">
              <a:lnSpc>
                <a:spcPts val="4250"/>
              </a:lnSpc>
            </a:pPr>
            <a:r>
              <a:rPr lang="en-US" sz="3400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let text: &amp;str = "Hello Rust";</a:t>
            </a:r>
          </a:p>
          <a:p>
            <a:pPr algn="l">
              <a:lnSpc>
                <a:spcPts val="4250"/>
              </a:lnSpc>
            </a:pPr>
            <a:r>
              <a:rPr lang="en-US" sz="3400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let vec: Vec&lt;i32&gt; = vec![1, 2, 3, 4, 5];</a:t>
            </a:r>
          </a:p>
          <a:p>
            <a:pPr algn="l">
              <a:lnSpc>
                <a:spcPts val="4250"/>
              </a:lnSpc>
            </a:pPr>
            <a:r>
              <a:rPr lang="en-US" sz="3400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let vec_slice: &amp;[i32] = &amp;vec[1..4];</a:t>
            </a:r>
          </a:p>
          <a:p>
            <a:pPr algn="l">
              <a:lnSpc>
                <a:spcPts val="4250"/>
              </a:lnSpc>
            </a:pPr>
          </a:p>
          <a:p>
            <a:pPr algn="l">
              <a:lnSpc>
                <a:spcPts val="4250"/>
              </a:lnSpc>
            </a:pPr>
            <a:r>
              <a:rPr lang="en-US" sz="3400">
                <a:solidFill>
                  <a:srgbClr val="8B2E2E"/>
                </a:solidFill>
                <a:latin typeface="Sarabun"/>
                <a:ea typeface="Sarabun"/>
                <a:cs typeface="Sarabun"/>
                <a:sym typeface="Sarabun"/>
              </a:rPr>
              <a:t>ดังนั้น Rust จึงใช้ Type System เพื่อแยกให้ชัดว่าอะไรเป็นเจ้าของข้อมูล และอะไรเป็นเพียง reference ที่ยืมข้อมูลมาใช้</a:t>
            </a:r>
          </a:p>
          <a:p>
            <a:pPr algn="l">
              <a:lnSpc>
                <a:spcPts val="4250"/>
              </a:lnSpc>
            </a:pP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F5EFE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>
                  <a:solidFill>
                    <a:srgbClr val="790D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3 · MEMBER 3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5800" y="1440180"/>
            <a:ext cx="16911828" cy="989838"/>
            <a:chOff x="0" y="0"/>
            <a:chExt cx="22549104" cy="131978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549104" cy="1319784"/>
            </a:xfrm>
            <a:custGeom>
              <a:avLst/>
              <a:gdLst/>
              <a:ahLst/>
              <a:cxnLst/>
              <a:rect r="r" b="b" t="t" l="l"/>
              <a:pathLst>
                <a:path h="1319784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319784"/>
                  </a:lnTo>
                  <a:lnTo>
                    <a:pt x="0" y="13197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411" r="0" b="-28140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2549104" cy="13293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b="true" sz="4500">
                  <a:solidFill>
                    <a:srgbClr val="AEC4D4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PPL PERSPECTIVE — มุมมองเชิง PROGRAMMING LANGUAGE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85800" y="2537460"/>
            <a:ext cx="17100166" cy="7053223"/>
            <a:chOff x="0" y="0"/>
            <a:chExt cx="10440026" cy="430614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440026" cy="4306147"/>
            </a:xfrm>
            <a:custGeom>
              <a:avLst/>
              <a:gdLst/>
              <a:ahLst/>
              <a:cxnLst/>
              <a:rect r="r" b="b" t="t" l="l"/>
              <a:pathLst>
                <a:path h="4306147" w="10440026">
                  <a:moveTo>
                    <a:pt x="0" y="186212"/>
                  </a:moveTo>
                  <a:cubicBezTo>
                    <a:pt x="0" y="83407"/>
                    <a:pt x="94869" y="0"/>
                    <a:pt x="211801" y="0"/>
                  </a:cubicBezTo>
                  <a:lnTo>
                    <a:pt x="10228225" y="0"/>
                  </a:lnTo>
                  <a:cubicBezTo>
                    <a:pt x="10345157" y="0"/>
                    <a:pt x="10440026" y="83407"/>
                    <a:pt x="10440026" y="186212"/>
                  </a:cubicBezTo>
                  <a:lnTo>
                    <a:pt x="10440026" y="4119936"/>
                  </a:lnTo>
                  <a:cubicBezTo>
                    <a:pt x="10440026" y="4222740"/>
                    <a:pt x="10345157" y="4306147"/>
                    <a:pt x="10228225" y="4306147"/>
                  </a:cubicBezTo>
                  <a:lnTo>
                    <a:pt x="211801" y="4306147"/>
                  </a:lnTo>
                  <a:cubicBezTo>
                    <a:pt x="94869" y="4306147"/>
                    <a:pt x="0" y="4222740"/>
                    <a:pt x="0" y="4119936"/>
                  </a:cubicBezTo>
                  <a:close/>
                </a:path>
              </a:pathLst>
            </a:custGeom>
            <a:solidFill>
              <a:srgbClr val="F5EFE1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60120" y="2556955"/>
            <a:ext cx="5801361" cy="870331"/>
            <a:chOff x="0" y="0"/>
            <a:chExt cx="7735148" cy="116044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735147" cy="1160441"/>
            </a:xfrm>
            <a:custGeom>
              <a:avLst/>
              <a:gdLst/>
              <a:ahLst/>
              <a:cxnLst/>
              <a:rect r="r" b="b" t="t" l="l"/>
              <a:pathLst>
                <a:path h="1160441" w="7735147">
                  <a:moveTo>
                    <a:pt x="0" y="0"/>
                  </a:moveTo>
                  <a:lnTo>
                    <a:pt x="7735147" y="0"/>
                  </a:lnTo>
                  <a:lnTo>
                    <a:pt x="7735147" y="1160441"/>
                  </a:lnTo>
                  <a:lnTo>
                    <a:pt x="0" y="11604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287" r="16225" b="-4032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7735148" cy="11604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9"/>
                </a:lnSpc>
              </a:pPr>
              <a:r>
                <a:rPr lang="en-US" sz="3999" b="true">
                  <a:solidFill>
                    <a:srgbClr val="790D16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M</a:t>
              </a:r>
              <a:r>
                <a:rPr lang="en-US" b="true" sz="3999">
                  <a:solidFill>
                    <a:srgbClr val="790D16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emory / Resource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F5EF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F5EF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18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960120" y="3535172"/>
            <a:ext cx="16553858" cy="605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00"/>
              </a:lnSpc>
            </a:pPr>
            <a:r>
              <a:rPr lang="en-US" sz="3200">
                <a:solidFill>
                  <a:srgbClr val="790D16"/>
                </a:solidFill>
                <a:latin typeface="Sarabun"/>
                <a:ea typeface="Sarabun"/>
                <a:cs typeface="Sarabun"/>
                <a:sym typeface="Sarabun"/>
              </a:rPr>
              <a:t>Rust</a:t>
            </a:r>
            <a:r>
              <a:rPr lang="en-US" sz="3200">
                <a:solidFill>
                  <a:srgbClr val="790D16"/>
                </a:solidFill>
                <a:latin typeface="Sarabun"/>
                <a:ea typeface="Sarabun"/>
                <a:cs typeface="Sarabun"/>
                <a:sym typeface="Sarabun"/>
              </a:rPr>
              <a:t> มีก</a:t>
            </a:r>
            <a:r>
              <a:rPr lang="en-US" sz="3200">
                <a:solidFill>
                  <a:srgbClr val="790D16"/>
                </a:solidFill>
                <a:latin typeface="Sarabun"/>
                <a:ea typeface="Sarabun"/>
                <a:cs typeface="Sarabun"/>
                <a:sym typeface="Sarabun"/>
              </a:rPr>
              <a:t>ารจัดการ Memory โดยใช้แนวคิด Ownership, Borrowing และ Lifetime แทนการใช้ Garbage Collector </a:t>
            </a:r>
          </a:p>
          <a:p>
            <a:pPr algn="l">
              <a:lnSpc>
                <a:spcPts val="4000"/>
              </a:lnSpc>
            </a:pPr>
          </a:p>
          <a:p>
            <a:pPr algn="l">
              <a:lnSpc>
                <a:spcPts val="4000"/>
              </a:lnSpc>
            </a:pPr>
            <a:r>
              <a:rPr lang="en-US" sz="3200">
                <a:solidFill>
                  <a:srgbClr val="790D16"/>
                </a:solidFill>
                <a:latin typeface="Sarabun"/>
                <a:ea typeface="Sarabun"/>
                <a:cs typeface="Sarabun"/>
                <a:sym typeface="Sarabun"/>
              </a:rPr>
              <a:t>ตัวอย่าง</a:t>
            </a:r>
          </a:p>
          <a:p>
            <a:pPr algn="l">
              <a:lnSpc>
                <a:spcPts val="4000"/>
              </a:lnSpc>
            </a:pPr>
            <a:r>
              <a:rPr lang="en-US" sz="3200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let numbers = vec![10, 20, 30, 40, 50];</a:t>
            </a:r>
          </a:p>
          <a:p>
            <a:pPr algn="l">
              <a:lnSpc>
                <a:spcPts val="4000"/>
              </a:lnSpc>
            </a:pPr>
            <a:r>
              <a:rPr lang="en-US" sz="3200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let part = &amp;numbers[1..4];</a:t>
            </a:r>
          </a:p>
          <a:p>
            <a:pPr algn="l">
              <a:lnSpc>
                <a:spcPts val="4000"/>
              </a:lnSpc>
            </a:pPr>
          </a:p>
          <a:p>
            <a:pPr algn="l">
              <a:lnSpc>
                <a:spcPts val="4000"/>
              </a:lnSpc>
            </a:pPr>
            <a:r>
              <a:rPr lang="en-US" sz="3200">
                <a:solidFill>
                  <a:srgbClr val="8B2E2E"/>
                </a:solidFill>
                <a:latin typeface="Sarabun"/>
                <a:ea typeface="Sarabun"/>
                <a:cs typeface="Sarabun"/>
                <a:sym typeface="Sarabun"/>
              </a:rPr>
              <a:t>ในตัวอย่างนี้ </a:t>
            </a:r>
            <a:r>
              <a:rPr lang="en-US" sz="3200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numbers</a:t>
            </a:r>
            <a:r>
              <a:rPr lang="en-US" sz="3200">
                <a:solidFill>
                  <a:srgbClr val="8B2E2E"/>
                </a:solidFill>
                <a:latin typeface="Sarabun"/>
                <a:ea typeface="Sarabun"/>
                <a:cs typeface="Sarabun"/>
                <a:sym typeface="Sarabun"/>
              </a:rPr>
              <a:t> เป็นเจ้าของ </a:t>
            </a:r>
            <a:r>
              <a:rPr lang="en-US" sz="3200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Vec</a:t>
            </a:r>
            <a:r>
              <a:rPr lang="en-US" sz="3200">
                <a:solidFill>
                  <a:srgbClr val="8B2E2E"/>
                </a:solidFill>
                <a:latin typeface="Sarabun"/>
                <a:ea typeface="Sarabun"/>
                <a:cs typeface="Sarabun"/>
                <a:sym typeface="Sarabun"/>
              </a:rPr>
              <a:t> และข้อมูลของ </a:t>
            </a:r>
            <a:r>
              <a:rPr lang="en-US" sz="3200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Vec</a:t>
            </a:r>
            <a:r>
              <a:rPr lang="en-US" sz="3200">
                <a:solidFill>
                  <a:srgbClr val="8B2E2E"/>
                </a:solidFill>
                <a:latin typeface="Sarabun"/>
                <a:ea typeface="Sarabun"/>
                <a:cs typeface="Sarabun"/>
                <a:sym typeface="Sarabun"/>
              </a:rPr>
              <a:t> โดยทั่วไปจะเก็บอยู่บน Heap</a:t>
            </a:r>
          </a:p>
          <a:p>
            <a:pPr algn="l">
              <a:lnSpc>
                <a:spcPts val="4000"/>
              </a:lnSpc>
            </a:pPr>
            <a:r>
              <a:rPr lang="en-US" sz="3200">
                <a:solidFill>
                  <a:srgbClr val="8B2E2E"/>
                </a:solidFill>
                <a:latin typeface="Sarabun"/>
                <a:ea typeface="Sarabun"/>
                <a:cs typeface="Sarabun"/>
                <a:sym typeface="Sarabun"/>
              </a:rPr>
              <a:t>ส่วนตัวแปร </a:t>
            </a:r>
            <a:r>
              <a:rPr lang="en-US" sz="3200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part</a:t>
            </a:r>
            <a:r>
              <a:rPr lang="en-US" sz="3200">
                <a:solidFill>
                  <a:srgbClr val="8B2E2E"/>
                </a:solidFill>
                <a:latin typeface="Sarabun"/>
                <a:ea typeface="Sarabun"/>
                <a:cs typeface="Sarabun"/>
                <a:sym typeface="Sarabun"/>
              </a:rPr>
              <a:t> เป็น slice reference ที่ใช้ชี้ไปยังข้อมูลบางส่วนของ </a:t>
            </a:r>
            <a:r>
              <a:rPr lang="en-US" sz="3200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numbers</a:t>
            </a:r>
          </a:p>
          <a:p>
            <a:pPr algn="l">
              <a:lnSpc>
                <a:spcPts val="4000"/>
              </a:lnSpc>
            </a:pPr>
            <a:r>
              <a:rPr lang="en-US" sz="3200">
                <a:solidFill>
                  <a:srgbClr val="8B2E2E"/>
                </a:solidFill>
                <a:latin typeface="Sarabun"/>
                <a:ea typeface="Sarabun"/>
                <a:cs typeface="Sarabun"/>
                <a:sym typeface="Sarabun"/>
              </a:rPr>
              <a:t>จุดสำคัญคือ Slice ไม่ได้เป็นเจ้าของข้อมูล และเมื่อ </a:t>
            </a:r>
            <a:r>
              <a:rPr lang="en-US" sz="3200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numbers</a:t>
            </a:r>
            <a:r>
              <a:rPr lang="en-US" sz="3200">
                <a:solidFill>
                  <a:srgbClr val="8B2E2E"/>
                </a:solidFill>
                <a:latin typeface="Sarabun"/>
                <a:ea typeface="Sarabun"/>
                <a:cs typeface="Sarabun"/>
                <a:sym typeface="Sarabun"/>
              </a:rPr>
              <a:t> หมด Scope ข้อมูลที่ part อ้างอิงอยู่ก็ไม่สามารถถูกใช้งานต่อได้ เพราะ Rust ใช้ Borrow Checker ป้องกันไม่ให้เกิดการอ้างอิงข้อมูลที่หมดอายุแล้ว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F5EFE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>
                  <a:solidFill>
                    <a:srgbClr val="790D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3 · MEMBER 3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5800" y="1440180"/>
            <a:ext cx="16911828" cy="989838"/>
            <a:chOff x="0" y="0"/>
            <a:chExt cx="22549104" cy="131978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549104" cy="1319784"/>
            </a:xfrm>
            <a:custGeom>
              <a:avLst/>
              <a:gdLst/>
              <a:ahLst/>
              <a:cxnLst/>
              <a:rect r="r" b="b" t="t" l="l"/>
              <a:pathLst>
                <a:path h="1319784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319784"/>
                  </a:lnTo>
                  <a:lnTo>
                    <a:pt x="0" y="13197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411" r="0" b="-28140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2549104" cy="13293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b="true" sz="4500">
                  <a:solidFill>
                    <a:srgbClr val="AEC4D4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PPL PERSPECTIVE — มุมมองเชิง PROGRAMMING LANGUAGE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85800" y="2537460"/>
            <a:ext cx="17100166" cy="2152798"/>
            <a:chOff x="0" y="0"/>
            <a:chExt cx="10440026" cy="131433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440026" cy="1314330"/>
            </a:xfrm>
            <a:custGeom>
              <a:avLst/>
              <a:gdLst/>
              <a:ahLst/>
              <a:cxnLst/>
              <a:rect r="r" b="b" t="t" l="l"/>
              <a:pathLst>
                <a:path h="1314330" w="10440026">
                  <a:moveTo>
                    <a:pt x="0" y="56836"/>
                  </a:moveTo>
                  <a:cubicBezTo>
                    <a:pt x="0" y="25458"/>
                    <a:pt x="94869" y="0"/>
                    <a:pt x="211801" y="0"/>
                  </a:cubicBezTo>
                  <a:lnTo>
                    <a:pt x="10228225" y="0"/>
                  </a:lnTo>
                  <a:cubicBezTo>
                    <a:pt x="10345157" y="0"/>
                    <a:pt x="10440026" y="25458"/>
                    <a:pt x="10440026" y="56836"/>
                  </a:cubicBezTo>
                  <a:lnTo>
                    <a:pt x="10440026" y="1257494"/>
                  </a:lnTo>
                  <a:cubicBezTo>
                    <a:pt x="10440026" y="1288873"/>
                    <a:pt x="10345157" y="1314330"/>
                    <a:pt x="10228225" y="1314330"/>
                  </a:cubicBezTo>
                  <a:lnTo>
                    <a:pt x="211801" y="1314330"/>
                  </a:lnTo>
                  <a:cubicBezTo>
                    <a:pt x="94869" y="1314330"/>
                    <a:pt x="0" y="1288872"/>
                    <a:pt x="0" y="1257494"/>
                  </a:cubicBezTo>
                  <a:close/>
                </a:path>
              </a:pathLst>
            </a:custGeom>
            <a:solidFill>
              <a:srgbClr val="F5EFE1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60120" y="2537460"/>
            <a:ext cx="9843520" cy="1470406"/>
            <a:chOff x="0" y="0"/>
            <a:chExt cx="13124693" cy="196054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124692" cy="1960541"/>
            </a:xfrm>
            <a:custGeom>
              <a:avLst/>
              <a:gdLst/>
              <a:ahLst/>
              <a:cxnLst/>
              <a:rect r="r" b="b" t="t" l="l"/>
              <a:pathLst>
                <a:path h="1960541" w="13124692">
                  <a:moveTo>
                    <a:pt x="0" y="0"/>
                  </a:moveTo>
                  <a:lnTo>
                    <a:pt x="13124692" y="0"/>
                  </a:lnTo>
                  <a:lnTo>
                    <a:pt x="13124692" y="1960541"/>
                  </a:lnTo>
                  <a:lnTo>
                    <a:pt x="0" y="19605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746" r="50627" b="1694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3124693" cy="19605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9"/>
                </a:lnSpc>
              </a:pPr>
              <a:r>
                <a:rPr lang="en-US" sz="3999" b="true">
                  <a:solidFill>
                    <a:srgbClr val="790D16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Ab</a:t>
              </a:r>
              <a:r>
                <a:rPr lang="en-US" b="true" sz="3999">
                  <a:solidFill>
                    <a:srgbClr val="790D16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straction</a:t>
              </a:r>
            </a:p>
            <a:p>
              <a:pPr algn="l">
                <a:lnSpc>
                  <a:spcPts val="479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F5EF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F5EF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19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99770" y="4877056"/>
            <a:ext cx="5501260" cy="4381244"/>
            <a:chOff x="0" y="0"/>
            <a:chExt cx="3358639" cy="267484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358639" cy="2674846"/>
            </a:xfrm>
            <a:custGeom>
              <a:avLst/>
              <a:gdLst/>
              <a:ahLst/>
              <a:cxnLst/>
              <a:rect r="r" b="b" t="t" l="l"/>
              <a:pathLst>
                <a:path h="2674846" w="3358639">
                  <a:moveTo>
                    <a:pt x="0" y="115669"/>
                  </a:moveTo>
                  <a:cubicBezTo>
                    <a:pt x="0" y="51810"/>
                    <a:pt x="30520" y="0"/>
                    <a:pt x="68138" y="0"/>
                  </a:cubicBezTo>
                  <a:lnTo>
                    <a:pt x="3290501" y="0"/>
                  </a:lnTo>
                  <a:cubicBezTo>
                    <a:pt x="3328119" y="0"/>
                    <a:pt x="3358639" y="51810"/>
                    <a:pt x="3358639" y="115669"/>
                  </a:cubicBezTo>
                  <a:lnTo>
                    <a:pt x="3358639" y="2559177"/>
                  </a:lnTo>
                  <a:cubicBezTo>
                    <a:pt x="3358639" y="2623036"/>
                    <a:pt x="3328119" y="2674846"/>
                    <a:pt x="3290501" y="2674846"/>
                  </a:cubicBezTo>
                  <a:lnTo>
                    <a:pt x="68138" y="2674846"/>
                  </a:lnTo>
                  <a:cubicBezTo>
                    <a:pt x="30520" y="2674846"/>
                    <a:pt x="0" y="2623036"/>
                    <a:pt x="0" y="2559177"/>
                  </a:cubicBezTo>
                  <a:close/>
                </a:path>
              </a:pathLst>
            </a:custGeom>
            <a:solidFill>
              <a:srgbClr val="F5EFE1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960120" y="3554222"/>
            <a:ext cx="16521300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9"/>
              </a:lnSpc>
            </a:pPr>
            <a:r>
              <a:rPr lang="en-US" sz="3799">
                <a:solidFill>
                  <a:srgbClr val="790D16"/>
                </a:solidFill>
                <a:latin typeface="Sarabun"/>
                <a:ea typeface="Sarabun"/>
                <a:cs typeface="Sarabun"/>
                <a:sym typeface="Sarabun"/>
              </a:rPr>
              <a:t>Slic</a:t>
            </a:r>
            <a:r>
              <a:rPr lang="en-US" sz="3799">
                <a:solidFill>
                  <a:srgbClr val="790D16"/>
                </a:solidFill>
                <a:latin typeface="Sarabun"/>
                <a:ea typeface="Sarabun"/>
                <a:cs typeface="Sarabun"/>
                <a:sym typeface="Sarabun"/>
              </a:rPr>
              <a:t>e ช่วยให้โปรแกรมเมอร์สนใจเฉพาะ “ข้อมูลช่วงที่ต้องการ” โดยไม่ต้องจัดการรายละเอียดการสร้าง collection ใหม่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60120" y="5086478"/>
            <a:ext cx="4985523" cy="396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8B2E2E"/>
                </a:solidFill>
                <a:latin typeface="Sarabun"/>
                <a:ea typeface="Sarabun"/>
                <a:cs typeface="Sarabun"/>
                <a:sym typeface="Sarabun"/>
              </a:rPr>
              <a:t>ตัวอย่าง</a:t>
            </a:r>
          </a:p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fn print_data(data: &amp;[i32]) {</a:t>
            </a:r>
          </a:p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       println!("{:?}", data);</a:t>
            </a:r>
          </a:p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}</a:t>
            </a:r>
          </a:p>
          <a:p>
            <a:pPr algn="l">
              <a:lnSpc>
                <a:spcPts val="3960"/>
              </a:lnSpc>
            </a:pPr>
          </a:p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8B2E2E"/>
                </a:solidFill>
                <a:latin typeface="Sarabun"/>
                <a:ea typeface="Sarabun"/>
                <a:cs typeface="Sarabun"/>
                <a:sym typeface="Sarabun"/>
              </a:rPr>
              <a:t>ฟังก์ชันนี้สามารถรับได้ทั้ง</a:t>
            </a:r>
          </a:p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let arr = [1, 2, 3, 4];</a:t>
            </a:r>
          </a:p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let vec = vec![5, 6, 7, 8];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6694445" y="4877056"/>
            <a:ext cx="11091521" cy="4381244"/>
            <a:chOff x="0" y="0"/>
            <a:chExt cx="6771617" cy="267484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771616" cy="2674846"/>
            </a:xfrm>
            <a:custGeom>
              <a:avLst/>
              <a:gdLst/>
              <a:ahLst/>
              <a:cxnLst/>
              <a:rect r="r" b="b" t="t" l="l"/>
              <a:pathLst>
                <a:path h="2674846" w="6771616">
                  <a:moveTo>
                    <a:pt x="0" y="115669"/>
                  </a:moveTo>
                  <a:cubicBezTo>
                    <a:pt x="0" y="51810"/>
                    <a:pt x="61534" y="0"/>
                    <a:pt x="137379" y="0"/>
                  </a:cubicBezTo>
                  <a:lnTo>
                    <a:pt x="6634238" y="0"/>
                  </a:lnTo>
                  <a:cubicBezTo>
                    <a:pt x="6710083" y="0"/>
                    <a:pt x="6771616" y="51810"/>
                    <a:pt x="6771616" y="115669"/>
                  </a:cubicBezTo>
                  <a:lnTo>
                    <a:pt x="6771616" y="2559177"/>
                  </a:lnTo>
                  <a:cubicBezTo>
                    <a:pt x="6771616" y="2623036"/>
                    <a:pt x="6710083" y="2674846"/>
                    <a:pt x="6634238" y="2674846"/>
                  </a:cubicBezTo>
                  <a:lnTo>
                    <a:pt x="137379" y="2674846"/>
                  </a:lnTo>
                  <a:cubicBezTo>
                    <a:pt x="61534" y="2674846"/>
                    <a:pt x="0" y="2623036"/>
                    <a:pt x="0" y="2559177"/>
                  </a:cubicBezTo>
                  <a:close/>
                </a:path>
              </a:pathLst>
            </a:custGeom>
            <a:solidFill>
              <a:srgbClr val="F5EFE1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7030844" y="5710365"/>
            <a:ext cx="10450576" cy="2571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80"/>
              </a:lnSpc>
            </a:pPr>
            <a:r>
              <a:rPr lang="en-US" sz="3400">
                <a:solidFill>
                  <a:srgbClr val="8B2E2E"/>
                </a:solidFill>
                <a:latin typeface="Sarabun"/>
                <a:ea typeface="Sarabun"/>
                <a:cs typeface="Sarabun"/>
                <a:sym typeface="Sarabun"/>
              </a:rPr>
              <a:t>เพร</a:t>
            </a:r>
            <a:r>
              <a:rPr lang="en-US" sz="3400">
                <a:solidFill>
                  <a:srgbClr val="8B2E2E"/>
                </a:solidFill>
                <a:latin typeface="Sarabun"/>
                <a:ea typeface="Sarabun"/>
                <a:cs typeface="Sarabun"/>
                <a:sym typeface="Sarabun"/>
              </a:rPr>
              <a:t>าะทั้ง Array และ Vector สามารถถูกยืมมาเป็น </a:t>
            </a:r>
            <a:r>
              <a:rPr lang="en-US" sz="3400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&amp;[i32]</a:t>
            </a:r>
            <a:r>
              <a:rPr lang="en-US" sz="3400">
                <a:solidFill>
                  <a:srgbClr val="8B2E2E"/>
                </a:solidFill>
                <a:latin typeface="Sarabun"/>
                <a:ea typeface="Sarabun"/>
                <a:cs typeface="Sarabun"/>
                <a:sym typeface="Sarabun"/>
              </a:rPr>
              <a:t> ได้</a:t>
            </a:r>
          </a:p>
          <a:p>
            <a:pPr algn="l">
              <a:lnSpc>
                <a:spcPts val="4080"/>
              </a:lnSpc>
            </a:pPr>
          </a:p>
          <a:p>
            <a:pPr algn="l">
              <a:lnSpc>
                <a:spcPts val="4080"/>
              </a:lnSpc>
            </a:pPr>
            <a:r>
              <a:rPr lang="en-US" sz="3400">
                <a:solidFill>
                  <a:srgbClr val="8B2E2E"/>
                </a:solidFill>
                <a:latin typeface="Sarabun"/>
                <a:ea typeface="Sarabun"/>
                <a:cs typeface="Sarabun"/>
                <a:sym typeface="Sarabun"/>
              </a:rPr>
              <a:t>จึงเป็นการสร้าง Abstraction ให้ฟังก์ชันทำงานกับ “ลำดับของข้อมูล” โดยไม่ต้องสนใจว่าเจ้าของข้อมูลจริง ๆ </a:t>
            </a:r>
          </a:p>
          <a:p>
            <a:pPr algn="l">
              <a:lnSpc>
                <a:spcPts val="4080"/>
              </a:lnSpc>
            </a:pPr>
            <a:r>
              <a:rPr lang="en-US" sz="3400">
                <a:solidFill>
                  <a:srgbClr val="8B2E2E"/>
                </a:solidFill>
                <a:latin typeface="Sarabun"/>
                <a:ea typeface="Sarabun"/>
                <a:cs typeface="Sarabun"/>
                <a:sym typeface="Sarabun"/>
              </a:rPr>
              <a:t>เป็น Array หรือ Vector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F5EFE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>
                  <a:solidFill>
                    <a:srgbClr val="790D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3 · MEMBER 3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5800" y="1440180"/>
            <a:ext cx="16911828" cy="989838"/>
            <a:chOff x="0" y="0"/>
            <a:chExt cx="22549104" cy="131978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549104" cy="1319784"/>
            </a:xfrm>
            <a:custGeom>
              <a:avLst/>
              <a:gdLst/>
              <a:ahLst/>
              <a:cxnLst/>
              <a:rect r="r" b="b" t="t" l="l"/>
              <a:pathLst>
                <a:path h="1319784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319784"/>
                  </a:lnTo>
                  <a:lnTo>
                    <a:pt x="0" y="13197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411" r="0" b="-28140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2549104" cy="13293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b="true" sz="4500">
                  <a:solidFill>
                    <a:srgbClr val="AEC4D4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PPL PERSPECTIVE — มุมมองเชิง PROGRAMMING LANGUAGE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25795" y="2345108"/>
            <a:ext cx="5731761" cy="7163034"/>
            <a:chOff x="0" y="0"/>
            <a:chExt cx="3499366" cy="437318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499365" cy="4373189"/>
            </a:xfrm>
            <a:custGeom>
              <a:avLst/>
              <a:gdLst/>
              <a:ahLst/>
              <a:cxnLst/>
              <a:rect r="r" b="b" t="t" l="l"/>
              <a:pathLst>
                <a:path h="4373189" w="3499365">
                  <a:moveTo>
                    <a:pt x="0" y="189111"/>
                  </a:moveTo>
                  <a:cubicBezTo>
                    <a:pt x="0" y="84706"/>
                    <a:pt x="31799" y="0"/>
                    <a:pt x="70993" y="0"/>
                  </a:cubicBezTo>
                  <a:lnTo>
                    <a:pt x="3428373" y="0"/>
                  </a:lnTo>
                  <a:cubicBezTo>
                    <a:pt x="3467567" y="0"/>
                    <a:pt x="3499365" y="84706"/>
                    <a:pt x="3499365" y="189111"/>
                  </a:cubicBezTo>
                  <a:lnTo>
                    <a:pt x="3499365" y="4184079"/>
                  </a:lnTo>
                  <a:cubicBezTo>
                    <a:pt x="3499365" y="4288484"/>
                    <a:pt x="3467567" y="4373189"/>
                    <a:pt x="3428373" y="4373189"/>
                  </a:cubicBezTo>
                  <a:lnTo>
                    <a:pt x="70993" y="4373189"/>
                  </a:lnTo>
                  <a:cubicBezTo>
                    <a:pt x="31799" y="4373189"/>
                    <a:pt x="0" y="4288483"/>
                    <a:pt x="0" y="4184079"/>
                  </a:cubicBezTo>
                  <a:close/>
                </a:path>
              </a:pathLst>
            </a:custGeom>
            <a:solidFill>
              <a:srgbClr val="F5EFE1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600115" y="2345108"/>
            <a:ext cx="9843520" cy="870331"/>
            <a:chOff x="0" y="0"/>
            <a:chExt cx="13124693" cy="116044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124692" cy="1160441"/>
            </a:xfrm>
            <a:custGeom>
              <a:avLst/>
              <a:gdLst/>
              <a:ahLst/>
              <a:cxnLst/>
              <a:rect r="r" b="b" t="t" l="l"/>
              <a:pathLst>
                <a:path h="1160441" w="13124692">
                  <a:moveTo>
                    <a:pt x="0" y="0"/>
                  </a:moveTo>
                  <a:lnTo>
                    <a:pt x="13124692" y="0"/>
                  </a:lnTo>
                  <a:lnTo>
                    <a:pt x="13124692" y="1160441"/>
                  </a:lnTo>
                  <a:lnTo>
                    <a:pt x="0" y="11604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287" r="50627" b="-4032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3124693" cy="11604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9"/>
                </a:lnSpc>
              </a:pPr>
              <a:r>
                <a:rPr lang="en-US" sz="3999" b="true">
                  <a:solidFill>
                    <a:srgbClr val="790D16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S</a:t>
              </a:r>
              <a:r>
                <a:rPr lang="en-US" b="true" sz="3999">
                  <a:solidFill>
                    <a:srgbClr val="790D16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cope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F5EF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F5EF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20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600115" y="3205913"/>
            <a:ext cx="5432654" cy="6064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5"/>
              </a:lnSpc>
            </a:pPr>
            <a:r>
              <a:rPr lang="en-US" sz="3500">
                <a:solidFill>
                  <a:srgbClr val="790D16"/>
                </a:solidFill>
                <a:latin typeface="Sarabun"/>
                <a:ea typeface="Sarabun"/>
                <a:cs typeface="Sarabun"/>
                <a:sym typeface="Sarabun"/>
              </a:rPr>
              <a:t>ตั</a:t>
            </a:r>
            <a:r>
              <a:rPr lang="en-US" sz="3500">
                <a:solidFill>
                  <a:srgbClr val="790D16"/>
                </a:solidFill>
                <a:latin typeface="Sarabun"/>
                <a:ea typeface="Sarabun"/>
                <a:cs typeface="Sarabun"/>
                <a:sym typeface="Sarabun"/>
              </a:rPr>
              <a:t>วแปรและ reference จะใช้งานได้ภายใน Scope ที่กำหนด</a:t>
            </a:r>
          </a:p>
          <a:p>
            <a:pPr algn="l">
              <a:lnSpc>
                <a:spcPts val="4375"/>
              </a:lnSpc>
            </a:pPr>
            <a:r>
              <a:rPr lang="en-US" sz="3500">
                <a:solidFill>
                  <a:srgbClr val="790D16"/>
                </a:solidFill>
                <a:latin typeface="Sarabun"/>
                <a:ea typeface="Sarabun"/>
                <a:cs typeface="Sarabun"/>
                <a:sym typeface="Sarabun"/>
              </a:rPr>
              <a:t>ตัวอย่าง</a:t>
            </a:r>
          </a:p>
          <a:p>
            <a:pPr algn="l">
              <a:lnSpc>
                <a:spcPts val="4375"/>
              </a:lnSpc>
            </a:pPr>
            <a:r>
              <a:rPr lang="en-US" sz="3500">
                <a:solidFill>
                  <a:srgbClr val="790D16"/>
                </a:solidFill>
                <a:latin typeface="Sarabun"/>
                <a:ea typeface="Sarabun"/>
                <a:cs typeface="Sarabun"/>
                <a:sym typeface="Sarabun"/>
              </a:rPr>
              <a:t>l</a:t>
            </a:r>
            <a:r>
              <a:rPr lang="en-US" sz="3500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et data = vec![1, 2, 3];</a:t>
            </a:r>
          </a:p>
          <a:p>
            <a:pPr algn="l">
              <a:lnSpc>
                <a:spcPts val="4375"/>
              </a:lnSpc>
            </a:pPr>
          </a:p>
          <a:p>
            <a:pPr algn="l">
              <a:lnSpc>
                <a:spcPts val="4375"/>
              </a:lnSpc>
            </a:pPr>
            <a:r>
              <a:rPr lang="en-US" sz="3500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{</a:t>
            </a:r>
          </a:p>
          <a:p>
            <a:pPr algn="l">
              <a:lnSpc>
                <a:spcPts val="4375"/>
              </a:lnSpc>
            </a:pPr>
            <a:r>
              <a:rPr lang="en-US" sz="3500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       let part = &amp;data[0..2];</a:t>
            </a:r>
          </a:p>
          <a:p>
            <a:pPr algn="l">
              <a:lnSpc>
                <a:spcPts val="4375"/>
              </a:lnSpc>
            </a:pPr>
            <a:r>
              <a:rPr lang="en-US" sz="3500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}</a:t>
            </a:r>
          </a:p>
          <a:p>
            <a:pPr algn="l">
              <a:lnSpc>
                <a:spcPts val="4375"/>
              </a:lnSpc>
            </a:pPr>
          </a:p>
          <a:p>
            <a:pPr algn="l">
              <a:lnSpc>
                <a:spcPts val="4375"/>
              </a:lnSpc>
            </a:pPr>
            <a:r>
              <a:rPr lang="en-US" sz="3500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part</a:t>
            </a:r>
            <a:r>
              <a:rPr lang="en-US" sz="3500">
                <a:solidFill>
                  <a:srgbClr val="790D16"/>
                </a:solidFill>
                <a:latin typeface="Sarabun"/>
                <a:ea typeface="Sarabun"/>
                <a:cs typeface="Sarabun"/>
                <a:sym typeface="Sarabun"/>
              </a:rPr>
              <a:t> จะมี Scope อยู่ภายใน block เท่านั้น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6251412" y="2370344"/>
            <a:ext cx="5731761" cy="7163034"/>
            <a:chOff x="0" y="0"/>
            <a:chExt cx="3499366" cy="437318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499365" cy="4373189"/>
            </a:xfrm>
            <a:custGeom>
              <a:avLst/>
              <a:gdLst/>
              <a:ahLst/>
              <a:cxnLst/>
              <a:rect r="r" b="b" t="t" l="l"/>
              <a:pathLst>
                <a:path h="4373189" w="3499365">
                  <a:moveTo>
                    <a:pt x="0" y="189111"/>
                  </a:moveTo>
                  <a:cubicBezTo>
                    <a:pt x="0" y="84706"/>
                    <a:pt x="31799" y="0"/>
                    <a:pt x="70993" y="0"/>
                  </a:cubicBezTo>
                  <a:lnTo>
                    <a:pt x="3428373" y="0"/>
                  </a:lnTo>
                  <a:cubicBezTo>
                    <a:pt x="3467567" y="0"/>
                    <a:pt x="3499365" y="84706"/>
                    <a:pt x="3499365" y="189111"/>
                  </a:cubicBezTo>
                  <a:lnTo>
                    <a:pt x="3499365" y="4184079"/>
                  </a:lnTo>
                  <a:cubicBezTo>
                    <a:pt x="3499365" y="4288484"/>
                    <a:pt x="3467567" y="4373189"/>
                    <a:pt x="3428373" y="4373189"/>
                  </a:cubicBezTo>
                  <a:lnTo>
                    <a:pt x="70993" y="4373189"/>
                  </a:lnTo>
                  <a:cubicBezTo>
                    <a:pt x="31799" y="4373189"/>
                    <a:pt x="0" y="4288483"/>
                    <a:pt x="0" y="4184079"/>
                  </a:cubicBezTo>
                  <a:close/>
                </a:path>
              </a:pathLst>
            </a:custGeom>
            <a:solidFill>
              <a:srgbClr val="F5EFE1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6525732" y="2370344"/>
            <a:ext cx="9843520" cy="870331"/>
            <a:chOff x="0" y="0"/>
            <a:chExt cx="13124693" cy="116044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3124692" cy="1160441"/>
            </a:xfrm>
            <a:custGeom>
              <a:avLst/>
              <a:gdLst/>
              <a:ahLst/>
              <a:cxnLst/>
              <a:rect r="r" b="b" t="t" l="l"/>
              <a:pathLst>
                <a:path h="1160441" w="13124692">
                  <a:moveTo>
                    <a:pt x="0" y="0"/>
                  </a:moveTo>
                  <a:lnTo>
                    <a:pt x="13124692" y="0"/>
                  </a:lnTo>
                  <a:lnTo>
                    <a:pt x="13124692" y="1160441"/>
                  </a:lnTo>
                  <a:lnTo>
                    <a:pt x="0" y="11604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287" r="50627" b="-40325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13124693" cy="11604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9"/>
                </a:lnSpc>
              </a:pPr>
              <a:r>
                <a:rPr lang="en-US" sz="3999" b="true">
                  <a:solidFill>
                    <a:srgbClr val="790D16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Binding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6525732" y="3221625"/>
            <a:ext cx="5432654" cy="5805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4"/>
              </a:lnSpc>
            </a:pPr>
            <a:r>
              <a:rPr lang="en-US" sz="3699">
                <a:solidFill>
                  <a:srgbClr val="790D16"/>
                </a:solidFill>
                <a:latin typeface="Sarabun"/>
                <a:ea typeface="Sarabun"/>
                <a:cs typeface="Sarabun"/>
                <a:sym typeface="Sarabun"/>
              </a:rPr>
              <a:t>Rust</a:t>
            </a:r>
            <a:r>
              <a:rPr lang="en-US" sz="3699">
                <a:solidFill>
                  <a:srgbClr val="790D16"/>
                </a:solidFill>
                <a:latin typeface="Sarabun"/>
                <a:ea typeface="Sarabun"/>
                <a:cs typeface="Sarabun"/>
                <a:sym typeface="Sarabun"/>
              </a:rPr>
              <a:t> ใช้ let สำหรับ Binding ตัวแปรกับค่า</a:t>
            </a:r>
          </a:p>
          <a:p>
            <a:pPr algn="l">
              <a:lnSpc>
                <a:spcPts val="4624"/>
              </a:lnSpc>
            </a:pPr>
            <a:r>
              <a:rPr lang="en-US" sz="3699">
                <a:solidFill>
                  <a:srgbClr val="790D16"/>
                </a:solidFill>
                <a:latin typeface="Sarabun"/>
                <a:ea typeface="Sarabun"/>
                <a:cs typeface="Sarabun"/>
                <a:sym typeface="Sarabun"/>
              </a:rPr>
              <a:t>ตัวอย่าง</a:t>
            </a:r>
          </a:p>
          <a:p>
            <a:pPr algn="l">
              <a:lnSpc>
                <a:spcPts val="4624"/>
              </a:lnSpc>
            </a:pPr>
            <a:r>
              <a:rPr lang="en-US" sz="3699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let data = [1, 2, 3, 4];</a:t>
            </a:r>
          </a:p>
          <a:p>
            <a:pPr algn="l">
              <a:lnSpc>
                <a:spcPts val="4624"/>
              </a:lnSpc>
            </a:pPr>
            <a:r>
              <a:rPr lang="en-US" sz="3699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let part = &amp;data[1..3];</a:t>
            </a:r>
          </a:p>
          <a:p>
            <a:pPr algn="l">
              <a:lnSpc>
                <a:spcPts val="4624"/>
              </a:lnSpc>
            </a:pPr>
          </a:p>
          <a:p>
            <a:pPr algn="l">
              <a:lnSpc>
                <a:spcPts val="4624"/>
              </a:lnSpc>
            </a:pPr>
          </a:p>
          <a:p>
            <a:pPr algn="l">
              <a:lnSpc>
                <a:spcPts val="4624"/>
              </a:lnSpc>
            </a:pPr>
            <a:r>
              <a:rPr lang="en-US" sz="3699">
                <a:solidFill>
                  <a:srgbClr val="790D16"/>
                </a:solidFill>
                <a:latin typeface="Sarabun"/>
                <a:ea typeface="Sarabun"/>
                <a:cs typeface="Sarabun"/>
                <a:sym typeface="Sarabun"/>
              </a:rPr>
              <a:t>ในที่นี้ </a:t>
            </a:r>
            <a:r>
              <a:rPr lang="en-US" sz="3699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part</a:t>
            </a:r>
            <a:r>
              <a:rPr lang="en-US" sz="3699">
                <a:solidFill>
                  <a:srgbClr val="790D16"/>
                </a:solidFill>
                <a:latin typeface="Sarabun"/>
                <a:ea typeface="Sarabun"/>
                <a:cs typeface="Sarabun"/>
                <a:sym typeface="Sarabun"/>
              </a:rPr>
              <a:t> ถูก Binding ให้เป็น reference ไปยังส่วนหนึ่งของ </a:t>
            </a:r>
            <a:r>
              <a:rPr lang="en-US" sz="3699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data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2202248" y="2370344"/>
            <a:ext cx="5731761" cy="7163034"/>
            <a:chOff x="0" y="0"/>
            <a:chExt cx="3499366" cy="437318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499365" cy="4373189"/>
            </a:xfrm>
            <a:custGeom>
              <a:avLst/>
              <a:gdLst/>
              <a:ahLst/>
              <a:cxnLst/>
              <a:rect r="r" b="b" t="t" l="l"/>
              <a:pathLst>
                <a:path h="4373189" w="3499365">
                  <a:moveTo>
                    <a:pt x="0" y="189111"/>
                  </a:moveTo>
                  <a:cubicBezTo>
                    <a:pt x="0" y="84706"/>
                    <a:pt x="31799" y="0"/>
                    <a:pt x="70993" y="0"/>
                  </a:cubicBezTo>
                  <a:lnTo>
                    <a:pt x="3428373" y="0"/>
                  </a:lnTo>
                  <a:cubicBezTo>
                    <a:pt x="3467567" y="0"/>
                    <a:pt x="3499365" y="84706"/>
                    <a:pt x="3499365" y="189111"/>
                  </a:cubicBezTo>
                  <a:lnTo>
                    <a:pt x="3499365" y="4184079"/>
                  </a:lnTo>
                  <a:cubicBezTo>
                    <a:pt x="3499365" y="4288484"/>
                    <a:pt x="3467567" y="4373189"/>
                    <a:pt x="3428373" y="4373189"/>
                  </a:cubicBezTo>
                  <a:lnTo>
                    <a:pt x="70993" y="4373189"/>
                  </a:lnTo>
                  <a:cubicBezTo>
                    <a:pt x="31799" y="4373189"/>
                    <a:pt x="0" y="4288483"/>
                    <a:pt x="0" y="4184079"/>
                  </a:cubicBezTo>
                  <a:close/>
                </a:path>
              </a:pathLst>
            </a:custGeom>
            <a:solidFill>
              <a:srgbClr val="F5EFE1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2476568" y="2370344"/>
            <a:ext cx="9843520" cy="870331"/>
            <a:chOff x="0" y="0"/>
            <a:chExt cx="13124693" cy="116044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3124692" cy="1160441"/>
            </a:xfrm>
            <a:custGeom>
              <a:avLst/>
              <a:gdLst/>
              <a:ahLst/>
              <a:cxnLst/>
              <a:rect r="r" b="b" t="t" l="l"/>
              <a:pathLst>
                <a:path h="1160441" w="13124692">
                  <a:moveTo>
                    <a:pt x="0" y="0"/>
                  </a:moveTo>
                  <a:lnTo>
                    <a:pt x="13124692" y="0"/>
                  </a:lnTo>
                  <a:lnTo>
                    <a:pt x="13124692" y="1160441"/>
                  </a:lnTo>
                  <a:lnTo>
                    <a:pt x="0" y="11604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287" r="50627" b="-40325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13124693" cy="11604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9"/>
                </a:lnSpc>
              </a:pPr>
              <a:r>
                <a:rPr lang="en-US" sz="3999" b="true">
                  <a:solidFill>
                    <a:srgbClr val="790D16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Lifetim</a:t>
              </a:r>
              <a:r>
                <a:rPr lang="en-US" b="true" sz="3999">
                  <a:solidFill>
                    <a:srgbClr val="790D16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e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2476568" y="3212100"/>
            <a:ext cx="5432654" cy="627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0"/>
              </a:lnSpc>
            </a:pPr>
            <a:r>
              <a:rPr lang="en-US" sz="3500">
                <a:solidFill>
                  <a:srgbClr val="790D16"/>
                </a:solidFill>
                <a:latin typeface="Sarabun"/>
                <a:ea typeface="Sarabun"/>
                <a:cs typeface="Sarabun"/>
                <a:sym typeface="Sarabun"/>
              </a:rPr>
              <a:t>Sli</a:t>
            </a:r>
            <a:r>
              <a:rPr lang="en-US" sz="3500">
                <a:solidFill>
                  <a:srgbClr val="790D16"/>
                </a:solidFill>
                <a:latin typeface="Sarabun"/>
                <a:ea typeface="Sarabun"/>
                <a:cs typeface="Sarabun"/>
                <a:sym typeface="Sarabun"/>
              </a:rPr>
              <a:t>ce ต้องไม่สามารถมีอายุยาวกว่า Owner ของข้อมูล</a:t>
            </a:r>
          </a:p>
          <a:p>
            <a:pPr algn="l">
              <a:lnSpc>
                <a:spcPts val="4550"/>
              </a:lnSpc>
            </a:pPr>
            <a:r>
              <a:rPr lang="en-US" sz="3500">
                <a:solidFill>
                  <a:srgbClr val="790D16"/>
                </a:solidFill>
                <a:latin typeface="Sarabun"/>
                <a:ea typeface="Sarabun"/>
                <a:cs typeface="Sarabun"/>
                <a:sym typeface="Sarabun"/>
              </a:rPr>
              <a:t>ตัวอย่าง</a:t>
            </a:r>
          </a:p>
          <a:p>
            <a:pPr algn="l">
              <a:lnSpc>
                <a:spcPts val="4550"/>
              </a:lnSpc>
            </a:pPr>
            <a:r>
              <a:rPr lang="en-US" sz="3500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let data = vec![1, 2, 3];</a:t>
            </a:r>
          </a:p>
          <a:p>
            <a:pPr algn="l">
              <a:lnSpc>
                <a:spcPts val="4550"/>
              </a:lnSpc>
            </a:pPr>
            <a:r>
              <a:rPr lang="en-US" sz="3500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let part = &amp;data[0..2];</a:t>
            </a:r>
          </a:p>
          <a:p>
            <a:pPr algn="l">
              <a:lnSpc>
                <a:spcPts val="4550"/>
              </a:lnSpc>
            </a:pPr>
          </a:p>
          <a:p>
            <a:pPr algn="l">
              <a:lnSpc>
                <a:spcPts val="4550"/>
              </a:lnSpc>
            </a:pPr>
            <a:r>
              <a:rPr lang="en-US" sz="3500">
                <a:solidFill>
                  <a:srgbClr val="8B2E2E"/>
                </a:solidFill>
                <a:latin typeface="Sarabun"/>
                <a:ea typeface="Sarabun"/>
                <a:cs typeface="Sarabun"/>
                <a:sym typeface="Sarabun"/>
              </a:rPr>
              <a:t>Lifetime ของ </a:t>
            </a:r>
            <a:r>
              <a:rPr lang="en-US" sz="3500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part </a:t>
            </a:r>
            <a:r>
              <a:rPr lang="en-US" sz="3500">
                <a:solidFill>
                  <a:srgbClr val="8B2E2E"/>
                </a:solidFill>
                <a:latin typeface="Sarabun"/>
                <a:ea typeface="Sarabun"/>
                <a:cs typeface="Sarabun"/>
                <a:sym typeface="Sarabun"/>
              </a:rPr>
              <a:t>จึงขึ้นอยู่กับ </a:t>
            </a:r>
            <a:r>
              <a:rPr lang="en-US" sz="3500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data</a:t>
            </a:r>
          </a:p>
          <a:p>
            <a:pPr algn="l">
              <a:lnSpc>
                <a:spcPts val="4550"/>
              </a:lnSpc>
            </a:pPr>
            <a:r>
              <a:rPr lang="en-US" sz="3500">
                <a:solidFill>
                  <a:srgbClr val="8B2E2E"/>
                </a:solidFill>
                <a:latin typeface="Sarabun"/>
                <a:ea typeface="Sarabun"/>
                <a:cs typeface="Sarabun"/>
                <a:sym typeface="Sarabun"/>
              </a:rPr>
              <a:t>แนวคิดนี้ช่วยให้ Rust ตรวจสอบปัญหาเกี่ยวกับ Memory ตั้งแต่ Compile Time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F5EFE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>
                  <a:solidFill>
                    <a:srgbClr val="790D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3 · MEMBER 3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5800" y="1440180"/>
            <a:ext cx="16911828" cy="989838"/>
            <a:chOff x="0" y="0"/>
            <a:chExt cx="22549104" cy="131978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549104" cy="1319784"/>
            </a:xfrm>
            <a:custGeom>
              <a:avLst/>
              <a:gdLst/>
              <a:ahLst/>
              <a:cxnLst/>
              <a:rect r="r" b="b" t="t" l="l"/>
              <a:pathLst>
                <a:path h="1319784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319784"/>
                  </a:lnTo>
                  <a:lnTo>
                    <a:pt x="0" y="13197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411" r="0" b="-28140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2549104" cy="13293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b="true" sz="4500">
                  <a:solidFill>
                    <a:srgbClr val="AEC4D4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PPL PERSPECTIVE — มุมมองเชิง PROGRAMMING LANGUAGE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85800" y="2537460"/>
            <a:ext cx="17100166" cy="2236965"/>
            <a:chOff x="0" y="0"/>
            <a:chExt cx="10440026" cy="136571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440026" cy="1365716"/>
            </a:xfrm>
            <a:custGeom>
              <a:avLst/>
              <a:gdLst/>
              <a:ahLst/>
              <a:cxnLst/>
              <a:rect r="r" b="b" t="t" l="l"/>
              <a:pathLst>
                <a:path h="1365716" w="10440026">
                  <a:moveTo>
                    <a:pt x="0" y="59058"/>
                  </a:moveTo>
                  <a:cubicBezTo>
                    <a:pt x="0" y="26453"/>
                    <a:pt x="94869" y="0"/>
                    <a:pt x="211801" y="0"/>
                  </a:cubicBezTo>
                  <a:lnTo>
                    <a:pt x="10228225" y="0"/>
                  </a:lnTo>
                  <a:cubicBezTo>
                    <a:pt x="10345157" y="0"/>
                    <a:pt x="10440026" y="26453"/>
                    <a:pt x="10440026" y="59058"/>
                  </a:cubicBezTo>
                  <a:lnTo>
                    <a:pt x="10440026" y="1306658"/>
                  </a:lnTo>
                  <a:cubicBezTo>
                    <a:pt x="10440026" y="1339263"/>
                    <a:pt x="10345157" y="1365716"/>
                    <a:pt x="10228225" y="1365716"/>
                  </a:cubicBezTo>
                  <a:lnTo>
                    <a:pt x="211801" y="1365716"/>
                  </a:lnTo>
                  <a:cubicBezTo>
                    <a:pt x="94869" y="1365716"/>
                    <a:pt x="0" y="1339263"/>
                    <a:pt x="0" y="1306658"/>
                  </a:cubicBezTo>
                  <a:close/>
                </a:path>
              </a:pathLst>
            </a:custGeom>
            <a:solidFill>
              <a:srgbClr val="F5EFE1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60120" y="2556955"/>
            <a:ext cx="5801361" cy="870331"/>
            <a:chOff x="0" y="0"/>
            <a:chExt cx="7735148" cy="116044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735147" cy="1160441"/>
            </a:xfrm>
            <a:custGeom>
              <a:avLst/>
              <a:gdLst/>
              <a:ahLst/>
              <a:cxnLst/>
              <a:rect r="r" b="b" t="t" l="l"/>
              <a:pathLst>
                <a:path h="1160441" w="7735147">
                  <a:moveTo>
                    <a:pt x="0" y="0"/>
                  </a:moveTo>
                  <a:lnTo>
                    <a:pt x="7735147" y="0"/>
                  </a:lnTo>
                  <a:lnTo>
                    <a:pt x="7735147" y="1160441"/>
                  </a:lnTo>
                  <a:lnTo>
                    <a:pt x="0" y="11604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287" r="16225" b="-4032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7735148" cy="11604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9"/>
                </a:lnSpc>
              </a:pPr>
              <a:r>
                <a:rPr lang="en-US" sz="3999" b="true">
                  <a:solidFill>
                    <a:srgbClr val="790D16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Wh</a:t>
              </a:r>
              <a:r>
                <a:rPr lang="en-US" b="true" sz="3999">
                  <a:solidFill>
                    <a:srgbClr val="790D16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y Rust?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F5EF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F5EF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21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960120" y="3554222"/>
            <a:ext cx="16521300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790D16"/>
                </a:solidFill>
                <a:latin typeface="Sarabun"/>
                <a:ea typeface="Sarabun"/>
                <a:cs typeface="Sarabun"/>
                <a:sym typeface="Sarabun"/>
              </a:rPr>
              <a:t>Rust</a:t>
            </a:r>
            <a:r>
              <a:rPr lang="en-US" sz="3200">
                <a:solidFill>
                  <a:srgbClr val="790D16"/>
                </a:solidFill>
                <a:latin typeface="Sarabun"/>
                <a:ea typeface="Sarabun"/>
                <a:cs typeface="Sarabun"/>
                <a:sym typeface="Sarabun"/>
              </a:rPr>
              <a:t> ออกแบบมาให้ส</a:t>
            </a:r>
            <a:r>
              <a:rPr lang="en-US" sz="3200">
                <a:solidFill>
                  <a:srgbClr val="790D16"/>
                </a:solidFill>
                <a:latin typeface="Sarabun"/>
                <a:ea typeface="Sarabun"/>
                <a:cs typeface="Sarabun"/>
                <a:sym typeface="Sarabun"/>
              </a:rPr>
              <a:t>ามารถควบคุม Memory ได้ดี แต่ในขณะเดียวกันก็พยายามป้องกันปัญหาที่เกิดจากการจัดการ Memory สำหรับ Slice จุดเด่นคือสามารถ เข้าถึงข้อมูลบางส่วนโดยไม่ต้อง Copy ข้อมูลใหม่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699770" y="4877056"/>
            <a:ext cx="6569830" cy="4381244"/>
            <a:chOff x="0" y="0"/>
            <a:chExt cx="4011025" cy="267484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011025" cy="2674846"/>
            </a:xfrm>
            <a:custGeom>
              <a:avLst/>
              <a:gdLst/>
              <a:ahLst/>
              <a:cxnLst/>
              <a:rect r="r" b="b" t="t" l="l"/>
              <a:pathLst>
                <a:path h="2674846" w="4011025">
                  <a:moveTo>
                    <a:pt x="0" y="115669"/>
                  </a:moveTo>
                  <a:cubicBezTo>
                    <a:pt x="0" y="51810"/>
                    <a:pt x="36448" y="0"/>
                    <a:pt x="81373" y="0"/>
                  </a:cubicBezTo>
                  <a:lnTo>
                    <a:pt x="3929652" y="0"/>
                  </a:lnTo>
                  <a:cubicBezTo>
                    <a:pt x="3974577" y="0"/>
                    <a:pt x="4011025" y="51810"/>
                    <a:pt x="4011025" y="115669"/>
                  </a:cubicBezTo>
                  <a:lnTo>
                    <a:pt x="4011025" y="2559177"/>
                  </a:lnTo>
                  <a:cubicBezTo>
                    <a:pt x="4011025" y="2623036"/>
                    <a:pt x="3974577" y="2674846"/>
                    <a:pt x="3929652" y="2674846"/>
                  </a:cubicBezTo>
                  <a:lnTo>
                    <a:pt x="81373" y="2674846"/>
                  </a:lnTo>
                  <a:cubicBezTo>
                    <a:pt x="36448" y="2674846"/>
                    <a:pt x="0" y="2623036"/>
                    <a:pt x="0" y="2559177"/>
                  </a:cubicBezTo>
                  <a:close/>
                </a:path>
              </a:pathLst>
            </a:custGeom>
            <a:solidFill>
              <a:srgbClr val="F5EFE1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056720" y="5334128"/>
            <a:ext cx="5855931" cy="3886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8B2E2E"/>
                </a:solidFill>
                <a:latin typeface="Sarabun"/>
                <a:ea typeface="Sarabun"/>
                <a:cs typeface="Sarabun"/>
                <a:sym typeface="Sarabun"/>
              </a:rPr>
              <a:t>ตัวอย่าง</a:t>
            </a:r>
          </a:p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let data = vec![10, 20, 30, 40, 50];</a:t>
            </a:r>
          </a:p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let part = &amp;data[1..4];</a:t>
            </a:r>
          </a:p>
          <a:p>
            <a:pPr algn="l">
              <a:lnSpc>
                <a:spcPts val="3840"/>
              </a:lnSpc>
            </a:pPr>
          </a:p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part</a:t>
            </a:r>
            <a:r>
              <a:rPr lang="en-US" sz="3200">
                <a:solidFill>
                  <a:srgbClr val="8B2E2E"/>
                </a:solidFill>
                <a:latin typeface="Sarabun"/>
                <a:ea typeface="Sarabun"/>
                <a:cs typeface="Sarabun"/>
                <a:sym typeface="Sarabun"/>
              </a:rPr>
              <a:t> เพียงแค่อ้างอิงข้อมูลเดิม ทำให้ลดการสร้างข้อมูลซ้ำและช่วยเรื่อง Performance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7454320" y="4877056"/>
            <a:ext cx="10331646" cy="4381244"/>
            <a:chOff x="0" y="0"/>
            <a:chExt cx="6307697" cy="267484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307696" cy="2674846"/>
            </a:xfrm>
            <a:custGeom>
              <a:avLst/>
              <a:gdLst/>
              <a:ahLst/>
              <a:cxnLst/>
              <a:rect r="r" b="b" t="t" l="l"/>
              <a:pathLst>
                <a:path h="2674846" w="6307696">
                  <a:moveTo>
                    <a:pt x="0" y="115669"/>
                  </a:moveTo>
                  <a:cubicBezTo>
                    <a:pt x="0" y="51810"/>
                    <a:pt x="57318" y="0"/>
                    <a:pt x="127967" y="0"/>
                  </a:cubicBezTo>
                  <a:lnTo>
                    <a:pt x="6179730" y="0"/>
                  </a:lnTo>
                  <a:cubicBezTo>
                    <a:pt x="6250378" y="0"/>
                    <a:pt x="6307696" y="51810"/>
                    <a:pt x="6307696" y="115669"/>
                  </a:cubicBezTo>
                  <a:lnTo>
                    <a:pt x="6307696" y="2559177"/>
                  </a:lnTo>
                  <a:cubicBezTo>
                    <a:pt x="6307696" y="2623036"/>
                    <a:pt x="6250378" y="2674846"/>
                    <a:pt x="6179730" y="2674846"/>
                  </a:cubicBezTo>
                  <a:lnTo>
                    <a:pt x="127967" y="2674846"/>
                  </a:lnTo>
                  <a:cubicBezTo>
                    <a:pt x="57318" y="2674846"/>
                    <a:pt x="0" y="2623036"/>
                    <a:pt x="0" y="2559177"/>
                  </a:cubicBezTo>
                  <a:close/>
                </a:path>
              </a:pathLst>
            </a:custGeom>
            <a:solidFill>
              <a:srgbClr val="F5EFE1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7596456" y="4903915"/>
            <a:ext cx="9884964" cy="425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5"/>
              </a:lnSpc>
            </a:pPr>
            <a:r>
              <a:rPr lang="en-US" sz="2900">
                <a:solidFill>
                  <a:srgbClr val="8B2E2E"/>
                </a:solidFill>
                <a:latin typeface="Sarabun"/>
                <a:ea typeface="Sarabun"/>
                <a:cs typeface="Sarabun"/>
                <a:sym typeface="Sarabun"/>
              </a:rPr>
              <a:t>ดังนั้น Rust ให้คว</a:t>
            </a:r>
            <a:r>
              <a:rPr lang="en-US" sz="2900">
                <a:solidFill>
                  <a:srgbClr val="8B2E2E"/>
                </a:solidFill>
                <a:latin typeface="Sarabun"/>
                <a:ea typeface="Sarabun"/>
                <a:cs typeface="Sarabun"/>
                <a:sym typeface="Sarabun"/>
              </a:rPr>
              <a:t>ามสำคัญกับ Memory Safety โดยใช้ Ownership, Borrowing และ Lifetime ในการจัดการหน่วยความจำ </a:t>
            </a:r>
          </a:p>
          <a:p>
            <a:pPr algn="l">
              <a:lnSpc>
                <a:spcPts val="4205"/>
              </a:lnSpc>
            </a:pPr>
            <a:r>
              <a:rPr lang="en-US" sz="2900">
                <a:solidFill>
                  <a:srgbClr val="8B2E2E"/>
                </a:solidFill>
                <a:latin typeface="Sarabun"/>
                <a:ea typeface="Sarabun"/>
                <a:cs typeface="Sarabun"/>
                <a:sym typeface="Sarabun"/>
              </a:rPr>
              <a:t>แนวคิดเหล่านี้ช่วยป้องกันปัญหาที่พบบ่อยในภาษาแบบ Manual Memory Management เช่น dangling reference คือ reference ที่ชี้ไปยังข้อมูลที่หมดอายุแล้ว, use-after-free คือการใช้ข้อมูลหลังจาก Memory ถูกคืนไปแล้ว, double free คือการคืน Memory เดิมมากกว่าหนึ่งครั้ง และ invalid memory access คือการเข้าถึง Memory ในตำแหน่งที่ไม่ถูกต้อง เช่น การเข้าถึง Array เกินขอบเขต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F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790D1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>
                  <a:solidFill>
                    <a:srgbClr val="F5EFE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3 · MEMBER 3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5800" y="-169478"/>
            <a:ext cx="5674105" cy="3303594"/>
            <a:chOff x="0" y="0"/>
            <a:chExt cx="7565474" cy="44047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565474" cy="4404792"/>
            </a:xfrm>
            <a:custGeom>
              <a:avLst/>
              <a:gdLst/>
              <a:ahLst/>
              <a:cxnLst/>
              <a:rect r="r" b="b" t="t" l="l"/>
              <a:pathLst>
                <a:path h="4404792" w="7565474">
                  <a:moveTo>
                    <a:pt x="0" y="0"/>
                  </a:moveTo>
                  <a:lnTo>
                    <a:pt x="7565474" y="0"/>
                  </a:lnTo>
                  <a:lnTo>
                    <a:pt x="7565474" y="4404792"/>
                  </a:lnTo>
                  <a:lnTo>
                    <a:pt x="0" y="4404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216" r="-198052" b="-1427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7565474" cy="4404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440"/>
                </a:lnSpc>
              </a:pPr>
              <a:r>
                <a:rPr lang="en-US" b="true" sz="3700">
                  <a:solidFill>
                    <a:srgbClr val="93A9B8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RUST VS PYTHON</a:t>
              </a:r>
            </a:p>
          </p:txBody>
        </p:sp>
      </p:grpSp>
      <p:graphicFrame>
        <p:nvGraphicFramePr>
          <p:cNvPr name="Table 10" id="10"/>
          <p:cNvGraphicFramePr>
            <a:graphicFrameLocks noGrp="true"/>
          </p:cNvGraphicFramePr>
          <p:nvPr/>
        </p:nvGraphicFramePr>
        <p:xfrm>
          <a:off x="685800" y="1784596"/>
          <a:ext cx="16911828" cy="7796498"/>
        </p:xfrm>
        <a:graphic>
          <a:graphicData uri="http://schemas.openxmlformats.org/drawingml/2006/table">
            <a:tbl>
              <a:tblPr/>
              <a:tblGrid>
                <a:gridCol w="2832830"/>
                <a:gridCol w="7017736"/>
                <a:gridCol w="7061262"/>
              </a:tblGrid>
              <a:tr h="65285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b="true" sz="1950">
                          <a:solidFill>
                            <a:srgbClr val="F5EFE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Aspect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AE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AE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AE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AE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C4D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b="true" sz="1950">
                          <a:solidFill>
                            <a:srgbClr val="F5EFE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Rust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AE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C4D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b="true" sz="1950">
                          <a:solidFill>
                            <a:srgbClr val="F5EFE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Python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C4D4"/>
                    </a:solidFill>
                  </a:tcPr>
                </a:tc>
              </a:tr>
              <a:tr h="128797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19"/>
                        </a:lnSpc>
                        <a:defRPr/>
                      </a:pPr>
                      <a:r>
                        <a:rPr lang="en-US" b="true" sz="2849">
                          <a:solidFill>
                            <a:srgbClr val="790D1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Syntax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AE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42"/>
                        </a:lnSpc>
                        <a:defRPr/>
                      </a:pPr>
                      <a:r>
                        <a:rPr lang="en-US" sz="2549">
                          <a:solidFill>
                            <a:srgbClr val="790D16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ใช้ slice เช่น </a:t>
                      </a:r>
                      <a:r>
                        <a:rPr lang="en-US" sz="2549">
                          <a:solidFill>
                            <a:srgbClr val="222222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&amp;collection[start..end];</a:t>
                      </a:r>
                      <a:r>
                        <a:rPr lang="en-US" sz="2549">
                          <a:solidFill>
                            <a:srgbClr val="790D16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 </a:t>
                      </a:r>
                      <a:endParaRPr lang="en-US" sz="1100"/>
                    </a:p>
                    <a:p>
                      <a:pPr algn="l">
                        <a:lnSpc>
                          <a:spcPts val="3442"/>
                        </a:lnSpc>
                      </a:pPr>
                      <a:r>
                        <a:rPr lang="en-US" sz="2549">
                          <a:solidFill>
                            <a:srgbClr val="222222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&amp;[T] </a:t>
                      </a:r>
                      <a:r>
                        <a:rPr lang="en-US" sz="2549">
                          <a:solidFill>
                            <a:srgbClr val="790D16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เป็น shared slice และ</a:t>
                      </a:r>
                      <a:r>
                        <a:rPr lang="en-US" sz="2549">
                          <a:solidFill>
                            <a:srgbClr val="222222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 &amp;str</a:t>
                      </a:r>
                      <a:r>
                        <a:rPr lang="en-US" sz="2549">
                          <a:solidFill>
                            <a:srgbClr val="790D16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 เป็น string slice</a:t>
                      </a:r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42"/>
                        </a:lnSpc>
                        <a:defRPr/>
                      </a:pPr>
                      <a:r>
                        <a:rPr lang="en-US" sz="2549">
                          <a:solidFill>
                            <a:srgbClr val="790D16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ใช้ slicing เช่น data[1:4] และ text[1:4]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1"/>
                    </a:solidFill>
                  </a:tcPr>
                </a:tc>
              </a:tr>
              <a:tr h="156242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19"/>
                        </a:lnSpc>
                        <a:defRPr/>
                      </a:pPr>
                      <a:r>
                        <a:rPr lang="en-US" b="true" sz="2849">
                          <a:solidFill>
                            <a:srgbClr val="790D1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Semantics / Behavior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42"/>
                        </a:lnSpc>
                        <a:defRPr/>
                      </a:pPr>
                      <a:r>
                        <a:rPr lang="en-US" sz="2549">
                          <a:solidFill>
                            <a:srgbClr val="790D16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Slice เป็น</a:t>
                      </a:r>
                      <a:r>
                        <a:rPr lang="en-US" sz="2549">
                          <a:solidFill>
                            <a:srgbClr val="790D16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 borrowed reference ไปยังข้อมูลเดิม ไม่ได้สร้างข้อมูลใหม่ และไม่เป็นเจ้าของข้อมูล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42"/>
                        </a:lnSpc>
                        <a:defRPr/>
                      </a:pPr>
                      <a:r>
                        <a:rPr lang="en-US" sz="2549">
                          <a:solidFill>
                            <a:srgbClr val="790D16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Slice ของ list, str โดยทั่วไปได้ข้อมูลใหม่ ส่วนตัวแปรเดิมยังเป็นเจ้าของข้อมูลของตัวเอง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1"/>
                    </a:solidFill>
                  </a:tcPr>
                </a:tc>
              </a:tr>
              <a:tr h="128797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19"/>
                        </a:lnSpc>
                        <a:defRPr/>
                      </a:pPr>
                      <a:r>
                        <a:rPr lang="en-US" b="true" sz="2849">
                          <a:solidFill>
                            <a:srgbClr val="790D1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Type System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42"/>
                        </a:lnSpc>
                        <a:defRPr/>
                      </a:pPr>
                      <a:r>
                        <a:rPr lang="en-US" sz="2549">
                          <a:solidFill>
                            <a:srgbClr val="790D16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S</a:t>
                      </a:r>
                      <a:r>
                        <a:rPr lang="en-US" sz="2549">
                          <a:solidFill>
                            <a:srgbClr val="790D16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tatic + Strong typing มีชนิดชัดเจน เช่น </a:t>
                      </a:r>
                      <a:endParaRPr lang="en-US" sz="1100"/>
                    </a:p>
                    <a:p>
                      <a:pPr algn="l">
                        <a:lnSpc>
                          <a:spcPts val="3442"/>
                        </a:lnSpc>
                      </a:pPr>
                      <a:r>
                        <a:rPr lang="en-US" sz="2549">
                          <a:solidFill>
                            <a:srgbClr val="222222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&amp;[i32]</a:t>
                      </a:r>
                      <a:r>
                        <a:rPr lang="en-US" sz="2549">
                          <a:solidFill>
                            <a:srgbClr val="790D16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, </a:t>
                      </a:r>
                      <a:r>
                        <a:rPr lang="en-US" sz="2549">
                          <a:solidFill>
                            <a:srgbClr val="222222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&amp;str</a:t>
                      </a:r>
                      <a:r>
                        <a:rPr lang="en-US" sz="2549">
                          <a:solidFill>
                            <a:srgbClr val="790D16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,</a:t>
                      </a:r>
                      <a:r>
                        <a:rPr lang="en-US" sz="2549">
                          <a:solidFill>
                            <a:srgbClr val="222222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 Vec&lt;i32&gt;</a:t>
                      </a:r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42"/>
                        </a:lnSpc>
                        <a:defRPr/>
                      </a:pPr>
                      <a:r>
                        <a:rPr lang="en-US" sz="2549">
                          <a:solidFill>
                            <a:srgbClr val="790D16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Dynamic typing ชนิดของตัวแปรถูกตรวจสอบตอน Runtime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1"/>
                    </a:solidFill>
                  </a:tcPr>
                </a:tc>
              </a:tr>
              <a:tr h="128797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19"/>
                        </a:lnSpc>
                        <a:defRPr/>
                      </a:pPr>
                      <a:r>
                        <a:rPr lang="en-US" b="true" sz="2849">
                          <a:solidFill>
                            <a:srgbClr val="790D1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Memory Management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42"/>
                        </a:lnSpc>
                        <a:defRPr/>
                      </a:pPr>
                      <a:r>
                        <a:rPr lang="en-US" sz="2549">
                          <a:solidFill>
                            <a:srgbClr val="790D16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ใช้ Ownership, Borrowing และ Lifetime โดยไม่มี Garbage Collector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42"/>
                        </a:lnSpc>
                        <a:defRPr/>
                      </a:pPr>
                      <a:r>
                        <a:rPr lang="en-US" sz="2549">
                          <a:solidFill>
                            <a:srgbClr val="790D16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จัดการ</a:t>
                      </a:r>
                      <a:r>
                        <a:rPr lang="en-US" sz="2549">
                          <a:solidFill>
                            <a:srgbClr val="790D16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 Memory อัตโนมัติตาม implementation เช่น reference counting/garbage collection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1"/>
                    </a:solidFill>
                  </a:tcPr>
                </a:tc>
              </a:tr>
              <a:tr h="171729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19"/>
                        </a:lnSpc>
                        <a:defRPr/>
                      </a:pPr>
                      <a:r>
                        <a:rPr lang="en-US" b="true" sz="2849">
                          <a:solidFill>
                            <a:srgbClr val="790D1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Safety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42"/>
                        </a:lnSpc>
                        <a:defRPr/>
                      </a:pPr>
                      <a:r>
                        <a:rPr lang="en-US" sz="2549">
                          <a:solidFill>
                            <a:srgbClr val="790D16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เน้น</a:t>
                      </a:r>
                      <a:r>
                        <a:rPr lang="en-US" sz="2549">
                          <a:solidFill>
                            <a:srgbClr val="790D16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 Memory Safety ตั้งแต่ Compile Time เช่น ป้องกัน dangling reference </a:t>
                      </a:r>
                      <a:endParaRPr lang="en-US" sz="1100"/>
                    </a:p>
                    <a:p>
                      <a:pPr algn="l">
                        <a:lnSpc>
                          <a:spcPts val="3442"/>
                        </a:lnSpc>
                      </a:pPr>
                      <a:r>
                        <a:rPr lang="en-US" sz="2549">
                          <a:solidFill>
                            <a:srgbClr val="790D16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และ use-after-free</a:t>
                      </a:r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42"/>
                        </a:lnSpc>
                        <a:defRPr/>
                      </a:pPr>
                      <a:r>
                        <a:rPr lang="en-US" sz="2549">
                          <a:solidFill>
                            <a:srgbClr val="790D16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มีการจัดการ Memory อัตโนมัติและตรวจสอบหลายอย่างตอน Runtime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1"/>
                    </a:solidFill>
                  </a:tcPr>
                </a:tc>
              </a:tr>
            </a:tbl>
          </a:graphicData>
        </a:graphic>
      </p:graphicFrame>
      <p:grpSp>
        <p:nvGrpSpPr>
          <p:cNvPr name="Group 11" id="11"/>
          <p:cNvGrpSpPr/>
          <p:nvPr/>
        </p:nvGrpSpPr>
        <p:grpSpPr>
          <a:xfrm rot="0">
            <a:off x="685800" y="8956548"/>
            <a:ext cx="16911828" cy="960120"/>
            <a:chOff x="0" y="0"/>
            <a:chExt cx="22549104" cy="12801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549104" cy="1280160"/>
            </a:xfrm>
            <a:custGeom>
              <a:avLst/>
              <a:gdLst/>
              <a:ahLst/>
              <a:cxnLst/>
              <a:rect r="r" b="b" t="t" l="l"/>
              <a:pathLst>
                <a:path h="1280160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3215" r="0" b="-293215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22549104" cy="13277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790D1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790D1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22</a:t>
              </a:r>
            </a:p>
          </p:txBody>
        </p:sp>
      </p:grp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F5EFE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>
                  <a:solidFill>
                    <a:srgbClr val="790D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3 · MEMBER 3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5800" y="1028700"/>
            <a:ext cx="7163257" cy="989838"/>
            <a:chOff x="0" y="0"/>
            <a:chExt cx="9551010" cy="131978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551010" cy="1319784"/>
            </a:xfrm>
            <a:custGeom>
              <a:avLst/>
              <a:gdLst/>
              <a:ahLst/>
              <a:cxnLst/>
              <a:rect r="r" b="b" t="t" l="l"/>
              <a:pathLst>
                <a:path h="1319784" w="9551010">
                  <a:moveTo>
                    <a:pt x="0" y="0"/>
                  </a:moveTo>
                  <a:lnTo>
                    <a:pt x="9551010" y="0"/>
                  </a:lnTo>
                  <a:lnTo>
                    <a:pt x="9551010" y="1319784"/>
                  </a:lnTo>
                  <a:lnTo>
                    <a:pt x="0" y="13197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411" r="-136091" b="-28140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9551010" cy="13293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b="true" sz="4500">
                  <a:solidFill>
                    <a:srgbClr val="AEC4D4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ANALYSIS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85800" y="1841134"/>
            <a:ext cx="17100166" cy="7749550"/>
            <a:chOff x="0" y="0"/>
            <a:chExt cx="10440026" cy="473127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440026" cy="4731270"/>
            </a:xfrm>
            <a:custGeom>
              <a:avLst/>
              <a:gdLst/>
              <a:ahLst/>
              <a:cxnLst/>
              <a:rect r="r" b="b" t="t" l="l"/>
              <a:pathLst>
                <a:path h="4731270" w="10440026">
                  <a:moveTo>
                    <a:pt x="0" y="204595"/>
                  </a:moveTo>
                  <a:cubicBezTo>
                    <a:pt x="0" y="91642"/>
                    <a:pt x="94869" y="0"/>
                    <a:pt x="211801" y="0"/>
                  </a:cubicBezTo>
                  <a:lnTo>
                    <a:pt x="10228225" y="0"/>
                  </a:lnTo>
                  <a:cubicBezTo>
                    <a:pt x="10345157" y="0"/>
                    <a:pt x="10440026" y="91642"/>
                    <a:pt x="10440026" y="204595"/>
                  </a:cubicBezTo>
                  <a:lnTo>
                    <a:pt x="10440026" y="4526674"/>
                  </a:lnTo>
                  <a:cubicBezTo>
                    <a:pt x="10440026" y="4639628"/>
                    <a:pt x="10345157" y="4731270"/>
                    <a:pt x="10228225" y="4731270"/>
                  </a:cubicBezTo>
                  <a:lnTo>
                    <a:pt x="211801" y="4731270"/>
                  </a:lnTo>
                  <a:cubicBezTo>
                    <a:pt x="94869" y="4731270"/>
                    <a:pt x="0" y="4639628"/>
                    <a:pt x="0" y="4526674"/>
                  </a:cubicBezTo>
                  <a:close/>
                </a:path>
              </a:pathLst>
            </a:custGeom>
            <a:solidFill>
              <a:srgbClr val="F5EFE1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F5EF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F5EF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23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975233" y="2001158"/>
            <a:ext cx="16521300" cy="7307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65"/>
              </a:lnSpc>
            </a:pPr>
            <a:r>
              <a:rPr lang="en-US" sz="3900">
                <a:solidFill>
                  <a:srgbClr val="790D16"/>
                </a:solidFill>
                <a:latin typeface="Sarabun"/>
                <a:ea typeface="Sarabun"/>
                <a:cs typeface="Sarabun"/>
                <a:sym typeface="Sarabun"/>
              </a:rPr>
              <a:t>ความแตกต่างที่สำคัญระหว่าง Ru</a:t>
            </a:r>
            <a:r>
              <a:rPr lang="en-US" sz="3900">
                <a:solidFill>
                  <a:srgbClr val="790D16"/>
                </a:solidFill>
                <a:latin typeface="Sarabun"/>
                <a:ea typeface="Sarabun"/>
                <a:cs typeface="Sarabun"/>
                <a:sym typeface="Sarabun"/>
              </a:rPr>
              <a:t>st กับภาษาอื่นอยู่ที่ แนวคิดในการจัดการ Memory และการออกแบบ Slice โดย Rust พยายามให้โปรแกรมสามารถเข้าถึงข้อมูลเดิมได้โดยไม่ต้อง Copy ข้อมูล แต่ยังคงตรวจสอบความปลอดภัยของการอ้างอิงตั้งแต่ Compile Time</a:t>
            </a:r>
          </a:p>
          <a:p>
            <a:pPr algn="l">
              <a:lnSpc>
                <a:spcPts val="5265"/>
              </a:lnSpc>
            </a:pPr>
            <a:r>
              <a:rPr lang="en-US" sz="3900">
                <a:solidFill>
                  <a:srgbClr val="790D16"/>
                </a:solidFill>
                <a:latin typeface="Sarabun"/>
                <a:ea typeface="Sarabun"/>
                <a:cs typeface="Sarabun"/>
                <a:sym typeface="Sarabun"/>
              </a:rPr>
              <a:t> </a:t>
            </a:r>
          </a:p>
          <a:p>
            <a:pPr algn="l">
              <a:lnSpc>
                <a:spcPts val="5265"/>
              </a:lnSpc>
            </a:pPr>
            <a:r>
              <a:rPr lang="en-US" sz="3900">
                <a:solidFill>
                  <a:srgbClr val="790D16"/>
                </a:solidFill>
                <a:latin typeface="Sarabun"/>
                <a:ea typeface="Sarabun"/>
                <a:cs typeface="Sarabun"/>
                <a:sym typeface="Sarabun"/>
              </a:rPr>
              <a:t>Rust vs. Python</a:t>
            </a:r>
          </a:p>
          <a:p>
            <a:pPr algn="l">
              <a:lnSpc>
                <a:spcPts val="5265"/>
              </a:lnSpc>
            </a:pPr>
            <a:r>
              <a:rPr lang="en-US" sz="3900">
                <a:solidFill>
                  <a:srgbClr val="790D16"/>
                </a:solidFill>
                <a:latin typeface="Sarabun"/>
                <a:ea typeface="Sarabun"/>
                <a:cs typeface="Sarabun"/>
                <a:sym typeface="Sarabun"/>
              </a:rPr>
              <a:t>Python ใช้ Syntax ของ Slice ที่ง่าย เช่น </a:t>
            </a:r>
            <a:r>
              <a:rPr lang="en-US" sz="3900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data[1:4] </a:t>
            </a:r>
            <a:r>
              <a:rPr lang="en-US" sz="3900">
                <a:solidFill>
                  <a:srgbClr val="790D16"/>
                </a:solidFill>
                <a:latin typeface="Sarabun"/>
                <a:ea typeface="Sarabun"/>
                <a:cs typeface="Sarabun"/>
                <a:sym typeface="Sarabun"/>
              </a:rPr>
              <a:t>และจัดการ Memory ให้อัตโนมัติ ทำให้เขียนโปรแกรมได้สะดวก แต่ไม่ได้บังคับให้โปรแกรมเมอร์ระบุ Ownership หรือความสัมพันธ์ของ Reference แบบ Rust การออกแบบของ Rust จึงเน้นให้ผู้เขียนโปรแกรมควบคุมการยืมข้อมูลได้ชัดเจนขึ้น เพื่อให้เกิด Memory Safety โดยไม่ต้องพึ่ง Garbage Collector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F5EFE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>
                  <a:solidFill>
                    <a:srgbClr val="790D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3 · MEMBER 3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5800" y="1028700"/>
            <a:ext cx="7163257" cy="989838"/>
            <a:chOff x="0" y="0"/>
            <a:chExt cx="9551010" cy="131978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551010" cy="1319784"/>
            </a:xfrm>
            <a:custGeom>
              <a:avLst/>
              <a:gdLst/>
              <a:ahLst/>
              <a:cxnLst/>
              <a:rect r="r" b="b" t="t" l="l"/>
              <a:pathLst>
                <a:path h="1319784" w="9551010">
                  <a:moveTo>
                    <a:pt x="0" y="0"/>
                  </a:moveTo>
                  <a:lnTo>
                    <a:pt x="9551010" y="0"/>
                  </a:lnTo>
                  <a:lnTo>
                    <a:pt x="9551010" y="1319784"/>
                  </a:lnTo>
                  <a:lnTo>
                    <a:pt x="0" y="13197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411" r="-136091" b="-28140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9551010" cy="13293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b="true" sz="4500">
                  <a:solidFill>
                    <a:srgbClr val="AEC4D4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ANALYSIS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F5EF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F5EF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24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85800" y="1841134"/>
            <a:ext cx="17100166" cy="7749550"/>
            <a:chOff x="0" y="0"/>
            <a:chExt cx="10440026" cy="473127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440026" cy="4731270"/>
            </a:xfrm>
            <a:custGeom>
              <a:avLst/>
              <a:gdLst/>
              <a:ahLst/>
              <a:cxnLst/>
              <a:rect r="r" b="b" t="t" l="l"/>
              <a:pathLst>
                <a:path h="4731270" w="10440026">
                  <a:moveTo>
                    <a:pt x="0" y="204595"/>
                  </a:moveTo>
                  <a:cubicBezTo>
                    <a:pt x="0" y="91642"/>
                    <a:pt x="94869" y="0"/>
                    <a:pt x="211801" y="0"/>
                  </a:cubicBezTo>
                  <a:lnTo>
                    <a:pt x="10228225" y="0"/>
                  </a:lnTo>
                  <a:cubicBezTo>
                    <a:pt x="10345157" y="0"/>
                    <a:pt x="10440026" y="91642"/>
                    <a:pt x="10440026" y="204595"/>
                  </a:cubicBezTo>
                  <a:lnTo>
                    <a:pt x="10440026" y="4526674"/>
                  </a:lnTo>
                  <a:cubicBezTo>
                    <a:pt x="10440026" y="4639628"/>
                    <a:pt x="10345157" y="4731270"/>
                    <a:pt x="10228225" y="4731270"/>
                  </a:cubicBezTo>
                  <a:lnTo>
                    <a:pt x="211801" y="4731270"/>
                  </a:lnTo>
                  <a:cubicBezTo>
                    <a:pt x="94869" y="4731270"/>
                    <a:pt x="0" y="4639628"/>
                    <a:pt x="0" y="4526674"/>
                  </a:cubicBezTo>
                  <a:close/>
                </a:path>
              </a:pathLst>
            </a:custGeom>
            <a:solidFill>
              <a:srgbClr val="F5EFE1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60120" y="1841134"/>
            <a:ext cx="6513811" cy="870331"/>
            <a:chOff x="0" y="0"/>
            <a:chExt cx="8685082" cy="116044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685082" cy="1160441"/>
            </a:xfrm>
            <a:custGeom>
              <a:avLst/>
              <a:gdLst/>
              <a:ahLst/>
              <a:cxnLst/>
              <a:rect r="r" b="b" t="t" l="l"/>
              <a:pathLst>
                <a:path h="1160441" w="8685082">
                  <a:moveTo>
                    <a:pt x="0" y="0"/>
                  </a:moveTo>
                  <a:lnTo>
                    <a:pt x="8685082" y="0"/>
                  </a:lnTo>
                  <a:lnTo>
                    <a:pt x="8685082" y="1160441"/>
                  </a:lnTo>
                  <a:lnTo>
                    <a:pt x="0" y="11604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287" r="25388" b="-40325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8685082" cy="11604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9"/>
                </a:lnSpc>
              </a:pPr>
              <a:r>
                <a:rPr lang="en-US" sz="3999" b="true">
                  <a:solidFill>
                    <a:srgbClr val="790D16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เหตุผลด้านการออกแบบภาษา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960120" y="2467883"/>
            <a:ext cx="16521300" cy="6955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0"/>
              </a:lnSpc>
            </a:pPr>
            <a:r>
              <a:rPr lang="en-US" sz="3400">
                <a:solidFill>
                  <a:srgbClr val="790D16"/>
                </a:solidFill>
                <a:latin typeface="Sarabun"/>
                <a:ea typeface="Sarabun"/>
                <a:cs typeface="Sarabun"/>
                <a:sym typeface="Sarabun"/>
              </a:rPr>
              <a:t>ใน Rust Slice คือการอ้างอิงไปยังข้อมูลบางส่วนของข้อมูลเดิม โดยไม่จำเป็นต้องสร้างหรือ Copy ข้อมูลชุดใหม่ขึ้นมา ทำให้ประหยัด Memory และช่วยให้การทำงานมีประสิทธิภาพมากขึ้น </a:t>
            </a:r>
          </a:p>
          <a:p>
            <a:pPr algn="l">
              <a:lnSpc>
                <a:spcPts val="4590"/>
              </a:lnSpc>
            </a:pPr>
            <a:r>
              <a:rPr lang="en-US" sz="3400">
                <a:solidFill>
                  <a:srgbClr val="790D16"/>
                </a:solidFill>
                <a:latin typeface="Sarabun"/>
                <a:ea typeface="Sarabun"/>
                <a:cs typeface="Sarabun"/>
                <a:sym typeface="Sarabun"/>
              </a:rPr>
              <a:t>อย่างไรก็ตาม Slice ไม่ได้เป็นเจ้าของข้อมูลนั้นเอง แต่เป็นเพียงการ Borrow ข้อมูลจากตัวแปรที่เป็น Owner </a:t>
            </a:r>
          </a:p>
          <a:p>
            <a:pPr algn="l">
              <a:lnSpc>
                <a:spcPts val="4590"/>
              </a:lnSpc>
            </a:pPr>
            <a:r>
              <a:rPr lang="en-US" sz="3400">
                <a:solidFill>
                  <a:srgbClr val="790D16"/>
                </a:solidFill>
                <a:latin typeface="Sarabun"/>
                <a:ea typeface="Sarabun"/>
                <a:cs typeface="Sarabun"/>
                <a:sym typeface="Sarabun"/>
              </a:rPr>
              <a:t>Rust จึงใช้แนวคิด Ownership, Borrowing และ Lifetime เพื่อควบคุมว่าข้อมูลสามารถถูกอ้างอิงและใช้งานได้นานแค่ไหน โดย Compiler จะตรวจสอบกฎเหล่านี้ตั้งแต่ Compile Time เพื่อป้องกันปัญหาที่เกี่ยวกับ Memory เช่น การอ้างอิงข้อมูลที่หมดอายุหรือการใช้ข้อมูลผิดช่วงเวลา</a:t>
            </a:r>
          </a:p>
          <a:p>
            <a:pPr algn="l">
              <a:lnSpc>
                <a:spcPts val="4590"/>
              </a:lnSpc>
            </a:pPr>
          </a:p>
          <a:p>
            <a:pPr algn="l">
              <a:lnSpc>
                <a:spcPts val="4590"/>
              </a:lnSpc>
            </a:pPr>
            <a:r>
              <a:rPr lang="en-US" sz="3400">
                <a:solidFill>
                  <a:srgbClr val="790D16"/>
                </a:solidFill>
                <a:latin typeface="Sarabun"/>
                <a:ea typeface="Sarabun"/>
                <a:cs typeface="Sarabun"/>
                <a:sym typeface="Sarabun"/>
              </a:rPr>
              <a:t>ดังนั้น จุดเด่นของ Rust ไม่ได้อยู่ที่การมี Slice เพียงอย่างเดียว แต่คือการออกแบบให้ การอ้างอิงข้อมูลที่มีประสิทธิภาพสามารถใช้งานร่วมกับระบบ Ownership ได้อย่างปลอดภัย ซึ่งเป็นแนวคิดที่แตกต่างจาก Python และ Java ที่เน้นการจัดการ Memory อัตโนมัติ และแตกต่างจาก C/C++ ที่ให้อิสระในการจัดการ Memory มากกว่า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EC4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790D1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>
                  <a:solidFill>
                    <a:srgbClr val="F5EFE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4 · MEMBER 4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5800" y="2537460"/>
            <a:ext cx="7955280" cy="548640"/>
            <a:chOff x="0" y="0"/>
            <a:chExt cx="10607040" cy="7315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607040" cy="731520"/>
            </a:xfrm>
            <a:custGeom>
              <a:avLst/>
              <a:gdLst/>
              <a:ahLst/>
              <a:cxnLst/>
              <a:rect r="r" b="b" t="t" l="l"/>
              <a:pathLst>
                <a:path h="73152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2533" r="0" b="-23253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06070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>
                  <a:solidFill>
                    <a:srgbClr val="790D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❌  Incorrect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052560" y="2537460"/>
            <a:ext cx="7955280" cy="548640"/>
            <a:chOff x="0" y="0"/>
            <a:chExt cx="10607040" cy="7315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607040" cy="731520"/>
            </a:xfrm>
            <a:custGeom>
              <a:avLst/>
              <a:gdLst/>
              <a:ahLst/>
              <a:cxnLst/>
              <a:rect r="r" b="b" t="t" l="l"/>
              <a:pathLst>
                <a:path h="73152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2533" r="0" b="-232533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06070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>
                  <a:solidFill>
                    <a:srgbClr val="790D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✅  Correct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85800" y="6377940"/>
            <a:ext cx="16911828" cy="2194560"/>
            <a:chOff x="0" y="0"/>
            <a:chExt cx="22549104" cy="29260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549104" cy="2926080"/>
            </a:xfrm>
            <a:custGeom>
              <a:avLst/>
              <a:gdLst/>
              <a:ahLst/>
              <a:cxnLst/>
              <a:rect r="r" b="b" t="t" l="l"/>
              <a:pathLst>
                <a:path h="2926080" w="22549104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2402800" y="0"/>
                  </a:lnTo>
                  <a:cubicBezTo>
                    <a:pt x="22483572" y="0"/>
                    <a:pt x="22549104" y="65532"/>
                    <a:pt x="22549104" y="146304"/>
                  </a:cubicBezTo>
                  <a:lnTo>
                    <a:pt x="22549104" y="2779776"/>
                  </a:lnTo>
                  <a:cubicBezTo>
                    <a:pt x="22549104" y="2860548"/>
                    <a:pt x="22483572" y="2926080"/>
                    <a:pt x="22402800" y="2926080"/>
                  </a:cubicBezTo>
                  <a:lnTo>
                    <a:pt x="146304" y="2926080"/>
                  </a:lnTo>
                  <a:cubicBezTo>
                    <a:pt x="65532" y="2926080"/>
                    <a:pt x="0" y="2860548"/>
                    <a:pt x="0" y="2779776"/>
                  </a:cubicBezTo>
                  <a:close/>
                </a:path>
              </a:pathLst>
            </a:custGeom>
            <a:solidFill>
              <a:srgbClr val="F5EFE1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790D1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790D1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25</a:t>
              </a: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685800" y="3567127"/>
            <a:ext cx="6543675" cy="2032389"/>
          </a:xfrm>
          <a:custGeom>
            <a:avLst/>
            <a:gdLst/>
            <a:ahLst/>
            <a:cxnLst/>
            <a:rect r="r" b="b" t="t" l="l"/>
            <a:pathLst>
              <a:path h="2032389" w="6543675">
                <a:moveTo>
                  <a:pt x="0" y="0"/>
                </a:moveTo>
                <a:lnTo>
                  <a:pt x="6543675" y="0"/>
                </a:lnTo>
                <a:lnTo>
                  <a:pt x="6543675" y="2032389"/>
                </a:lnTo>
                <a:lnTo>
                  <a:pt x="0" y="20323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9052560" y="3512063"/>
            <a:ext cx="5123181" cy="2439915"/>
          </a:xfrm>
          <a:custGeom>
            <a:avLst/>
            <a:gdLst/>
            <a:ahLst/>
            <a:cxnLst/>
            <a:rect r="r" b="b" t="t" l="l"/>
            <a:pathLst>
              <a:path h="2439915" w="5123181">
                <a:moveTo>
                  <a:pt x="0" y="0"/>
                </a:moveTo>
                <a:lnTo>
                  <a:pt x="5123181" y="0"/>
                </a:lnTo>
                <a:lnTo>
                  <a:pt x="5123181" y="2439914"/>
                </a:lnTo>
                <a:lnTo>
                  <a:pt x="0" y="24399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028700" y="7122795"/>
            <a:ext cx="16226028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790D16"/>
                </a:solidFill>
                <a:latin typeface="Prompt"/>
                <a:ea typeface="Prompt"/>
                <a:cs typeface="Prompt"/>
                <a:sym typeface="Prompt"/>
              </a:rPr>
              <a:t>ผิ</a:t>
            </a:r>
            <a:r>
              <a:rPr lang="en-US" sz="2600">
                <a:solidFill>
                  <a:srgbClr val="790D16"/>
                </a:solidFill>
                <a:latin typeface="Prompt"/>
                <a:ea typeface="Prompt"/>
                <a:cs typeface="Prompt"/>
                <a:sym typeface="Prompt"/>
              </a:rPr>
              <a:t>ดเพราะ let s2 = s1 เป็นการ ย้าย ownership (Move) จาก s1 ไปให้ s2 ทำให้ s1 หมดสิทธิ์ใช้งาน จึงไม่สามารถ println!("{}", s1) ได้อีก</a:t>
            </a:r>
          </a:p>
          <a:p>
            <a:pPr algn="l">
              <a:lnSpc>
                <a:spcPts val="3120"/>
              </a:lnSpc>
            </a:pPr>
          </a:p>
        </p:txBody>
      </p:sp>
      <p:grpSp>
        <p:nvGrpSpPr>
          <p:cNvPr name="Group 24" id="24"/>
          <p:cNvGrpSpPr/>
          <p:nvPr/>
        </p:nvGrpSpPr>
        <p:grpSpPr>
          <a:xfrm rot="0">
            <a:off x="685800" y="1440180"/>
            <a:ext cx="16911828" cy="989838"/>
            <a:chOff x="0" y="0"/>
            <a:chExt cx="22549104" cy="131978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2549104" cy="1319784"/>
            </a:xfrm>
            <a:custGeom>
              <a:avLst/>
              <a:gdLst/>
              <a:ahLst/>
              <a:cxnLst/>
              <a:rect r="r" b="b" t="t" l="l"/>
              <a:pathLst>
                <a:path h="1319784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319784"/>
                  </a:lnTo>
                  <a:lnTo>
                    <a:pt x="0" y="13197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411" r="0" b="-281409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22549104" cy="13293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b="true" sz="4500">
                  <a:solidFill>
                    <a:srgbClr val="790D16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COMMON MISTAKES — ข้อผิดพลาดที่พบบ่อย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028700" y="6583680"/>
            <a:ext cx="4639522" cy="608279"/>
            <a:chOff x="0" y="0"/>
            <a:chExt cx="6186030" cy="81103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186030" cy="811039"/>
            </a:xfrm>
            <a:custGeom>
              <a:avLst/>
              <a:gdLst/>
              <a:ahLst/>
              <a:cxnLst/>
              <a:rect r="r" b="b" t="t" l="l"/>
              <a:pathLst>
                <a:path h="811039" w="6186030">
                  <a:moveTo>
                    <a:pt x="0" y="0"/>
                  </a:moveTo>
                  <a:lnTo>
                    <a:pt x="6186030" y="0"/>
                  </a:lnTo>
                  <a:lnTo>
                    <a:pt x="6186030" y="811039"/>
                  </a:lnTo>
                  <a:lnTo>
                    <a:pt x="0" y="81103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0308" r="-249734" b="-459229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6186030" cy="8110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b="true" sz="2799">
                  <a:solidFill>
                    <a:srgbClr val="790D16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ทำไมถึงผิด? (Why?)</a:t>
              </a:r>
            </a:p>
          </p:txBody>
        </p:sp>
      </p:grp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EC4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790D1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>
                  <a:solidFill>
                    <a:srgbClr val="F5EFE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4 · MEMBER 4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5800" y="1440180"/>
            <a:ext cx="16911828" cy="989838"/>
            <a:chOff x="0" y="0"/>
            <a:chExt cx="22549104" cy="131978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549104" cy="1319784"/>
            </a:xfrm>
            <a:custGeom>
              <a:avLst/>
              <a:gdLst/>
              <a:ahLst/>
              <a:cxnLst/>
              <a:rect r="r" b="b" t="t" l="l"/>
              <a:pathLst>
                <a:path h="1319784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319784"/>
                  </a:lnTo>
                  <a:lnTo>
                    <a:pt x="0" y="13197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411" r="0" b="-28140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2549104" cy="13293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b="true" sz="4500">
                  <a:solidFill>
                    <a:srgbClr val="790D16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COMMON MISTAKES — ข้อผิดพลาดที่พบบ่อย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85800" y="2537460"/>
            <a:ext cx="7955280" cy="548640"/>
            <a:chOff x="0" y="0"/>
            <a:chExt cx="10607040" cy="7315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607040" cy="731520"/>
            </a:xfrm>
            <a:custGeom>
              <a:avLst/>
              <a:gdLst/>
              <a:ahLst/>
              <a:cxnLst/>
              <a:rect r="r" b="b" t="t" l="l"/>
              <a:pathLst>
                <a:path h="73152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2533" r="0" b="-232533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06070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>
                  <a:solidFill>
                    <a:srgbClr val="790D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❌  Incorrect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052560" y="2537460"/>
            <a:ext cx="7955280" cy="548640"/>
            <a:chOff x="0" y="0"/>
            <a:chExt cx="10607040" cy="7315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607040" cy="731520"/>
            </a:xfrm>
            <a:custGeom>
              <a:avLst/>
              <a:gdLst/>
              <a:ahLst/>
              <a:cxnLst/>
              <a:rect r="r" b="b" t="t" l="l"/>
              <a:pathLst>
                <a:path h="73152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2533" r="0" b="-232533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06070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>
                  <a:solidFill>
                    <a:srgbClr val="790D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✅  Correct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85800" y="6377940"/>
            <a:ext cx="16911828" cy="2194560"/>
            <a:chOff x="0" y="0"/>
            <a:chExt cx="22549104" cy="29260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549104" cy="2926080"/>
            </a:xfrm>
            <a:custGeom>
              <a:avLst/>
              <a:gdLst/>
              <a:ahLst/>
              <a:cxnLst/>
              <a:rect r="r" b="b" t="t" l="l"/>
              <a:pathLst>
                <a:path h="2926080" w="22549104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2402800" y="0"/>
                  </a:lnTo>
                  <a:cubicBezTo>
                    <a:pt x="22483572" y="0"/>
                    <a:pt x="22549104" y="65532"/>
                    <a:pt x="22549104" y="146304"/>
                  </a:cubicBezTo>
                  <a:lnTo>
                    <a:pt x="22549104" y="2779776"/>
                  </a:lnTo>
                  <a:cubicBezTo>
                    <a:pt x="22549104" y="2860548"/>
                    <a:pt x="22483572" y="2926080"/>
                    <a:pt x="22402800" y="2926080"/>
                  </a:cubicBezTo>
                  <a:lnTo>
                    <a:pt x="146304" y="2926080"/>
                  </a:lnTo>
                  <a:cubicBezTo>
                    <a:pt x="65532" y="2926080"/>
                    <a:pt x="0" y="2860548"/>
                    <a:pt x="0" y="2779776"/>
                  </a:cubicBezTo>
                  <a:close/>
                </a:path>
              </a:pathLst>
            </a:custGeom>
            <a:solidFill>
              <a:srgbClr val="F5EFE1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028700" y="6583680"/>
            <a:ext cx="4639522" cy="608279"/>
            <a:chOff x="0" y="0"/>
            <a:chExt cx="6186030" cy="81103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186030" cy="811039"/>
            </a:xfrm>
            <a:custGeom>
              <a:avLst/>
              <a:gdLst/>
              <a:ahLst/>
              <a:cxnLst/>
              <a:rect r="r" b="b" t="t" l="l"/>
              <a:pathLst>
                <a:path h="811039" w="6186030">
                  <a:moveTo>
                    <a:pt x="0" y="0"/>
                  </a:moveTo>
                  <a:lnTo>
                    <a:pt x="6186030" y="0"/>
                  </a:lnTo>
                  <a:lnTo>
                    <a:pt x="6186030" y="811039"/>
                  </a:lnTo>
                  <a:lnTo>
                    <a:pt x="0" y="81103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0308" r="-249734" b="-459229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6186030" cy="8110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b="true" sz="2799">
                  <a:solidFill>
                    <a:srgbClr val="790D16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ทำไมถึงผิด? (Why?)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790D1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790D1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26</a:t>
              </a: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685800" y="3333750"/>
            <a:ext cx="5622604" cy="2744138"/>
          </a:xfrm>
          <a:custGeom>
            <a:avLst/>
            <a:gdLst/>
            <a:ahLst/>
            <a:cxnLst/>
            <a:rect r="r" b="b" t="t" l="l"/>
            <a:pathLst>
              <a:path h="2744138" w="5622604">
                <a:moveTo>
                  <a:pt x="0" y="0"/>
                </a:moveTo>
                <a:lnTo>
                  <a:pt x="5622604" y="0"/>
                </a:lnTo>
                <a:lnTo>
                  <a:pt x="5622604" y="2744138"/>
                </a:lnTo>
                <a:lnTo>
                  <a:pt x="0" y="27441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8913164" y="3246358"/>
            <a:ext cx="5490872" cy="2831530"/>
          </a:xfrm>
          <a:custGeom>
            <a:avLst/>
            <a:gdLst/>
            <a:ahLst/>
            <a:cxnLst/>
            <a:rect r="r" b="b" t="t" l="l"/>
            <a:pathLst>
              <a:path h="2831530" w="5490872">
                <a:moveTo>
                  <a:pt x="0" y="0"/>
                </a:moveTo>
                <a:lnTo>
                  <a:pt x="5490872" y="0"/>
                </a:lnTo>
                <a:lnTo>
                  <a:pt x="5490872" y="2831530"/>
                </a:lnTo>
                <a:lnTo>
                  <a:pt x="0" y="28315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028700" y="7122795"/>
            <a:ext cx="9057554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599">
                <a:solidFill>
                  <a:srgbClr val="790D16"/>
                </a:solidFill>
                <a:latin typeface="Prompt"/>
                <a:ea typeface="Prompt"/>
                <a:cs typeface="Prompt"/>
                <a:sym typeface="Prompt"/>
              </a:rPr>
              <a:t>กำ</a:t>
            </a:r>
            <a:r>
              <a:rPr lang="en-US" sz="2599">
                <a:solidFill>
                  <a:srgbClr val="790D16"/>
                </a:solidFill>
                <a:latin typeface="Prompt"/>
                <a:ea typeface="Prompt"/>
                <a:cs typeface="Prompt"/>
                <a:sym typeface="Prompt"/>
              </a:rPr>
              <a:t>หนดช่วง Slice เกินขนาดของข้อมูล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EC4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790D1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>
                  <a:solidFill>
                    <a:srgbClr val="F5EFE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4 · MEMBER 4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5800" y="2537460"/>
            <a:ext cx="7955280" cy="548640"/>
            <a:chOff x="0" y="0"/>
            <a:chExt cx="10607040" cy="7315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607040" cy="731520"/>
            </a:xfrm>
            <a:custGeom>
              <a:avLst/>
              <a:gdLst/>
              <a:ahLst/>
              <a:cxnLst/>
              <a:rect r="r" b="b" t="t" l="l"/>
              <a:pathLst>
                <a:path h="73152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2533" r="0" b="-23253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06070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>
                  <a:solidFill>
                    <a:srgbClr val="790D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❌  Incorrect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052560" y="2537460"/>
            <a:ext cx="7955280" cy="548640"/>
            <a:chOff x="0" y="0"/>
            <a:chExt cx="10607040" cy="7315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607040" cy="731520"/>
            </a:xfrm>
            <a:custGeom>
              <a:avLst/>
              <a:gdLst/>
              <a:ahLst/>
              <a:cxnLst/>
              <a:rect r="r" b="b" t="t" l="l"/>
              <a:pathLst>
                <a:path h="73152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2533" r="0" b="-232533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06070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>
                  <a:solidFill>
                    <a:srgbClr val="790D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✅  Correct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85800" y="6377940"/>
            <a:ext cx="16911828" cy="2194560"/>
            <a:chOff x="0" y="0"/>
            <a:chExt cx="22549104" cy="29260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549104" cy="2926080"/>
            </a:xfrm>
            <a:custGeom>
              <a:avLst/>
              <a:gdLst/>
              <a:ahLst/>
              <a:cxnLst/>
              <a:rect r="r" b="b" t="t" l="l"/>
              <a:pathLst>
                <a:path h="2926080" w="22549104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2402800" y="0"/>
                  </a:lnTo>
                  <a:cubicBezTo>
                    <a:pt x="22483572" y="0"/>
                    <a:pt x="22549104" y="65532"/>
                    <a:pt x="22549104" y="146304"/>
                  </a:cubicBezTo>
                  <a:lnTo>
                    <a:pt x="22549104" y="2779776"/>
                  </a:lnTo>
                  <a:cubicBezTo>
                    <a:pt x="22549104" y="2860548"/>
                    <a:pt x="22483572" y="2926080"/>
                    <a:pt x="22402800" y="2926080"/>
                  </a:cubicBezTo>
                  <a:lnTo>
                    <a:pt x="146304" y="2926080"/>
                  </a:lnTo>
                  <a:cubicBezTo>
                    <a:pt x="65532" y="2926080"/>
                    <a:pt x="0" y="2860548"/>
                    <a:pt x="0" y="2779776"/>
                  </a:cubicBezTo>
                  <a:close/>
                </a:path>
              </a:pathLst>
            </a:custGeom>
            <a:solidFill>
              <a:srgbClr val="F5EFE1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790D1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790D1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27</a:t>
              </a: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685800" y="3333750"/>
            <a:ext cx="5486400" cy="2923881"/>
          </a:xfrm>
          <a:custGeom>
            <a:avLst/>
            <a:gdLst/>
            <a:ahLst/>
            <a:cxnLst/>
            <a:rect r="r" b="b" t="t" l="l"/>
            <a:pathLst>
              <a:path h="2923881" w="5486400">
                <a:moveTo>
                  <a:pt x="0" y="0"/>
                </a:moveTo>
                <a:lnTo>
                  <a:pt x="5486400" y="0"/>
                </a:lnTo>
                <a:lnTo>
                  <a:pt x="5486400" y="2923881"/>
                </a:lnTo>
                <a:lnTo>
                  <a:pt x="0" y="29238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1706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9052560" y="3317296"/>
            <a:ext cx="5832729" cy="2940335"/>
          </a:xfrm>
          <a:custGeom>
            <a:avLst/>
            <a:gdLst/>
            <a:ahLst/>
            <a:cxnLst/>
            <a:rect r="r" b="b" t="t" l="l"/>
            <a:pathLst>
              <a:path h="2940335" w="5832729">
                <a:moveTo>
                  <a:pt x="0" y="0"/>
                </a:moveTo>
                <a:lnTo>
                  <a:pt x="5832729" y="0"/>
                </a:lnTo>
                <a:lnTo>
                  <a:pt x="5832729" y="2940335"/>
                </a:lnTo>
                <a:lnTo>
                  <a:pt x="0" y="29403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028700" y="7122795"/>
            <a:ext cx="16226028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790D16"/>
                </a:solidFill>
                <a:latin typeface="Prompt"/>
                <a:ea typeface="Prompt"/>
                <a:cs typeface="Prompt"/>
                <a:sym typeface="Prompt"/>
              </a:rPr>
              <a:t>ใน Rust ถ้าเราใช้ &amp; เพื่อยืมข้อมูล จะเป็นการยืมแบบอ่า</a:t>
            </a:r>
            <a:r>
              <a:rPr lang="en-US" sz="2600">
                <a:solidFill>
                  <a:srgbClr val="790D16"/>
                </a:solidFill>
                <a:latin typeface="Prompt"/>
                <a:ea typeface="Prompt"/>
                <a:cs typeface="Prompt"/>
                <a:sym typeface="Prompt"/>
              </a:rPr>
              <a:t>นอย่างเดียว ดังนั้นเราจะไม่สามารถเปลี่ยนค่าข้างใน Slice ได้ 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685800" y="1440180"/>
            <a:ext cx="16911828" cy="989838"/>
            <a:chOff x="0" y="0"/>
            <a:chExt cx="22549104" cy="131978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2549104" cy="1319784"/>
            </a:xfrm>
            <a:custGeom>
              <a:avLst/>
              <a:gdLst/>
              <a:ahLst/>
              <a:cxnLst/>
              <a:rect r="r" b="b" t="t" l="l"/>
              <a:pathLst>
                <a:path h="1319784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319784"/>
                  </a:lnTo>
                  <a:lnTo>
                    <a:pt x="0" y="13197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411" r="0" b="-281409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22549104" cy="13293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b="true" sz="4500">
                  <a:solidFill>
                    <a:srgbClr val="790D16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COMMON MISTAKES — ข้อผิดพลาดที่พบบ่อย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028700" y="6583680"/>
            <a:ext cx="4639522" cy="608279"/>
            <a:chOff x="0" y="0"/>
            <a:chExt cx="6186030" cy="81103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186030" cy="811039"/>
            </a:xfrm>
            <a:custGeom>
              <a:avLst/>
              <a:gdLst/>
              <a:ahLst/>
              <a:cxnLst/>
              <a:rect r="r" b="b" t="t" l="l"/>
              <a:pathLst>
                <a:path h="811039" w="6186030">
                  <a:moveTo>
                    <a:pt x="0" y="0"/>
                  </a:moveTo>
                  <a:lnTo>
                    <a:pt x="6186030" y="0"/>
                  </a:lnTo>
                  <a:lnTo>
                    <a:pt x="6186030" y="811039"/>
                  </a:lnTo>
                  <a:lnTo>
                    <a:pt x="0" y="81103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0308" r="-249734" b="-459229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6186030" cy="8110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b="true" sz="2799">
                  <a:solidFill>
                    <a:srgbClr val="790D16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ทำไมถึงผิด? (Why?)</a:t>
              </a:r>
            </a:p>
          </p:txBody>
        </p:sp>
      </p:grp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EC4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790D1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>
                  <a:solidFill>
                    <a:srgbClr val="F5EFE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4 · MEMBER 4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5800" y="2537460"/>
            <a:ext cx="7955280" cy="548640"/>
            <a:chOff x="0" y="0"/>
            <a:chExt cx="10607040" cy="7315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607040" cy="731520"/>
            </a:xfrm>
            <a:custGeom>
              <a:avLst/>
              <a:gdLst/>
              <a:ahLst/>
              <a:cxnLst/>
              <a:rect r="r" b="b" t="t" l="l"/>
              <a:pathLst>
                <a:path h="73152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2533" r="0" b="-23253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06070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>
                  <a:solidFill>
                    <a:srgbClr val="790D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❌  Incorrect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052560" y="2537460"/>
            <a:ext cx="7955280" cy="548640"/>
            <a:chOff x="0" y="0"/>
            <a:chExt cx="10607040" cy="7315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607040" cy="731520"/>
            </a:xfrm>
            <a:custGeom>
              <a:avLst/>
              <a:gdLst/>
              <a:ahLst/>
              <a:cxnLst/>
              <a:rect r="r" b="b" t="t" l="l"/>
              <a:pathLst>
                <a:path h="73152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2533" r="0" b="-232533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06070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>
                  <a:solidFill>
                    <a:srgbClr val="790D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✅  Correct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85800" y="6377940"/>
            <a:ext cx="16911828" cy="2194560"/>
            <a:chOff x="0" y="0"/>
            <a:chExt cx="22549104" cy="29260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549104" cy="2926080"/>
            </a:xfrm>
            <a:custGeom>
              <a:avLst/>
              <a:gdLst/>
              <a:ahLst/>
              <a:cxnLst/>
              <a:rect r="r" b="b" t="t" l="l"/>
              <a:pathLst>
                <a:path h="2926080" w="22549104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2402800" y="0"/>
                  </a:lnTo>
                  <a:cubicBezTo>
                    <a:pt x="22483572" y="0"/>
                    <a:pt x="22549104" y="65532"/>
                    <a:pt x="22549104" y="146304"/>
                  </a:cubicBezTo>
                  <a:lnTo>
                    <a:pt x="22549104" y="2779776"/>
                  </a:lnTo>
                  <a:cubicBezTo>
                    <a:pt x="22549104" y="2860548"/>
                    <a:pt x="22483572" y="2926080"/>
                    <a:pt x="22402800" y="2926080"/>
                  </a:cubicBezTo>
                  <a:lnTo>
                    <a:pt x="146304" y="2926080"/>
                  </a:lnTo>
                  <a:cubicBezTo>
                    <a:pt x="65532" y="2926080"/>
                    <a:pt x="0" y="2860548"/>
                    <a:pt x="0" y="2779776"/>
                  </a:cubicBezTo>
                  <a:close/>
                </a:path>
              </a:pathLst>
            </a:custGeom>
            <a:solidFill>
              <a:srgbClr val="F5EFE1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790D1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790D1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28</a:t>
              </a: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685800" y="3219450"/>
            <a:ext cx="5486400" cy="3158490"/>
          </a:xfrm>
          <a:custGeom>
            <a:avLst/>
            <a:gdLst/>
            <a:ahLst/>
            <a:cxnLst/>
            <a:rect r="r" b="b" t="t" l="l"/>
            <a:pathLst>
              <a:path h="3158490" w="5486400">
                <a:moveTo>
                  <a:pt x="0" y="0"/>
                </a:moveTo>
                <a:lnTo>
                  <a:pt x="5486400" y="0"/>
                </a:lnTo>
                <a:lnTo>
                  <a:pt x="5486400" y="3158490"/>
                </a:lnTo>
                <a:lnTo>
                  <a:pt x="0" y="31584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19339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9052560" y="3219450"/>
            <a:ext cx="4457097" cy="3143426"/>
          </a:xfrm>
          <a:custGeom>
            <a:avLst/>
            <a:gdLst/>
            <a:ahLst/>
            <a:cxnLst/>
            <a:rect r="r" b="b" t="t" l="l"/>
            <a:pathLst>
              <a:path h="3143426" w="4457097">
                <a:moveTo>
                  <a:pt x="0" y="0"/>
                </a:moveTo>
                <a:lnTo>
                  <a:pt x="4457097" y="0"/>
                </a:lnTo>
                <a:lnTo>
                  <a:pt x="4457097" y="3143426"/>
                </a:lnTo>
                <a:lnTo>
                  <a:pt x="0" y="31434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028700" y="7122795"/>
            <a:ext cx="16226028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790D16"/>
                </a:solidFill>
                <a:latin typeface="Prompt"/>
                <a:ea typeface="Prompt"/>
                <a:cs typeface="Prompt"/>
                <a:sym typeface="Prompt"/>
              </a:rPr>
              <a:t>พยายามแก้ไขหรือเพิ่มข้อมูลลงใน Vector ในขณะที่ยังมีตัวแปรยืมอ่า</a:t>
            </a:r>
            <a:r>
              <a:rPr lang="en-US" sz="2600">
                <a:solidFill>
                  <a:srgbClr val="790D16"/>
                </a:solidFill>
                <a:latin typeface="Prompt"/>
                <a:ea typeface="Prompt"/>
                <a:cs typeface="Prompt"/>
                <a:sym typeface="Prompt"/>
              </a:rPr>
              <a:t>นข้อมูลใน Vector นั้นอยู่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685800" y="1440180"/>
            <a:ext cx="16911828" cy="989838"/>
            <a:chOff x="0" y="0"/>
            <a:chExt cx="22549104" cy="131978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2549104" cy="1319784"/>
            </a:xfrm>
            <a:custGeom>
              <a:avLst/>
              <a:gdLst/>
              <a:ahLst/>
              <a:cxnLst/>
              <a:rect r="r" b="b" t="t" l="l"/>
              <a:pathLst>
                <a:path h="1319784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319784"/>
                  </a:lnTo>
                  <a:lnTo>
                    <a:pt x="0" y="13197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411" r="0" b="-281409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22549104" cy="13293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b="true" sz="4500">
                  <a:solidFill>
                    <a:srgbClr val="790D16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COMMON MISTAKES — ข้อผิดพลาดที่พบบ่อย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028700" y="6583680"/>
            <a:ext cx="4639522" cy="608279"/>
            <a:chOff x="0" y="0"/>
            <a:chExt cx="6186030" cy="81103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186030" cy="811039"/>
            </a:xfrm>
            <a:custGeom>
              <a:avLst/>
              <a:gdLst/>
              <a:ahLst/>
              <a:cxnLst/>
              <a:rect r="r" b="b" t="t" l="l"/>
              <a:pathLst>
                <a:path h="811039" w="6186030">
                  <a:moveTo>
                    <a:pt x="0" y="0"/>
                  </a:moveTo>
                  <a:lnTo>
                    <a:pt x="6186030" y="0"/>
                  </a:lnTo>
                  <a:lnTo>
                    <a:pt x="6186030" y="811039"/>
                  </a:lnTo>
                  <a:lnTo>
                    <a:pt x="0" y="81103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0308" r="-249734" b="-459229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6186030" cy="8110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b="true" sz="2799">
                  <a:solidFill>
                    <a:srgbClr val="790D16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ทำไมถึงผิด? (Why?)</a:t>
              </a:r>
            </a:p>
          </p:txBody>
        </p:sp>
      </p:grp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F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790D1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>
                  <a:solidFill>
                    <a:srgbClr val="F5EFE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4 · MEMBER 4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5800" y="2606040"/>
            <a:ext cx="16911828" cy="2948940"/>
            <a:chOff x="0" y="0"/>
            <a:chExt cx="22549104" cy="39319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549104" cy="3931920"/>
            </a:xfrm>
            <a:custGeom>
              <a:avLst/>
              <a:gdLst/>
              <a:ahLst/>
              <a:cxnLst/>
              <a:rect r="r" b="b" t="t" l="l"/>
              <a:pathLst>
                <a:path h="3931920" w="22549104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2402800" y="0"/>
                  </a:lnTo>
                  <a:cubicBezTo>
                    <a:pt x="22483572" y="0"/>
                    <a:pt x="22549104" y="65532"/>
                    <a:pt x="22549104" y="146304"/>
                  </a:cubicBezTo>
                  <a:lnTo>
                    <a:pt x="22549104" y="3785616"/>
                  </a:lnTo>
                  <a:cubicBezTo>
                    <a:pt x="22549104" y="3866388"/>
                    <a:pt x="22483572" y="3931920"/>
                    <a:pt x="22402800" y="3931920"/>
                  </a:cubicBezTo>
                  <a:lnTo>
                    <a:pt x="146304" y="3931920"/>
                  </a:lnTo>
                  <a:cubicBezTo>
                    <a:pt x="65532" y="3931920"/>
                    <a:pt x="0" y="3866388"/>
                    <a:pt x="0" y="3785616"/>
                  </a:cubicBezTo>
                  <a:close/>
                </a:path>
              </a:pathLst>
            </a:custGeom>
            <a:solidFill>
              <a:srgbClr val="AEC4D4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790D1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790D1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29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097280" y="3488055"/>
            <a:ext cx="16088868" cy="1571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599">
                <a:solidFill>
                  <a:srgbClr val="790D16"/>
                </a:solidFill>
                <a:latin typeface="Prompt"/>
                <a:ea typeface="Prompt"/>
                <a:cs typeface="Prompt"/>
                <a:sym typeface="Prompt"/>
              </a:rPr>
              <a:t>กำหนดให้ numbers มีค่า </a:t>
            </a:r>
            <a:r>
              <a:rPr lang="en-US" sz="2599">
                <a:solidFill>
                  <a:srgbClr val="790D16"/>
                </a:solidFill>
                <a:latin typeface="Prompt"/>
                <a:ea typeface="Prompt"/>
                <a:cs typeface="Prompt"/>
                <a:sym typeface="Prompt"/>
              </a:rPr>
              <a:t>[10, 20, 30, 40, 50] จงใช้ Slice เพื่อเลือกข้อมูล 20, 30, 40 และเปลี่ยนค่าเป็น 200, 300, 400 จากนั้นแสดงผลข้อมูลที่ถูกเปลี่ยนแปลงแล้ว โดยห้ามเปลี่ยนค่าใน numbers โดยตรง ให้แก้ไขข้อมูลผ่าน Slice เท่านั้น</a:t>
            </a:r>
          </a:p>
          <a:p>
            <a:pPr algn="l">
              <a:lnSpc>
                <a:spcPts val="3119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1024128" y="6098134"/>
            <a:ext cx="16230600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790D16"/>
                </a:solidFill>
                <a:latin typeface="Prompt"/>
                <a:ea typeface="Prompt"/>
                <a:cs typeface="Prompt"/>
                <a:sym typeface="Prompt"/>
              </a:rPr>
              <a:t>ให้ใช้ Slice เพื่อเลือกเฉพาะข้อมูล 20, 30, 40 จาก numbers โดยก</a:t>
            </a:r>
            <a:r>
              <a:rPr lang="en-US" sz="2199">
                <a:solidFill>
                  <a:srgbClr val="790D16"/>
                </a:solidFill>
                <a:latin typeface="Prompt"/>
                <a:ea typeface="Prompt"/>
                <a:cs typeface="Prompt"/>
                <a:sym typeface="Prompt"/>
              </a:rPr>
              <a:t>ำหนดช่วงให้ถูกต้อง จากนั้นใช้การยืมแบบ Mutable เพื่อให้สามารถแก้ไขค่าผ่าน Slice ได้ และแสดงผล</a:t>
            </a:r>
          </a:p>
          <a:p>
            <a:pPr algn="l">
              <a:lnSpc>
                <a:spcPts val="2639"/>
              </a:lnSpc>
            </a:pPr>
          </a:p>
        </p:txBody>
      </p:sp>
      <p:grpSp>
        <p:nvGrpSpPr>
          <p:cNvPr name="Group 17" id="17"/>
          <p:cNvGrpSpPr/>
          <p:nvPr/>
        </p:nvGrpSpPr>
        <p:grpSpPr>
          <a:xfrm rot="0">
            <a:off x="685800" y="1440180"/>
            <a:ext cx="16911828" cy="989838"/>
            <a:chOff x="0" y="0"/>
            <a:chExt cx="22549104" cy="131978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549104" cy="1319784"/>
            </a:xfrm>
            <a:custGeom>
              <a:avLst/>
              <a:gdLst/>
              <a:ahLst/>
              <a:cxnLst/>
              <a:rect r="r" b="b" t="t" l="l"/>
              <a:pathLst>
                <a:path h="1319784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319784"/>
                  </a:lnTo>
                  <a:lnTo>
                    <a:pt x="0" y="13197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411" r="0" b="-281409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22549104" cy="13293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b="true" sz="4500">
                  <a:solidFill>
                    <a:srgbClr val="790D16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CHALLENGE — คำถามท้าทายผู้ฟัง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97280" y="2880360"/>
            <a:ext cx="16088868" cy="608279"/>
            <a:chOff x="0" y="0"/>
            <a:chExt cx="21451824" cy="81103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451824" cy="811039"/>
            </a:xfrm>
            <a:custGeom>
              <a:avLst/>
              <a:gdLst/>
              <a:ahLst/>
              <a:cxnLst/>
              <a:rect r="r" b="b" t="t" l="l"/>
              <a:pathLst>
                <a:path h="811039" w="21451824">
                  <a:moveTo>
                    <a:pt x="0" y="0"/>
                  </a:moveTo>
                  <a:lnTo>
                    <a:pt x="21451824" y="0"/>
                  </a:lnTo>
                  <a:lnTo>
                    <a:pt x="21451824" y="811039"/>
                  </a:lnTo>
                  <a:lnTo>
                    <a:pt x="0" y="81103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5915" r="0" b="-454836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21451824" cy="8110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b="true" sz="2799">
                  <a:solidFill>
                    <a:srgbClr val="790D16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โจทย์ (Problem)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22960" y="5564505"/>
            <a:ext cx="7955280" cy="524104"/>
            <a:chOff x="0" y="0"/>
            <a:chExt cx="10607040" cy="69880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607040" cy="698805"/>
            </a:xfrm>
            <a:custGeom>
              <a:avLst/>
              <a:gdLst/>
              <a:ahLst/>
              <a:cxnLst/>
              <a:rect r="r" b="b" t="t" l="l"/>
              <a:pathLst>
                <a:path h="698805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698805"/>
                  </a:lnTo>
                  <a:lnTo>
                    <a:pt x="0" y="6988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9961" r="0" b="-241558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9525"/>
              <a:ext cx="10607040" cy="689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b="true" sz="2400">
                  <a:solidFill>
                    <a:srgbClr val="962D2B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💡  Hint</a:t>
              </a:r>
            </a:p>
          </p:txBody>
        </p:sp>
      </p:grp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F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790D1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>
                  <a:solidFill>
                    <a:srgbClr val="F5EFE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4 · MEMBER 4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790D1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790D1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30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5194364" y="3406708"/>
            <a:ext cx="7898486" cy="5365718"/>
          </a:xfrm>
          <a:custGeom>
            <a:avLst/>
            <a:gdLst/>
            <a:ahLst/>
            <a:cxnLst/>
            <a:rect r="r" b="b" t="t" l="l"/>
            <a:pathLst>
              <a:path h="5365718" w="7898486">
                <a:moveTo>
                  <a:pt x="0" y="0"/>
                </a:moveTo>
                <a:lnTo>
                  <a:pt x="7898486" y="0"/>
                </a:lnTo>
                <a:lnTo>
                  <a:pt x="7898486" y="5365718"/>
                </a:lnTo>
                <a:lnTo>
                  <a:pt x="0" y="53657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685800" y="1440180"/>
            <a:ext cx="16911828" cy="989838"/>
            <a:chOff x="0" y="0"/>
            <a:chExt cx="22549104" cy="131978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549104" cy="1319784"/>
            </a:xfrm>
            <a:custGeom>
              <a:avLst/>
              <a:gdLst/>
              <a:ahLst/>
              <a:cxnLst/>
              <a:rect r="r" b="b" t="t" l="l"/>
              <a:pathLst>
                <a:path h="1319784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319784"/>
                  </a:lnTo>
                  <a:lnTo>
                    <a:pt x="0" y="13197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411" r="0" b="-28140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22549104" cy="13293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b="true" sz="4500">
                  <a:solidFill>
                    <a:srgbClr val="790D16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CHALLENGE — คำถามท้าทายผู้ฟัง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194364" y="2430018"/>
            <a:ext cx="7899272" cy="933011"/>
            <a:chOff x="0" y="0"/>
            <a:chExt cx="5916384" cy="69880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916384" cy="698805"/>
            </a:xfrm>
            <a:custGeom>
              <a:avLst/>
              <a:gdLst/>
              <a:ahLst/>
              <a:cxnLst/>
              <a:rect r="r" b="b" t="t" l="l"/>
              <a:pathLst>
                <a:path h="698805" w="5916384">
                  <a:moveTo>
                    <a:pt x="0" y="0"/>
                  </a:moveTo>
                  <a:lnTo>
                    <a:pt x="5916384" y="0"/>
                  </a:lnTo>
                  <a:lnTo>
                    <a:pt x="5916384" y="698805"/>
                  </a:lnTo>
                  <a:lnTo>
                    <a:pt x="0" y="6988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2351" r="-262583" b="-543947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9525"/>
              <a:ext cx="5916384" cy="689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b="true" sz="2400">
                  <a:solidFill>
                    <a:srgbClr val="790D16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Solution</a:t>
              </a:r>
            </a:p>
          </p:txBody>
        </p:sp>
      </p:grp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F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790D1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>
                  <a:solidFill>
                    <a:srgbClr val="F5EFE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4 · MEMBER 4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5800" y="1440180"/>
            <a:ext cx="16911828" cy="989838"/>
            <a:chOff x="0" y="0"/>
            <a:chExt cx="22549104" cy="131978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549104" cy="1319784"/>
            </a:xfrm>
            <a:custGeom>
              <a:avLst/>
              <a:gdLst/>
              <a:ahLst/>
              <a:cxnLst/>
              <a:rect r="r" b="b" t="t" l="l"/>
              <a:pathLst>
                <a:path h="1319784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319784"/>
                  </a:lnTo>
                  <a:lnTo>
                    <a:pt x="0" y="13197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411" r="0" b="-28140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2549104" cy="13293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b="true" sz="4500">
                  <a:solidFill>
                    <a:srgbClr val="790D16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CHALLENGE — คำถามท้าทายผู้ฟัง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85800" y="2606040"/>
            <a:ext cx="16911828" cy="3122716"/>
            <a:chOff x="0" y="0"/>
            <a:chExt cx="22549104" cy="416362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549104" cy="4163621"/>
            </a:xfrm>
            <a:custGeom>
              <a:avLst/>
              <a:gdLst/>
              <a:ahLst/>
              <a:cxnLst/>
              <a:rect r="r" b="b" t="t" l="l"/>
              <a:pathLst>
                <a:path h="4163621" w="22549104">
                  <a:moveTo>
                    <a:pt x="0" y="154925"/>
                  </a:moveTo>
                  <a:cubicBezTo>
                    <a:pt x="0" y="69394"/>
                    <a:pt x="65532" y="0"/>
                    <a:pt x="146304" y="0"/>
                  </a:cubicBezTo>
                  <a:lnTo>
                    <a:pt x="22402800" y="0"/>
                  </a:lnTo>
                  <a:cubicBezTo>
                    <a:pt x="22483572" y="0"/>
                    <a:pt x="22549104" y="69394"/>
                    <a:pt x="22549104" y="154925"/>
                  </a:cubicBezTo>
                  <a:lnTo>
                    <a:pt x="22549104" y="4008695"/>
                  </a:lnTo>
                  <a:cubicBezTo>
                    <a:pt x="22549104" y="4094227"/>
                    <a:pt x="22483572" y="4163621"/>
                    <a:pt x="22402800" y="4163621"/>
                  </a:cubicBezTo>
                  <a:lnTo>
                    <a:pt x="146304" y="4163621"/>
                  </a:lnTo>
                  <a:cubicBezTo>
                    <a:pt x="65532" y="4163621"/>
                    <a:pt x="0" y="4094227"/>
                    <a:pt x="0" y="4008695"/>
                  </a:cubicBezTo>
                  <a:close/>
                </a:path>
              </a:pathLst>
            </a:custGeom>
            <a:solidFill>
              <a:srgbClr val="AEC4D4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97280" y="2880360"/>
            <a:ext cx="16088868" cy="608279"/>
            <a:chOff x="0" y="0"/>
            <a:chExt cx="21451824" cy="81103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451824" cy="811039"/>
            </a:xfrm>
            <a:custGeom>
              <a:avLst/>
              <a:gdLst/>
              <a:ahLst/>
              <a:cxnLst/>
              <a:rect r="r" b="b" t="t" l="l"/>
              <a:pathLst>
                <a:path h="811039" w="21451824">
                  <a:moveTo>
                    <a:pt x="0" y="0"/>
                  </a:moveTo>
                  <a:lnTo>
                    <a:pt x="21451824" y="0"/>
                  </a:lnTo>
                  <a:lnTo>
                    <a:pt x="21451824" y="811039"/>
                  </a:lnTo>
                  <a:lnTo>
                    <a:pt x="0" y="81103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5915" r="0" b="-454836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21451824" cy="8110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b="true" sz="2799">
                  <a:solidFill>
                    <a:srgbClr val="790D16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โจทย์ (Problem)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790D1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790D1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31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85800" y="5757824"/>
            <a:ext cx="7955280" cy="524104"/>
            <a:chOff x="0" y="0"/>
            <a:chExt cx="10607040" cy="69880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607040" cy="698805"/>
            </a:xfrm>
            <a:custGeom>
              <a:avLst/>
              <a:gdLst/>
              <a:ahLst/>
              <a:cxnLst/>
              <a:rect r="r" b="b" t="t" l="l"/>
              <a:pathLst>
                <a:path h="698805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698805"/>
                  </a:lnTo>
                  <a:lnTo>
                    <a:pt x="0" y="6988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9961" r="0" b="-241558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9525"/>
              <a:ext cx="10607040" cy="689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b="true" sz="2400">
                  <a:solidFill>
                    <a:srgbClr val="962D2B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💡  Hint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097280" y="3488055"/>
            <a:ext cx="16088868" cy="2066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790D16"/>
                </a:solidFill>
                <a:latin typeface="Prompt"/>
                <a:ea typeface="Prompt"/>
                <a:cs typeface="Prompt"/>
                <a:sym typeface="Prompt"/>
              </a:rPr>
              <a:t>จงสร้าง Vector เก็บชุดตัวเลขจำนวนเต็ม  ขนาด N ตัว คือ [1,4,6,9]</a:t>
            </a:r>
            <a:r>
              <a:rPr lang="en-US" sz="2250">
                <a:solidFill>
                  <a:srgbClr val="790D16"/>
                </a:solidFill>
                <a:latin typeface="Prompt"/>
                <a:ea typeface="Prompt"/>
                <a:cs typeface="Prompt"/>
                <a:sym typeface="Prompt"/>
              </a:rPr>
              <a:t> จากนั้นให้ทำการตรวจเช็คข้อมูลตัวเลขเดิมใน Vector:</a:t>
            </a:r>
          </a:p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790D16"/>
                </a:solidFill>
                <a:latin typeface="Prompt"/>
                <a:ea typeface="Prompt"/>
                <a:cs typeface="Prompt"/>
                <a:sym typeface="Prompt"/>
              </a:rPr>
              <a:t>ถ้าเจอ เลขคู่ ให้ทำการเพิ่ม (Push) ค่า x *2 ต่อท้ายเข้าไปใน Vector</a:t>
            </a:r>
          </a:p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790D16"/>
                </a:solidFill>
                <a:latin typeface="Prompt"/>
                <a:ea typeface="Prompt"/>
                <a:cs typeface="Prompt"/>
                <a:sym typeface="Prompt"/>
              </a:rPr>
              <a:t>ถ้าเจอ เลขคี่ ให้ทำการเพิ่ม (Push) ค่า x / 2 ต่อท้ายเข้าไปใน Vector</a:t>
            </a:r>
          </a:p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790D16"/>
                </a:solidFill>
                <a:latin typeface="Prompt"/>
                <a:ea typeface="Prompt"/>
                <a:cs typeface="Prompt"/>
                <a:sym typeface="Prompt"/>
              </a:rPr>
              <a:t>เงื่อนไข:ต้องตรวจเช็คครบเฉพาะ N ตัวแรกเท่านั้น</a:t>
            </a:r>
          </a:p>
          <a:p>
            <a:pPr algn="l">
              <a:lnSpc>
                <a:spcPts val="2700"/>
              </a:lnSpc>
            </a:pPr>
          </a:p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790D16"/>
                </a:solidFill>
                <a:latin typeface="Prompt"/>
                <a:ea typeface="Prompt"/>
                <a:cs typeface="Prompt"/>
                <a:sym typeface="Prompt"/>
              </a:rPr>
              <a:t>จากโจทย์ถ้าต้องการให้ Compile ผ่าน ตัวเลือกข้อไหนถูกต้อง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92197" y="6577203"/>
            <a:ext cx="7620966" cy="2743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790D16"/>
                </a:solidFill>
                <a:latin typeface="Fira Code"/>
                <a:ea typeface="Fira Code"/>
                <a:cs typeface="Fira Code"/>
                <a:sym typeface="Fira Code"/>
              </a:rPr>
              <a:t>for val in &amp;numbers[..len] { if val % 2 == 0 { numbers.push(val * 2); } else { numbers.push(val / 2); } }</a:t>
            </a:r>
          </a:p>
          <a:p>
            <a:pPr algn="l">
              <a:lnSpc>
                <a:spcPts val="2700"/>
              </a:lnSpc>
            </a:pPr>
          </a:p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790D16"/>
                </a:solidFill>
                <a:latin typeface="Fira Code"/>
                <a:ea typeface="Fira Code"/>
                <a:cs typeface="Fira Code"/>
                <a:sym typeface="Fira Code"/>
              </a:rPr>
              <a:t>for i in 0..numbers.as_slice().len() { let val = &amp;mut numbers[i]; if *val % 2 == 0 { numbers.push(*val * 2); } else { numbers.push(*val / 2); } }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652272" y="6577203"/>
            <a:ext cx="544675" cy="544675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62D2B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b="true" sz="1500">
                  <a:solidFill>
                    <a:srgbClr val="F5EFE1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A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2290307" y="5853189"/>
            <a:ext cx="8455914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790D16"/>
                </a:solidFill>
                <a:latin typeface="Prompt"/>
                <a:ea typeface="Prompt"/>
                <a:cs typeface="Prompt"/>
                <a:sym typeface="Prompt"/>
              </a:rPr>
              <a:t>ห้ามยืมอ่านข้อมูลค้างไว้ทั้ง Loop แล้วสั่งเพิ่มขน</a:t>
            </a:r>
            <a:r>
              <a:rPr lang="en-US" sz="2199">
                <a:solidFill>
                  <a:srgbClr val="790D16"/>
                </a:solidFill>
                <a:latin typeface="Prompt"/>
                <a:ea typeface="Prompt"/>
                <a:cs typeface="Prompt"/>
                <a:sym typeface="Prompt"/>
              </a:rPr>
              <a:t>าด Vector พร้อมกัน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9141714" y="6577203"/>
            <a:ext cx="544675" cy="544675"/>
            <a:chOff x="0" y="0"/>
            <a:chExt cx="812800" cy="812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62D2B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b="true" sz="1500">
                  <a:solidFill>
                    <a:srgbClr val="F5EFE1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B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652272" y="7969603"/>
            <a:ext cx="544675" cy="544675"/>
            <a:chOff x="0" y="0"/>
            <a:chExt cx="812800" cy="8128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62D2B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b="true" sz="1500">
                  <a:solidFill>
                    <a:srgbClr val="F5EFE1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C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9144000" y="8241940"/>
            <a:ext cx="544675" cy="544675"/>
            <a:chOff x="0" y="0"/>
            <a:chExt cx="812800" cy="8128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62D2B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b="true" sz="1500">
                  <a:solidFill>
                    <a:srgbClr val="F5EFE1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D</a:t>
              </a: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9784303" y="6577203"/>
            <a:ext cx="7620966" cy="3086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790D16"/>
                </a:solidFill>
                <a:latin typeface="Fira Code"/>
                <a:ea typeface="Fira Code"/>
                <a:cs typeface="Fira Code"/>
                <a:sym typeface="Fira Code"/>
              </a:rPr>
              <a:t>let slice_vals = numbers[..len].to_vec(); for val in slice_vals { if val % 2 == 0 { numbers.push(val * 2); } else { numbers.push(val / 2); } }</a:t>
            </a:r>
          </a:p>
          <a:p>
            <a:pPr algn="l">
              <a:lnSpc>
                <a:spcPts val="2700"/>
              </a:lnSpc>
            </a:pPr>
          </a:p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790D16"/>
                </a:solidFill>
                <a:latin typeface="Fira Code"/>
                <a:ea typeface="Fira Code"/>
                <a:cs typeface="Fira Code"/>
                <a:sym typeface="Fira Code"/>
              </a:rPr>
              <a:t>for i in 0..numbers.len() { let val = numbers[i]; if val % 2 == 0 { numbers.push(val * 2); } else { numbers.push(val / 2); } }</a:t>
            </a: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F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790D1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>
                  <a:solidFill>
                    <a:srgbClr val="F5EFE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4 · MEMBER 4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790D1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790D1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32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85800" y="1440180"/>
            <a:ext cx="16911828" cy="989838"/>
            <a:chOff x="0" y="0"/>
            <a:chExt cx="22549104" cy="131978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549104" cy="1319784"/>
            </a:xfrm>
            <a:custGeom>
              <a:avLst/>
              <a:gdLst/>
              <a:ahLst/>
              <a:cxnLst/>
              <a:rect r="r" b="b" t="t" l="l"/>
              <a:pathLst>
                <a:path h="1319784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319784"/>
                  </a:lnTo>
                  <a:lnTo>
                    <a:pt x="0" y="13197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411" r="0" b="-281409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22549104" cy="13293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b="true" sz="4500">
                  <a:solidFill>
                    <a:srgbClr val="790D16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CHALLENGE — คำถามท้าทายผู้ฟัง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-1206436" y="2677668"/>
            <a:ext cx="7899272" cy="933011"/>
            <a:chOff x="0" y="0"/>
            <a:chExt cx="5916384" cy="69880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916384" cy="698805"/>
            </a:xfrm>
            <a:custGeom>
              <a:avLst/>
              <a:gdLst/>
              <a:ahLst/>
              <a:cxnLst/>
              <a:rect r="r" b="b" t="t" l="l"/>
              <a:pathLst>
                <a:path h="698805" w="5916384">
                  <a:moveTo>
                    <a:pt x="0" y="0"/>
                  </a:moveTo>
                  <a:lnTo>
                    <a:pt x="5916384" y="0"/>
                  </a:lnTo>
                  <a:lnTo>
                    <a:pt x="5916384" y="698805"/>
                  </a:lnTo>
                  <a:lnTo>
                    <a:pt x="0" y="6988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2351" r="-262583" b="-543947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9525"/>
              <a:ext cx="5916384" cy="689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b="true" sz="2400">
                  <a:solidFill>
                    <a:srgbClr val="790D16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Solution</a:t>
              </a: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685800" y="3610679"/>
            <a:ext cx="10616784" cy="5409397"/>
          </a:xfrm>
          <a:custGeom>
            <a:avLst/>
            <a:gdLst/>
            <a:ahLst/>
            <a:cxnLst/>
            <a:rect r="r" b="b" t="t" l="l"/>
            <a:pathLst>
              <a:path h="5409397" w="10616784">
                <a:moveTo>
                  <a:pt x="0" y="0"/>
                </a:moveTo>
                <a:lnTo>
                  <a:pt x="10616784" y="0"/>
                </a:lnTo>
                <a:lnTo>
                  <a:pt x="10616784" y="5409397"/>
                </a:lnTo>
                <a:lnTo>
                  <a:pt x="0" y="54093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10085673" y="7994241"/>
            <a:ext cx="767031" cy="787679"/>
            <a:chOff x="0" y="0"/>
            <a:chExt cx="1427723" cy="146615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427723" cy="1466156"/>
            </a:xfrm>
            <a:custGeom>
              <a:avLst/>
              <a:gdLst/>
              <a:ahLst/>
              <a:cxnLst/>
              <a:rect r="r" b="b" t="t" l="l"/>
              <a:pathLst>
                <a:path h="1466156" w="1427723">
                  <a:moveTo>
                    <a:pt x="713862" y="0"/>
                  </a:moveTo>
                  <a:cubicBezTo>
                    <a:pt x="319607" y="0"/>
                    <a:pt x="0" y="328210"/>
                    <a:pt x="0" y="733078"/>
                  </a:cubicBezTo>
                  <a:cubicBezTo>
                    <a:pt x="0" y="1137946"/>
                    <a:pt x="319607" y="1466156"/>
                    <a:pt x="713862" y="1466156"/>
                  </a:cubicBezTo>
                  <a:cubicBezTo>
                    <a:pt x="1108116" y="1466156"/>
                    <a:pt x="1427723" y="1137946"/>
                    <a:pt x="1427723" y="733078"/>
                  </a:cubicBezTo>
                  <a:cubicBezTo>
                    <a:pt x="1427723" y="328210"/>
                    <a:pt x="1108116" y="0"/>
                    <a:pt x="713862" y="0"/>
                  </a:cubicBezTo>
                  <a:close/>
                </a:path>
              </a:pathLst>
            </a:custGeom>
            <a:solidFill>
              <a:srgbClr val="AEC4D4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133849" y="146977"/>
              <a:ext cx="1160025" cy="11817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  <a:r>
                <a:rPr lang="en-US" b="true" sz="2499">
                  <a:solidFill>
                    <a:srgbClr val="790D16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B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1411810" y="3563054"/>
            <a:ext cx="5847490" cy="3051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000000"/>
                </a:solidFill>
                <a:latin typeface="Prompt"/>
                <a:ea typeface="Prompt"/>
                <a:cs typeface="Prompt"/>
                <a:sym typeface="Prompt"/>
              </a:rPr>
              <a:t>โค้ดนี้คัดลอกข้อมูล N ตัวแรกออกจาก numbers ไปสร้างเป็น Vector ให</a:t>
            </a:r>
          </a:p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000000"/>
                </a:solidFill>
                <a:latin typeface="Prompt"/>
                <a:ea typeface="Prompt"/>
                <a:cs typeface="Prompt"/>
                <a:sym typeface="Prompt"/>
              </a:rPr>
              <a:t>ม่ชื่อ slice_vals </a:t>
            </a:r>
            <a:r>
              <a:rPr lang="en-US" sz="2500">
                <a:solidFill>
                  <a:srgbClr val="000000"/>
                </a:solidFill>
                <a:latin typeface="Prompt"/>
                <a:ea typeface="Prompt"/>
                <a:cs typeface="Prompt"/>
                <a:sym typeface="Prompt"/>
              </a:rPr>
              <a:t>เพื่อไม่ให้ติดกฎ Borrow Checker ของ Rust ทำให้สามารถวนลูปเช็คเลขคู่/คี่ แล้วสั่ง push ผลลัพธ์ต่อท้ายเข้า numbers ตัวเดิมได้อย่างปลอดภัยและตรงตามเงื่อนไข N ตัวแรกครบถ้วนครับ </a:t>
            </a:r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1065657"/>
            <a:ext cx="16911828" cy="989838"/>
            <a:chOff x="0" y="0"/>
            <a:chExt cx="22549104" cy="13197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549104" cy="1319784"/>
            </a:xfrm>
            <a:custGeom>
              <a:avLst/>
              <a:gdLst/>
              <a:ahLst/>
              <a:cxnLst/>
              <a:rect r="r" b="b" t="t" l="l"/>
              <a:pathLst>
                <a:path h="1319784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319784"/>
                  </a:lnTo>
                  <a:lnTo>
                    <a:pt x="0" y="13197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411" r="0" b="-281409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2549104" cy="13293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b="true" sz="4500">
                  <a:solidFill>
                    <a:srgbClr val="F5EFE1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KEY TAKEAWAYS — สรุปสิ่งที่ควรจำ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85800" y="2234883"/>
            <a:ext cx="722538" cy="1758107"/>
            <a:chOff x="0" y="0"/>
            <a:chExt cx="963384" cy="2344142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714871"/>
              <a:ext cx="963384" cy="914400"/>
              <a:chOff x="0" y="0"/>
              <a:chExt cx="963384" cy="9144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963384" cy="914400"/>
              </a:xfrm>
              <a:custGeom>
                <a:avLst/>
                <a:gdLst/>
                <a:ahLst/>
                <a:cxnLst/>
                <a:rect r="r" b="b" t="t" l="l"/>
                <a:pathLst>
                  <a:path h="914400" w="963384">
                    <a:moveTo>
                      <a:pt x="0" y="457200"/>
                    </a:moveTo>
                    <a:cubicBezTo>
                      <a:pt x="0" y="204724"/>
                      <a:pt x="215691" y="0"/>
                      <a:pt x="481692" y="0"/>
                    </a:cubicBezTo>
                    <a:cubicBezTo>
                      <a:pt x="747693" y="0"/>
                      <a:pt x="963384" y="204724"/>
                      <a:pt x="963384" y="457200"/>
                    </a:cubicBezTo>
                    <a:cubicBezTo>
                      <a:pt x="963384" y="709676"/>
                      <a:pt x="747693" y="914400"/>
                      <a:pt x="481692" y="914400"/>
                    </a:cubicBezTo>
                    <a:cubicBezTo>
                      <a:pt x="215691" y="914400"/>
                      <a:pt x="0" y="709676"/>
                      <a:pt x="0" y="457200"/>
                    </a:cubicBezTo>
                    <a:close/>
                  </a:path>
                </a:pathLst>
              </a:custGeom>
              <a:solidFill>
                <a:srgbClr val="F5EFE1"/>
              </a:solidFill>
            </p:spPr>
          </p:sp>
        </p:grpSp>
        <p:grpSp>
          <p:nvGrpSpPr>
            <p:cNvPr name="Group 8" id="8"/>
            <p:cNvGrpSpPr/>
            <p:nvPr/>
          </p:nvGrpSpPr>
          <p:grpSpPr>
            <a:xfrm rot="0">
              <a:off x="0" y="0"/>
              <a:ext cx="963384" cy="2344142"/>
              <a:chOff x="0" y="0"/>
              <a:chExt cx="963384" cy="2344142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963384" cy="2344142"/>
              </a:xfrm>
              <a:custGeom>
                <a:avLst/>
                <a:gdLst/>
                <a:ahLst/>
                <a:cxnLst/>
                <a:rect r="r" b="b" t="t" l="l"/>
                <a:pathLst>
                  <a:path h="2344142" w="963384">
                    <a:moveTo>
                      <a:pt x="0" y="0"/>
                    </a:moveTo>
                    <a:lnTo>
                      <a:pt x="963384" y="0"/>
                    </a:lnTo>
                    <a:lnTo>
                      <a:pt x="963384" y="2344142"/>
                    </a:lnTo>
                    <a:lnTo>
                      <a:pt x="0" y="234414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74322" t="0" r="-69237" b="60992"/>
                </a:stretch>
              </a:blip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9525"/>
                <a:ext cx="963384" cy="235366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879"/>
                  </a:lnSpc>
                </a:pPr>
                <a:r>
                  <a:rPr lang="en-US" b="true" sz="2400">
                    <a:solidFill>
                      <a:srgbClr val="790D16"/>
                    </a:solidFill>
                    <a:latin typeface="Cambria Bold"/>
                    <a:ea typeface="Cambria Bold"/>
                    <a:cs typeface="Cambria Bold"/>
                    <a:sym typeface="Cambria Bold"/>
                  </a:rPr>
                  <a:t>1</a:t>
                </a:r>
              </a:p>
            </p:txBody>
          </p:sp>
        </p:grpSp>
      </p:grpSp>
      <p:grpSp>
        <p:nvGrpSpPr>
          <p:cNvPr name="Group 11" id="11"/>
          <p:cNvGrpSpPr/>
          <p:nvPr/>
        </p:nvGrpSpPr>
        <p:grpSpPr>
          <a:xfrm rot="0">
            <a:off x="1714500" y="2847975"/>
            <a:ext cx="15883128" cy="1263326"/>
            <a:chOff x="0" y="0"/>
            <a:chExt cx="21177504" cy="168443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177504" cy="1684435"/>
            </a:xfrm>
            <a:custGeom>
              <a:avLst/>
              <a:gdLst/>
              <a:ahLst/>
              <a:cxnLst/>
              <a:rect r="r" b="b" t="t" l="l"/>
              <a:pathLst>
                <a:path h="1684435" w="21177504">
                  <a:moveTo>
                    <a:pt x="0" y="0"/>
                  </a:moveTo>
                  <a:lnTo>
                    <a:pt x="21177504" y="0"/>
                  </a:lnTo>
                  <a:lnTo>
                    <a:pt x="21177504" y="1684435"/>
                  </a:lnTo>
                  <a:lnTo>
                    <a:pt x="0" y="168443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6516" r="1295" b="-177087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85725"/>
              <a:ext cx="21177504" cy="1770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19"/>
                </a:lnSpc>
              </a:pPr>
              <a:r>
                <a:rPr lang="en-US" sz="3599">
                  <a:solidFill>
                    <a:srgbClr val="F5EF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Memory Model : มี 2 ส่วน คือ Stack ไว้เก็บค่าตัวแปรขนาดคงที่ระหว่างการ compile </a:t>
              </a:r>
            </a:p>
            <a:p>
              <a:pPr algn="l">
                <a:lnSpc>
                  <a:spcPts val="4319"/>
                </a:lnSpc>
              </a:pPr>
              <a:r>
                <a:rPr lang="en-US" sz="3599">
                  <a:solidFill>
                    <a:srgbClr val="F5EF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                                     Heap เก็บค่าตัวแปรที่ขนาดยืดหยุ่นระหว่างการ compile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85800" y="4172377"/>
            <a:ext cx="722538" cy="685800"/>
            <a:chOff x="0" y="0"/>
            <a:chExt cx="963384" cy="914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63384" cy="914400"/>
            </a:xfrm>
            <a:custGeom>
              <a:avLst/>
              <a:gdLst/>
              <a:ahLst/>
              <a:cxnLst/>
              <a:rect r="r" b="b" t="t" l="l"/>
              <a:pathLst>
                <a:path h="914400" w="963384">
                  <a:moveTo>
                    <a:pt x="0" y="457200"/>
                  </a:moveTo>
                  <a:cubicBezTo>
                    <a:pt x="0" y="204724"/>
                    <a:pt x="215691" y="0"/>
                    <a:pt x="481692" y="0"/>
                  </a:cubicBezTo>
                  <a:cubicBezTo>
                    <a:pt x="747693" y="0"/>
                    <a:pt x="963384" y="204724"/>
                    <a:pt x="963384" y="457200"/>
                  </a:cubicBezTo>
                  <a:cubicBezTo>
                    <a:pt x="963384" y="709676"/>
                    <a:pt x="747693" y="914400"/>
                    <a:pt x="481692" y="914400"/>
                  </a:cubicBezTo>
                  <a:cubicBezTo>
                    <a:pt x="215691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F5EFE1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685800" y="3636224"/>
            <a:ext cx="722538" cy="1758107"/>
            <a:chOff x="0" y="0"/>
            <a:chExt cx="963384" cy="234414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63384" cy="2344142"/>
            </a:xfrm>
            <a:custGeom>
              <a:avLst/>
              <a:gdLst/>
              <a:ahLst/>
              <a:cxnLst/>
              <a:rect r="r" b="b" t="t" l="l"/>
              <a:pathLst>
                <a:path h="2344142" w="963384">
                  <a:moveTo>
                    <a:pt x="0" y="0"/>
                  </a:moveTo>
                  <a:lnTo>
                    <a:pt x="963384" y="0"/>
                  </a:lnTo>
                  <a:lnTo>
                    <a:pt x="963384" y="2344142"/>
                  </a:lnTo>
                  <a:lnTo>
                    <a:pt x="0" y="234414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4322" t="0" r="-69237" b="60992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963384" cy="23536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b="true" sz="2400">
                  <a:solidFill>
                    <a:srgbClr val="790D16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714500" y="4183380"/>
            <a:ext cx="15883128" cy="1263326"/>
            <a:chOff x="0" y="0"/>
            <a:chExt cx="21177504" cy="168443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177504" cy="1684435"/>
            </a:xfrm>
            <a:custGeom>
              <a:avLst/>
              <a:gdLst/>
              <a:ahLst/>
              <a:cxnLst/>
              <a:rect r="r" b="b" t="t" l="l"/>
              <a:pathLst>
                <a:path h="1684435" w="21177504">
                  <a:moveTo>
                    <a:pt x="0" y="0"/>
                  </a:moveTo>
                  <a:lnTo>
                    <a:pt x="21177504" y="0"/>
                  </a:lnTo>
                  <a:lnTo>
                    <a:pt x="21177504" y="1684435"/>
                  </a:lnTo>
                  <a:lnTo>
                    <a:pt x="0" y="168443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6516" r="1295" b="-177087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85725"/>
              <a:ext cx="21177504" cy="1770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19"/>
                </a:lnSpc>
              </a:pPr>
              <a:r>
                <a:rPr lang="en-US" sz="3599">
                  <a:solidFill>
                    <a:srgbClr val="F5EF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การ Slice &amp; แค่เป็นการยืมอ่านค่าใน memory ของตัวที่สนใจ ต่างจาก .clone() ที่จะสร้าง heap ใหม่เป็นของตัวเอง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85800" y="5681137"/>
            <a:ext cx="722538" cy="685800"/>
            <a:chOff x="0" y="0"/>
            <a:chExt cx="963384" cy="914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63384" cy="914400"/>
            </a:xfrm>
            <a:custGeom>
              <a:avLst/>
              <a:gdLst/>
              <a:ahLst/>
              <a:cxnLst/>
              <a:rect r="r" b="b" t="t" l="l"/>
              <a:pathLst>
                <a:path h="914400" w="963384">
                  <a:moveTo>
                    <a:pt x="0" y="457200"/>
                  </a:moveTo>
                  <a:cubicBezTo>
                    <a:pt x="0" y="204724"/>
                    <a:pt x="215691" y="0"/>
                    <a:pt x="481692" y="0"/>
                  </a:cubicBezTo>
                  <a:cubicBezTo>
                    <a:pt x="747693" y="0"/>
                    <a:pt x="963384" y="204724"/>
                    <a:pt x="963384" y="457200"/>
                  </a:cubicBezTo>
                  <a:cubicBezTo>
                    <a:pt x="963384" y="709676"/>
                    <a:pt x="747693" y="914400"/>
                    <a:pt x="481692" y="914400"/>
                  </a:cubicBezTo>
                  <a:cubicBezTo>
                    <a:pt x="215691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F5EFE1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685800" y="5144984"/>
            <a:ext cx="722538" cy="1758107"/>
            <a:chOff x="0" y="0"/>
            <a:chExt cx="963384" cy="234414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63384" cy="2344142"/>
            </a:xfrm>
            <a:custGeom>
              <a:avLst/>
              <a:gdLst/>
              <a:ahLst/>
              <a:cxnLst/>
              <a:rect r="r" b="b" t="t" l="l"/>
              <a:pathLst>
                <a:path h="2344142" w="963384">
                  <a:moveTo>
                    <a:pt x="0" y="0"/>
                  </a:moveTo>
                  <a:lnTo>
                    <a:pt x="963384" y="0"/>
                  </a:lnTo>
                  <a:lnTo>
                    <a:pt x="963384" y="2344142"/>
                  </a:lnTo>
                  <a:lnTo>
                    <a:pt x="0" y="234414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4322" t="0" r="-69237" b="60992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963384" cy="23536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b="true" sz="2400">
                  <a:solidFill>
                    <a:srgbClr val="790D16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3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714500" y="5692140"/>
            <a:ext cx="15883128" cy="1263326"/>
            <a:chOff x="0" y="0"/>
            <a:chExt cx="21177504" cy="168443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1177504" cy="1684435"/>
            </a:xfrm>
            <a:custGeom>
              <a:avLst/>
              <a:gdLst/>
              <a:ahLst/>
              <a:cxnLst/>
              <a:rect r="r" b="b" t="t" l="l"/>
              <a:pathLst>
                <a:path h="1684435" w="21177504">
                  <a:moveTo>
                    <a:pt x="0" y="0"/>
                  </a:moveTo>
                  <a:lnTo>
                    <a:pt x="21177504" y="0"/>
                  </a:lnTo>
                  <a:lnTo>
                    <a:pt x="21177504" y="1684435"/>
                  </a:lnTo>
                  <a:lnTo>
                    <a:pt x="0" y="168443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6516" r="1295" b="-177087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85725"/>
              <a:ext cx="21177504" cy="1770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19"/>
                </a:lnSpc>
              </a:pPr>
              <a:r>
                <a:rPr lang="en-US" sz="3599">
                  <a:solidFill>
                    <a:srgbClr val="F5EF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หากใช้ mutable slice แล้วแก้แค่ในตัว slice จะส่งผลต่อค่าหลักด้วย เนื่องจากเป็นการแก้ไขก้อนข้อมูลที่เป็นตัวเดียวกัน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685800" y="7189897"/>
            <a:ext cx="722538" cy="685800"/>
            <a:chOff x="0" y="0"/>
            <a:chExt cx="963384" cy="9144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63384" cy="914400"/>
            </a:xfrm>
            <a:custGeom>
              <a:avLst/>
              <a:gdLst/>
              <a:ahLst/>
              <a:cxnLst/>
              <a:rect r="r" b="b" t="t" l="l"/>
              <a:pathLst>
                <a:path h="914400" w="963384">
                  <a:moveTo>
                    <a:pt x="0" y="457200"/>
                  </a:moveTo>
                  <a:cubicBezTo>
                    <a:pt x="0" y="204724"/>
                    <a:pt x="215691" y="0"/>
                    <a:pt x="481692" y="0"/>
                  </a:cubicBezTo>
                  <a:cubicBezTo>
                    <a:pt x="747693" y="0"/>
                    <a:pt x="963384" y="204724"/>
                    <a:pt x="963384" y="457200"/>
                  </a:cubicBezTo>
                  <a:cubicBezTo>
                    <a:pt x="963384" y="709676"/>
                    <a:pt x="747693" y="914400"/>
                    <a:pt x="481692" y="914400"/>
                  </a:cubicBezTo>
                  <a:cubicBezTo>
                    <a:pt x="215691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F5EFE1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685800" y="6653744"/>
            <a:ext cx="722538" cy="1758107"/>
            <a:chOff x="0" y="0"/>
            <a:chExt cx="963384" cy="234414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63384" cy="2344142"/>
            </a:xfrm>
            <a:custGeom>
              <a:avLst/>
              <a:gdLst/>
              <a:ahLst/>
              <a:cxnLst/>
              <a:rect r="r" b="b" t="t" l="l"/>
              <a:pathLst>
                <a:path h="2344142" w="963384">
                  <a:moveTo>
                    <a:pt x="0" y="0"/>
                  </a:moveTo>
                  <a:lnTo>
                    <a:pt x="963384" y="0"/>
                  </a:lnTo>
                  <a:lnTo>
                    <a:pt x="963384" y="2344142"/>
                  </a:lnTo>
                  <a:lnTo>
                    <a:pt x="0" y="234414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4322" t="0" r="-69237" b="60992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9525"/>
              <a:ext cx="963384" cy="23536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b="true" sz="2400">
                  <a:solidFill>
                    <a:srgbClr val="790D16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4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714500" y="7200900"/>
            <a:ext cx="15883128" cy="1263326"/>
            <a:chOff x="0" y="0"/>
            <a:chExt cx="21177504" cy="1684435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1177504" cy="1684435"/>
            </a:xfrm>
            <a:custGeom>
              <a:avLst/>
              <a:gdLst/>
              <a:ahLst/>
              <a:cxnLst/>
              <a:rect r="r" b="b" t="t" l="l"/>
              <a:pathLst>
                <a:path h="1684435" w="21177504">
                  <a:moveTo>
                    <a:pt x="0" y="0"/>
                  </a:moveTo>
                  <a:lnTo>
                    <a:pt x="21177504" y="0"/>
                  </a:lnTo>
                  <a:lnTo>
                    <a:pt x="21177504" y="1684435"/>
                  </a:lnTo>
                  <a:lnTo>
                    <a:pt x="0" y="168443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6516" r="1295" b="-177087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85725"/>
              <a:ext cx="21177504" cy="1770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19"/>
                </a:lnSpc>
              </a:pPr>
              <a:r>
                <a:rPr lang="en-US" sz="3599">
                  <a:solidFill>
                    <a:srgbClr val="F5EF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Rust  ทำ Slice โดยใช้ Ownership/Borrowing ควบคุมการใช้ Memory และตรวจสอบความปลอดภัยตั้งแต่ compile time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AEC4D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AEC4D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33</a:t>
              </a:r>
            </a:p>
          </p:txBody>
        </p:sp>
      </p:grp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F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1440180"/>
            <a:ext cx="16911828" cy="960120"/>
            <a:chOff x="0" y="0"/>
            <a:chExt cx="22549104" cy="12801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549104" cy="1280160"/>
            </a:xfrm>
            <a:custGeom>
              <a:avLst/>
              <a:gdLst/>
              <a:ahLst/>
              <a:cxnLst/>
              <a:rect r="r" b="b" t="t" l="l"/>
              <a:pathLst>
                <a:path h="1280160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3215" r="0" b="-29321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2549104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b="true" sz="4500">
                  <a:solidFill>
                    <a:srgbClr val="790D16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References — เอกสารอ้างอิง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85800" y="2466975"/>
            <a:ext cx="16911828" cy="725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8954" indent="-264477" lvl="1">
              <a:lnSpc>
                <a:spcPts val="5389"/>
              </a:lnSpc>
              <a:buFont typeface="Arial"/>
              <a:buChar char="•"/>
            </a:pPr>
            <a:r>
              <a:rPr lang="en-US" sz="2449">
                <a:solidFill>
                  <a:srgbClr val="790D16"/>
                </a:solidFill>
                <a:latin typeface="Calibri (MS)"/>
                <a:ea typeface="Calibri (MS)"/>
                <a:cs typeface="Calibri (MS)"/>
                <a:sym typeface="Calibri (MS)"/>
              </a:rPr>
              <a:t>The Rust Programming Language — Understanding Ownership, References</a:t>
            </a:r>
            <a:r>
              <a:rPr lang="en-US" sz="2449">
                <a:solidFill>
                  <a:srgbClr val="790D16"/>
                </a:solidFill>
                <a:latin typeface="Calibri (MS)"/>
                <a:ea typeface="Calibri (MS)"/>
                <a:cs typeface="Calibri (MS)"/>
                <a:sym typeface="Calibri (MS)"/>
              </a:rPr>
              <a:t> and Borrowing, Slices </a:t>
            </a:r>
            <a:r>
              <a:rPr lang="en-US" sz="244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https://doc.rust-lang.org/book/</a:t>
            </a:r>
          </a:p>
          <a:p>
            <a:pPr algn="l" marL="528954" indent="-264477" lvl="1">
              <a:lnSpc>
                <a:spcPts val="5389"/>
              </a:lnSpc>
              <a:buFont typeface="Arial"/>
              <a:buChar char="•"/>
            </a:pPr>
            <a:r>
              <a:rPr lang="en-US" sz="2449">
                <a:solidFill>
                  <a:srgbClr val="790D16"/>
                </a:solidFill>
                <a:latin typeface="Calibri (MS)"/>
                <a:ea typeface="Calibri (MS)"/>
                <a:cs typeface="Calibri (MS)"/>
                <a:sym typeface="Calibri (MS)"/>
              </a:rPr>
              <a:t>The Rust Reference — Slice Types &amp; Reference Types </a:t>
            </a:r>
            <a:r>
              <a:rPr lang="en-US" sz="244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https://doc.rust-lang.org/reference/types/slice.html</a:t>
            </a:r>
          </a:p>
          <a:p>
            <a:pPr algn="l" marL="528954" indent="-264477" lvl="1">
              <a:lnSpc>
                <a:spcPts val="5389"/>
              </a:lnSpc>
              <a:buFont typeface="Arial"/>
              <a:buChar char="•"/>
            </a:pPr>
            <a:r>
              <a:rPr lang="en-US" sz="2449">
                <a:solidFill>
                  <a:srgbClr val="790D16"/>
                </a:solidFill>
                <a:latin typeface="Calibri (MS)"/>
                <a:ea typeface="Calibri (MS)"/>
                <a:cs typeface="Calibri (MS)"/>
                <a:sym typeface="Calibri (MS)"/>
              </a:rPr>
              <a:t>Crate std - Primitive Type slice</a:t>
            </a:r>
            <a:r>
              <a:rPr lang="en-US" sz="244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 https://doc.rust-lang.org/std/primitive.slice.html</a:t>
            </a:r>
          </a:p>
          <a:p>
            <a:pPr algn="l" marL="528954" indent="-264477" lvl="1">
              <a:lnSpc>
                <a:spcPts val="5389"/>
              </a:lnSpc>
              <a:buFont typeface="Arial"/>
              <a:buChar char="•"/>
            </a:pPr>
            <a:r>
              <a:rPr lang="en-US" sz="2449">
                <a:solidFill>
                  <a:srgbClr val="790D16"/>
                </a:solidFill>
                <a:latin typeface="Calibri (MS)"/>
                <a:ea typeface="Calibri (MS)"/>
                <a:cs typeface="Calibri (MS)"/>
                <a:sym typeface="Calibri (MS)"/>
              </a:rPr>
              <a:t>Python Documentation — Common Sequence Operations / Slicing</a:t>
            </a:r>
            <a:r>
              <a:rPr lang="en-US" sz="244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 https://docs.python.org/3/library/stdtypes.html</a:t>
            </a:r>
          </a:p>
          <a:p>
            <a:pPr algn="l" marL="528954" indent="-264477" lvl="1">
              <a:lnSpc>
                <a:spcPts val="5389"/>
              </a:lnSpc>
              <a:buFont typeface="Arial"/>
              <a:buChar char="•"/>
            </a:pPr>
            <a:r>
              <a:rPr lang="en-US" sz="2449">
                <a:solidFill>
                  <a:srgbClr val="790D16"/>
                </a:solidFill>
                <a:latin typeface="Calibri (MS)"/>
                <a:ea typeface="Calibri (MS)"/>
                <a:cs typeface="Calibri (MS)"/>
                <a:sym typeface="Calibri (MS)"/>
              </a:rPr>
              <a:t>cppreference — C / C++ Arrays, Pointers and std::span</a:t>
            </a:r>
            <a:r>
              <a:rPr lang="en-US" sz="244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 https://en.cppreference.com/w/c/language/array https://en.cppreference.com/w/cpp/container/span</a:t>
            </a:r>
          </a:p>
          <a:p>
            <a:pPr algn="l" marL="528954" indent="-264477" lvl="1">
              <a:lnSpc>
                <a:spcPts val="5389"/>
              </a:lnSpc>
              <a:buFont typeface="Arial"/>
              <a:buChar char="•"/>
            </a:pPr>
            <a:r>
              <a:rPr lang="en-US" sz="2449">
                <a:solidFill>
                  <a:srgbClr val="790D16"/>
                </a:solidFill>
                <a:latin typeface="Calibri (MS)"/>
                <a:ea typeface="Calibri (MS)"/>
                <a:cs typeface="Calibri (MS)"/>
                <a:sym typeface="Calibri (MS)"/>
              </a:rPr>
              <a:t>Oracle Java Documentation — Arrays</a:t>
            </a:r>
            <a:r>
              <a:rPr lang="en-US" sz="244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 https://docs.oracle.com/javase/tutorial/java/nutsandbolts/arrays.html</a:t>
            </a:r>
          </a:p>
          <a:p>
            <a:pPr algn="l" marL="528954" indent="-264477" lvl="1">
              <a:lnSpc>
                <a:spcPts val="5389"/>
              </a:lnSpc>
              <a:buFont typeface="Arial"/>
              <a:buChar char="•"/>
            </a:pPr>
            <a:r>
              <a:rPr lang="en-US" sz="2449">
                <a:solidFill>
                  <a:srgbClr val="790D16"/>
                </a:solidFill>
                <a:latin typeface="Calibri (MS)"/>
                <a:ea typeface="Calibri (MS)"/>
                <a:cs typeface="Calibri (MS)"/>
                <a:sym typeface="Calibri (MS)"/>
              </a:rPr>
              <a:t>Kodekloud - The Slice Type </a:t>
            </a:r>
            <a:r>
              <a:rPr lang="en-US" sz="244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https://notes.kodekloud.com/docs/Rust-Programming/Ownership/The-Slice-Type/page</a:t>
            </a:r>
          </a:p>
          <a:p>
            <a:pPr algn="l" marL="528954" indent="-264477" lvl="1">
              <a:lnSpc>
                <a:spcPts val="5389"/>
              </a:lnSpc>
              <a:buFont typeface="Arial"/>
              <a:buChar char="•"/>
            </a:pPr>
            <a:r>
              <a:rPr lang="en-US" sz="2449">
                <a:solidFill>
                  <a:srgbClr val="790D16"/>
                </a:solidFill>
                <a:latin typeface="Calibri (MS)"/>
                <a:ea typeface="Calibri (MS)"/>
                <a:cs typeface="Calibri (MS)"/>
                <a:sym typeface="Calibri (MS)"/>
              </a:rPr>
              <a:t>Kodekloud - Rules for Slices </a:t>
            </a:r>
            <a:r>
              <a:rPr lang="en-US" sz="244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https://notes.kodekloud.com/docs/Rust-Programming/Ownership/Rules-for-Slices/page</a:t>
            </a:r>
          </a:p>
          <a:p>
            <a:pPr algn="l" marL="528954" indent="-264477" lvl="1">
              <a:lnSpc>
                <a:spcPts val="5389"/>
              </a:lnSpc>
              <a:buFont typeface="Arial"/>
              <a:buChar char="•"/>
            </a:pPr>
            <a:r>
              <a:rPr lang="en-US" sz="2449">
                <a:solidFill>
                  <a:srgbClr val="790D16"/>
                </a:solidFill>
                <a:latin typeface="Calibri (MS)"/>
                <a:ea typeface="Calibri (MS)"/>
                <a:cs typeface="Calibri (MS)"/>
                <a:sym typeface="Calibri (MS)"/>
              </a:rPr>
              <a:t>The Rust Programming Language - Storing UTF-8 Encoded Text with Strings </a:t>
            </a:r>
            <a:r>
              <a:rPr lang="en-US" sz="244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https://doc.rust-lang.org/book/ch08-02-strings.html</a:t>
            </a:r>
          </a:p>
          <a:p>
            <a:pPr algn="l">
              <a:lnSpc>
                <a:spcPts val="2939"/>
              </a:lnSpc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685800" y="9300577"/>
            <a:ext cx="16911828" cy="820703"/>
            <a:chOff x="0" y="0"/>
            <a:chExt cx="22549104" cy="109427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549104" cy="1094271"/>
            </a:xfrm>
            <a:custGeom>
              <a:avLst/>
              <a:gdLst/>
              <a:ahLst/>
              <a:cxnLst/>
              <a:rect r="r" b="b" t="t" l="l"/>
              <a:pathLst>
                <a:path h="1094271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094271"/>
                  </a:lnTo>
                  <a:lnTo>
                    <a:pt x="0" y="109427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8093" r="0" b="-334943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2549104" cy="11514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19"/>
                </a:lnSpc>
              </a:pPr>
              <a:r>
                <a:rPr lang="en-US" sz="2349" i="true">
                  <a:solidFill>
                    <a:srgbClr val="790D16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GitHub Repository:</a:t>
              </a:r>
              <a:r>
                <a:rPr lang="en-US" sz="2349" i="true">
                  <a:solidFill>
                    <a:srgbClr val="222222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 github.com/670710296/rust-tutorial-2569/</a:t>
              </a:r>
            </a:p>
            <a:p>
              <a:pPr algn="l">
                <a:lnSpc>
                  <a:spcPts val="281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790D1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790D1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34</a:t>
              </a:r>
            </a:p>
          </p:txBody>
        </p:sp>
      </p:grp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743200" y="-3429000"/>
            <a:ext cx="8229600" cy="8229600"/>
            <a:chOff x="0" y="0"/>
            <a:chExt cx="10972800" cy="1097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10972800"/>
            </a:xfrm>
            <a:custGeom>
              <a:avLst/>
              <a:gdLst/>
              <a:ahLst/>
              <a:cxnLst/>
              <a:rect r="r" b="b" t="t" l="l"/>
              <a:pathLst>
                <a:path h="10972800" w="10972800">
                  <a:moveTo>
                    <a:pt x="0" y="5486400"/>
                  </a:moveTo>
                  <a:cubicBezTo>
                    <a:pt x="0" y="2456307"/>
                    <a:pt x="2456307" y="0"/>
                    <a:pt x="5486400" y="0"/>
                  </a:cubicBezTo>
                  <a:cubicBezTo>
                    <a:pt x="8516493" y="0"/>
                    <a:pt x="10972800" y="2456307"/>
                    <a:pt x="10972800" y="5486400"/>
                  </a:cubicBezTo>
                  <a:cubicBezTo>
                    <a:pt x="10972800" y="8516493"/>
                    <a:pt x="8516493" y="10972800"/>
                    <a:pt x="5486400" y="10972800"/>
                  </a:cubicBezTo>
                  <a:cubicBezTo>
                    <a:pt x="2456307" y="10972800"/>
                    <a:pt x="0" y="8516493"/>
                    <a:pt x="0" y="5486400"/>
                  </a:cubicBezTo>
                  <a:close/>
                </a:path>
              </a:pathLst>
            </a:custGeom>
            <a:solidFill>
              <a:srgbClr val="93A9B8">
                <a:alpha val="30196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482828" y="5486400"/>
            <a:ext cx="7543800" cy="7543800"/>
            <a:chOff x="0" y="0"/>
            <a:chExt cx="10058400" cy="10058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058400" cy="10058400"/>
            </a:xfrm>
            <a:custGeom>
              <a:avLst/>
              <a:gdLst/>
              <a:ahLst/>
              <a:cxnLst/>
              <a:rect r="r" b="b" t="t" l="l"/>
              <a:pathLst>
                <a:path h="10058400" w="10058400">
                  <a:moveTo>
                    <a:pt x="0" y="5029200"/>
                  </a:moveTo>
                  <a:cubicBezTo>
                    <a:pt x="0" y="2251710"/>
                    <a:pt x="2251710" y="0"/>
                    <a:pt x="5029200" y="0"/>
                  </a:cubicBezTo>
                  <a:cubicBezTo>
                    <a:pt x="7806690" y="0"/>
                    <a:pt x="10058400" y="2251710"/>
                    <a:pt x="10058400" y="5029200"/>
                  </a:cubicBezTo>
                  <a:cubicBezTo>
                    <a:pt x="10058400" y="7806690"/>
                    <a:pt x="7806690" y="10058400"/>
                    <a:pt x="5029200" y="10058400"/>
                  </a:cubicBezTo>
                  <a:cubicBezTo>
                    <a:pt x="2251710" y="10058400"/>
                    <a:pt x="0" y="7806690"/>
                    <a:pt x="0" y="5029200"/>
                  </a:cubicBezTo>
                  <a:close/>
                </a:path>
              </a:pathLst>
            </a:custGeom>
            <a:solidFill>
              <a:srgbClr val="93A9B8">
                <a:alpha val="470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97280" y="3703320"/>
            <a:ext cx="16088868" cy="1371600"/>
            <a:chOff x="0" y="0"/>
            <a:chExt cx="21451824" cy="1828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451824" cy="1828800"/>
            </a:xfrm>
            <a:custGeom>
              <a:avLst/>
              <a:gdLst/>
              <a:ahLst/>
              <a:cxnLst/>
              <a:rect r="r" b="b" t="t" l="l"/>
              <a:pathLst>
                <a:path h="1828800" w="21451824">
                  <a:moveTo>
                    <a:pt x="0" y="0"/>
                  </a:moveTo>
                  <a:lnTo>
                    <a:pt x="21451824" y="0"/>
                  </a:lnTo>
                  <a:lnTo>
                    <a:pt x="21451824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8559" r="0" b="-178559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42875"/>
              <a:ext cx="21451824" cy="1971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920"/>
                </a:lnSpc>
              </a:pPr>
              <a:r>
                <a:rPr lang="en-US" sz="6600">
                  <a:solidFill>
                    <a:srgbClr val="F5EF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Questions &amp; Answers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97280" y="5074920"/>
            <a:ext cx="16088868" cy="822960"/>
            <a:chOff x="0" y="0"/>
            <a:chExt cx="21451824" cy="10972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451824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451824">
                  <a:moveTo>
                    <a:pt x="0" y="0"/>
                  </a:moveTo>
                  <a:lnTo>
                    <a:pt x="21451824" y="0"/>
                  </a:lnTo>
                  <a:lnTo>
                    <a:pt x="21451824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0932" r="0" b="-330932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21451824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F5EF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กลุ่ม [13]  —  [Slices &amp; Memory Model]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DAHWfP4xC5w</dc:identifier>
  <dcterms:modified xsi:type="dcterms:W3CDTF">2011-08-01T06:04:30Z</dcterms:modified>
  <cp:revision>1</cp:revision>
  <dc:title>Rust_Tutorial_Presentation_Template.pptx</dc:title>
</cp:coreProperties>
</file>